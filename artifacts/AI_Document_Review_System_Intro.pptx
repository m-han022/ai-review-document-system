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11567160" cy="617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F99"/>
                </a:solidFill>
                <a:latin typeface="Yu Gothic"/>
              </a:rPr>
              <a:t>AI DOCUMENT REVIEW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Yu Gothic"/>
              </a:rPr>
              <a:t>Hệ thống AI Review Tài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Nền tảng review tài liệu đa loại bằng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389120" cy="475488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Nền tảng review tài liệu đa loại bằng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39" y="1920240"/>
            <a:ext cx="1737360" cy="347472"/>
          </a:xfrm>
          <a:prstGeom prst="roundRect">
            <a:avLst/>
          </a:prstGeom>
          <a:solidFill>
            <a:srgbClr val="EBF4FE"/>
          </a:solidFill>
          <a:ln>
            <a:solidFill>
              <a:srgbClr val="EB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8119" y="1554480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19" y="685800"/>
            <a:ext cx="1005840" cy="1005840"/>
          </a:xfrm>
          <a:prstGeom prst="ellipse">
            <a:avLst/>
          </a:prstGeom>
          <a:solidFill>
            <a:srgbClr val="EBF4FE"/>
          </a:solidFill>
          <a:ln w="228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66759" y="548640"/>
            <a:ext cx="1280160" cy="1280160"/>
          </a:xfrm>
          <a:prstGeom prst="ellipse">
            <a:avLst/>
          </a:prstGeom>
          <a:solidFill>
            <a:srgbClr val="E8F3FF"/>
          </a:solidFill>
          <a:ln>
            <a:solidFill>
              <a:srgbClr val="E8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19" y="960120"/>
            <a:ext cx="868680" cy="68580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46919" y="1143000"/>
            <a:ext cx="868680" cy="68580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72598" y="1828800"/>
            <a:ext cx="1005840" cy="71323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99247" y="1088136"/>
            <a:ext cx="502920" cy="27432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9247" y="1197864"/>
            <a:ext cx="502920" cy="27432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9247" y="1307592"/>
            <a:ext cx="502920" cy="27432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56647" y="1271016"/>
            <a:ext cx="502920" cy="27432"/>
          </a:xfrm>
          <a:prstGeom prst="rect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56647" y="1380744"/>
            <a:ext cx="502920" cy="27432"/>
          </a:xfrm>
          <a:prstGeom prst="rect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56647" y="1490472"/>
            <a:ext cx="502920" cy="27432"/>
          </a:xfrm>
          <a:prstGeom prst="rect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2326" y="1956816"/>
            <a:ext cx="502920" cy="2743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82326" y="2066544"/>
            <a:ext cx="502920" cy="2743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82326" y="2176272"/>
            <a:ext cx="502920" cy="2743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246120"/>
            <a:ext cx="2240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3410712"/>
            <a:ext cx="640080" cy="502920"/>
          </a:xfrm>
          <a:prstGeom prst="roundRect">
            <a:avLst/>
          </a:prstGeom>
          <a:solidFill>
            <a:srgbClr val="EBF4FE"/>
          </a:solidFill>
          <a:ln>
            <a:solidFill>
              <a:srgbClr val="EB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F80ED"/>
                </a:solidFill>
                <a:latin typeface="Yu Gothic"/>
              </a:rPr>
              <a:t>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114800"/>
            <a:ext cx="1874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F80ED"/>
                </a:solidFill>
                <a:latin typeface="Yu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663440"/>
            <a:ext cx="18379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Yu Gothic"/>
              </a:rPr>
              <a:t>Loại tài liệu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321808"/>
            <a:ext cx="1600200" cy="36576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74720" y="3246120"/>
            <a:ext cx="2240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0" y="3410712"/>
            <a:ext cx="640080" cy="502920"/>
          </a:xfrm>
          <a:prstGeom prst="roundRect">
            <a:avLst/>
          </a:prstGeom>
          <a:solidFill>
            <a:srgbClr val="FFF5EA"/>
          </a:solidFill>
          <a:ln>
            <a:solidFill>
              <a:srgbClr val="FF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994A"/>
                </a:solidFill>
                <a:latin typeface="Yu Gothic"/>
              </a:rPr>
              <a:t>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114800"/>
            <a:ext cx="1874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2994A"/>
                </a:solidFill>
                <a:latin typeface="Yu Gothic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888" y="4663440"/>
            <a:ext cx="18379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Yu Gothic"/>
              </a:rPr>
              <a:t>Ngôn ngữ hỗ trợ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5321808"/>
            <a:ext cx="1600200" cy="36576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80760" y="3246120"/>
            <a:ext cx="2240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63640" y="3410712"/>
            <a:ext cx="640080" cy="502920"/>
          </a:xfrm>
          <a:prstGeom prst="roundRect">
            <a:avLst/>
          </a:prstGeom>
          <a:solidFill>
            <a:srgbClr val="EDF8EF"/>
          </a:solidFill>
          <a:ln>
            <a:solidFill>
              <a:srgbClr val="ED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7AE60"/>
                </a:solidFill>
                <a:latin typeface="Yu Gothic"/>
              </a:rPr>
              <a:t>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114800"/>
            <a:ext cx="1874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7AE60"/>
                </a:solidFill>
                <a:latin typeface="Yu Gothic"/>
              </a:rPr>
              <a:t>v1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4663440"/>
            <a:ext cx="18379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Yu Gothic"/>
              </a:rPr>
              <a:t>Rubric version active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321808"/>
            <a:ext cx="1600200" cy="3657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0" y="3246120"/>
            <a:ext cx="2240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69680" y="3410712"/>
            <a:ext cx="640080" cy="502920"/>
          </a:xfrm>
          <a:prstGeom prst="roundRect">
            <a:avLst/>
          </a:prstGeom>
          <a:solidFill>
            <a:srgbClr val="EFF0FB"/>
          </a:solidFill>
          <a:ln>
            <a:solidFill>
              <a:srgbClr val="EF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5C63C8"/>
                </a:solidFill>
                <a:latin typeface="Yu Gothic"/>
              </a:rPr>
              <a:t>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114800"/>
            <a:ext cx="1874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5C63C8"/>
                </a:solidFill>
                <a:latin typeface="Yu Gothic"/>
              </a:rPr>
              <a:t>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8" y="4663440"/>
            <a:ext cx="18379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Yu Gothic"/>
              </a:rPr>
              <a:t>Gemini grading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5321808"/>
            <a:ext cx="1600200" cy="36576"/>
          </a:xfrm>
          <a:prstGeom prst="rect">
            <a:avLst/>
          </a:prstGeom>
          <a:solidFill>
            <a:srgbClr val="5C63C8"/>
          </a:solidFill>
          <a:ln>
            <a:solidFill>
              <a:srgbClr val="5C6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F99"/>
                </a:solidFill>
                <a:latin typeface="Yu Gothic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Yu Gothic"/>
              </a:rPr>
              <a:t>Bài toán hiện tại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Những điểm nghẽn khi review tài liệu thủ công trong dự án phần mềm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Yu Gothic"/>
              </a:rPr>
              <a:t>Thách thức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04872"/>
            <a:ext cx="82296" cy="82296"/>
          </a:xfrm>
          <a:prstGeom prst="ellipse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31720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6F82"/>
                </a:solidFill>
                <a:latin typeface="Yu Gothic"/>
              </a:rPr>
              <a:t>Review thủ công tốn thời gian và khó giữ chất lượng ổn định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843784"/>
            <a:ext cx="82296" cy="82296"/>
          </a:xfrm>
          <a:prstGeom prst="ellipse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770632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6F82"/>
                </a:solidFill>
                <a:latin typeface="Yu Gothic"/>
              </a:rPr>
              <a:t>Tiêu chí đánh giá dễ lệch giữa reviewer và giữa các dự án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82696"/>
            <a:ext cx="82296" cy="82296"/>
          </a:xfrm>
          <a:prstGeom prst="ellipse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09544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6F82"/>
                </a:solidFill>
                <a:latin typeface="Yu Gothic"/>
              </a:rPr>
              <a:t>Khó mở rộng khi phải hỗ trợ nhiều loại tài liệu khác nhau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721608"/>
            <a:ext cx="82296" cy="82296"/>
          </a:xfrm>
          <a:prstGeom prst="ellipse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648456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6F82"/>
                </a:solidFill>
                <a:latin typeface="Yu Gothic"/>
              </a:rPr>
              <a:t>Feedback thường dài, khó chuẩn hóa và khó tái sử dụng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Yu Gothic"/>
              </a:rPr>
              <a:t>Kỳ vọng từ hệ thống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423160"/>
            <a:ext cx="1645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2551176"/>
            <a:ext cx="13167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6F82"/>
                </a:solidFill>
                <a:latin typeface="Yu Gothic"/>
              </a:rPr>
              <a:t>Chuẩn hóa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2825496"/>
            <a:ext cx="13167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C8F99"/>
                </a:solidFill>
                <a:latin typeface="Yu Gothic"/>
              </a:rPr>
              <a:t>Same rubric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423160"/>
            <a:ext cx="1463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2551176"/>
            <a:ext cx="1133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6F82"/>
                </a:solidFill>
                <a:latin typeface="Yu Gothic"/>
              </a:rPr>
              <a:t>Tốc độ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2825496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F80ED"/>
                </a:solidFill>
                <a:latin typeface="Yu Gothic"/>
              </a:rPr>
              <a:t>Faster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80" y="242316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77272" y="2551176"/>
            <a:ext cx="996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6F82"/>
                </a:solidFill>
                <a:latin typeface="Yu Gothic"/>
              </a:rPr>
              <a:t>Mở rộng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7272" y="2825496"/>
            <a:ext cx="9966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7AE60"/>
                </a:solidFill>
                <a:latin typeface="Yu Gothic"/>
              </a:rPr>
              <a:t>Multi-type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730752"/>
            <a:ext cx="82296" cy="82296"/>
          </a:xfrm>
          <a:prstGeom prst="ellipse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3657600"/>
            <a:ext cx="44074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6F82"/>
                </a:solidFill>
                <a:latin typeface="Yu Gothic"/>
              </a:rPr>
              <a:t>Chọn đúng loại tài liệu và dùng rubric tương ứng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4169664"/>
            <a:ext cx="82296" cy="82296"/>
          </a:xfrm>
          <a:prstGeom prst="ellipse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4096512"/>
            <a:ext cx="44074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6F82"/>
                </a:solidFill>
                <a:latin typeface="Yu Gothic"/>
              </a:rPr>
              <a:t>Tự động trả tổng điểm, điểm theo tiêu chí và gợi ý cải thiện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4608576"/>
            <a:ext cx="82296" cy="82296"/>
          </a:xfrm>
          <a:prstGeom prst="ellipse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4535424"/>
            <a:ext cx="44074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6F82"/>
                </a:solidFill>
                <a:latin typeface="Yu Gothic"/>
              </a:rPr>
              <a:t>Dễ cập nhật rubric theo version mà không phá hệ thống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F99"/>
                </a:solidFill>
                <a:latin typeface="Yu Gothic"/>
              </a:rP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Yu Gothic"/>
              </a:rPr>
              <a:t>Luồng giải pháp tổng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Từ upload tài liệu đến kết quả review và feedback có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148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20240"/>
            <a:ext cx="502920" cy="320040"/>
          </a:xfrm>
          <a:prstGeom prst="roundRect">
            <a:avLst/>
          </a:prstGeom>
          <a:solidFill>
            <a:srgbClr val="2C8F99"/>
          </a:solidFill>
          <a:ln w="12700"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920240"/>
            <a:ext cx="1344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C8F99"/>
                </a:solidFill>
                <a:latin typeface="Yu Gothic"/>
              </a:rPr>
              <a:t>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95728"/>
            <a:ext cx="658368" cy="530352"/>
          </a:xfrm>
          <a:prstGeom prst="roundRect">
            <a:avLst/>
          </a:prstGeom>
          <a:solidFill>
            <a:srgbClr val="E7F5F6"/>
          </a:solidFill>
          <a:ln>
            <a:solidFill>
              <a:srgbClr val="E7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688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8F99"/>
                </a:solidFill>
                <a:latin typeface="Yu Gothic"/>
              </a:rPr>
              <a:t>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35808"/>
            <a:ext cx="18196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PDF / PPTX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25496" y="2788920"/>
            <a:ext cx="118872" cy="0"/>
          </a:xfrm>
          <a:prstGeom prst="line">
            <a:avLst/>
          </a:prstGeom>
          <a:ln w="2540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99232" y="1828800"/>
            <a:ext cx="2148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1920240"/>
            <a:ext cx="502920" cy="320040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1920240"/>
            <a:ext cx="1344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0ED"/>
                </a:solidFill>
                <a:latin typeface="Yu Gothic"/>
              </a:rPr>
              <a:t>Classify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63824" y="2395728"/>
            <a:ext cx="658368" cy="530352"/>
          </a:xfrm>
          <a:prstGeom prst="roundRect">
            <a:avLst/>
          </a:prstGeom>
          <a:solidFill>
            <a:srgbClr val="EBF4FE"/>
          </a:solidFill>
          <a:ln>
            <a:solidFill>
              <a:srgbClr val="EB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3824" y="24688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F80ED"/>
                </a:solidFill>
                <a:latin typeface="Yu Gothic"/>
              </a:rPr>
              <a:t>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3035808"/>
            <a:ext cx="18196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document_type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84648" y="2788920"/>
            <a:ext cx="118872" cy="0"/>
          </a:xfrm>
          <a:prstGeom prst="line">
            <a:avLst/>
          </a:prstGeom>
          <a:ln w="2540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58384" y="1828800"/>
            <a:ext cx="2148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68112" y="1920240"/>
            <a:ext cx="502920" cy="320040"/>
          </a:xfrm>
          <a:prstGeom prst="roundRect">
            <a:avLst/>
          </a:prstGeom>
          <a:solidFill>
            <a:srgbClr val="5C63C8"/>
          </a:solidFill>
          <a:ln w="12700">
            <a:solidFill>
              <a:srgbClr val="5C6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920240"/>
            <a:ext cx="1344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C63C8"/>
                </a:solidFill>
                <a:latin typeface="Yu Gothic"/>
              </a:rPr>
              <a:t>Resolve rubric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22976" y="2395728"/>
            <a:ext cx="658368" cy="530352"/>
          </a:xfrm>
          <a:prstGeom prst="roundRect">
            <a:avLst/>
          </a:prstGeom>
          <a:solidFill>
            <a:srgbClr val="EFF0FB"/>
          </a:solidFill>
          <a:ln>
            <a:solidFill>
              <a:srgbClr val="EF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24688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3C8"/>
                </a:solidFill>
                <a:latin typeface="Yu Gothic"/>
              </a:rPr>
              <a:t>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3035808"/>
            <a:ext cx="18196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language + version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43800" y="2788920"/>
            <a:ext cx="118872" cy="0"/>
          </a:xfrm>
          <a:prstGeom prst="line">
            <a:avLst/>
          </a:prstGeom>
          <a:ln w="2540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17536" y="1828800"/>
            <a:ext cx="2148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27264" y="1920240"/>
            <a:ext cx="502920" cy="320040"/>
          </a:xfrm>
          <a:prstGeom prst="roundRect">
            <a:avLst/>
          </a:prstGeom>
          <a:solidFill>
            <a:srgbClr val="2C8F99"/>
          </a:solidFill>
          <a:ln w="12700"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920240"/>
            <a:ext cx="1344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C8F99"/>
                </a:solidFill>
                <a:latin typeface="Yu Gothic"/>
              </a:rPr>
              <a:t>AI grading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2395728"/>
            <a:ext cx="658368" cy="530352"/>
          </a:xfrm>
          <a:prstGeom prst="roundRect">
            <a:avLst/>
          </a:prstGeom>
          <a:solidFill>
            <a:srgbClr val="E7F5F6"/>
          </a:solidFill>
          <a:ln>
            <a:solidFill>
              <a:srgbClr val="E7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8" y="24688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8F99"/>
                </a:solidFill>
                <a:latin typeface="Yu Gothic"/>
              </a:rPr>
              <a:t>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3035808"/>
            <a:ext cx="18196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Gemini scoring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02952" y="2788920"/>
            <a:ext cx="118872" cy="0"/>
          </a:xfrm>
          <a:prstGeom prst="line">
            <a:avLst/>
          </a:prstGeom>
          <a:ln w="2540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076688" y="1828800"/>
            <a:ext cx="2148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86416" y="1920240"/>
            <a:ext cx="502920" cy="32004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1920240"/>
            <a:ext cx="1344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Yu Gothic"/>
              </a:rPr>
              <a:t>Result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2395728"/>
            <a:ext cx="658368" cy="530352"/>
          </a:xfrm>
          <a:prstGeom prst="roundRect">
            <a:avLst/>
          </a:prstGeom>
          <a:solidFill>
            <a:srgbClr val="EDF8EF"/>
          </a:solidFill>
          <a:ln>
            <a:solidFill>
              <a:srgbClr val="ED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24688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Yu Gothic"/>
              </a:rPr>
              <a:t>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035808"/>
            <a:ext cx="18196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score + feedback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572000"/>
            <a:ext cx="10972800" cy="109728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4919472"/>
            <a:ext cx="82296" cy="82296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4846320"/>
            <a:ext cx="10076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F82"/>
                </a:solidFill>
                <a:latin typeface="Yu Gothic"/>
              </a:rPr>
              <a:t>Frontend cho phép chọn loại tài liệu trước khi upload</a:t>
            </a:r>
          </a:p>
        </p:txBody>
      </p:sp>
      <p:sp>
        <p:nvSpPr>
          <p:cNvPr id="42" name="Oval 41"/>
          <p:cNvSpPr/>
          <p:nvPr/>
        </p:nvSpPr>
        <p:spPr>
          <a:xfrm>
            <a:off x="914400" y="5358384"/>
            <a:ext cx="82296" cy="82296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" y="5285232"/>
            <a:ext cx="10076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F82"/>
                </a:solidFill>
                <a:latin typeface="Yu Gothic"/>
              </a:rPr>
              <a:t>Backend chọn rubric theo document_type + language + version</a:t>
            </a:r>
          </a:p>
        </p:txBody>
      </p:sp>
      <p:sp>
        <p:nvSpPr>
          <p:cNvPr id="44" name="Oval 43"/>
          <p:cNvSpPr/>
          <p:nvPr/>
        </p:nvSpPr>
        <p:spPr>
          <a:xfrm>
            <a:off x="914400" y="5797296"/>
            <a:ext cx="82296" cy="82296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" y="5724144"/>
            <a:ext cx="10076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F82"/>
                </a:solidFill>
                <a:latin typeface="Yu Gothic"/>
              </a:rPr>
              <a:t>Kết quả gồm score, criteria_scores, criteria_suggestions và draft_feedback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F99"/>
                </a:solidFill>
                <a:latin typeface="Yu Gothic"/>
              </a:rPr>
              <a:t>03 / Document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Yu Gothic"/>
              </a:rPr>
              <a:t>4 loại tài liệu đang hỗ trợ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029968"/>
            <a:ext cx="713232" cy="566928"/>
          </a:xfrm>
          <a:prstGeom prst="roundRect">
            <a:avLst/>
          </a:prstGeom>
          <a:solidFill>
            <a:srgbClr val="E7F5F6"/>
          </a:solidFill>
          <a:ln>
            <a:solidFill>
              <a:srgbClr val="E7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9696"/>
            <a:ext cx="7132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C8F99"/>
                </a:solidFill>
                <a:latin typeface="Yu Gothic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8F99"/>
                </a:solidFill>
                <a:latin typeface="Yu Gothic"/>
              </a:rPr>
              <a:t>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F82"/>
                </a:solidFill>
                <a:latin typeface="Yu Gothic"/>
              </a:rPr>
              <a:t>Nhìn nhận dự án,</a:t>
            </a:r>
            <a:br/>
            <a:r>
              <a:t>retrospective,</a:t>
            </a:r>
            <a:br/>
            <a:r>
              <a:t>bài học và chính sách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82880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03320" y="2029968"/>
            <a:ext cx="713232" cy="566928"/>
          </a:xfrm>
          <a:prstGeom prst="roundRect">
            <a:avLst/>
          </a:prstGeom>
          <a:solidFill>
            <a:srgbClr val="EBF4FE"/>
          </a:solidFill>
          <a:ln>
            <a:solidFill>
              <a:srgbClr val="EB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39696"/>
            <a:ext cx="7132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F80ED"/>
                </a:solidFill>
                <a:latin typeface="Yu Gothic"/>
              </a:rPr>
              <a:t>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4320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Yu Gothic"/>
              </a:rPr>
              <a:t>Bug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F82"/>
                </a:solidFill>
                <a:latin typeface="Yu Gothic"/>
              </a:rPr>
              <a:t>Phân tích bug,</a:t>
            </a:r>
            <a:br/>
            <a:r>
              <a:t>nguyên nhân,</a:t>
            </a:r>
            <a:br/>
            <a:r>
              <a:t>ảnh hưởng và tái phát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2029968"/>
            <a:ext cx="713232" cy="566928"/>
          </a:xfrm>
          <a:prstGeom prst="roundRect">
            <a:avLst/>
          </a:prstGeom>
          <a:solidFill>
            <a:srgbClr val="EDF8EF"/>
          </a:solidFill>
          <a:ln>
            <a:solidFill>
              <a:srgbClr val="ED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139696"/>
            <a:ext cx="7132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7AE60"/>
                </a:solidFill>
                <a:latin typeface="Yu Gothic"/>
              </a:rPr>
              <a:t>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Yu Gothic"/>
              </a:rPr>
              <a:t>QA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4612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F82"/>
                </a:solidFill>
                <a:latin typeface="Yu Gothic"/>
              </a:rPr>
              <a:t>Chất lượng kiểm thử,</a:t>
            </a:r>
            <a:br/>
            <a:r>
              <a:t>độ bao phủ,</a:t>
            </a:r>
            <a:br/>
            <a:r>
              <a:t>defect và quy trình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82880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2029968"/>
            <a:ext cx="713232" cy="566928"/>
          </a:xfrm>
          <a:prstGeom prst="roundRect">
            <a:avLst/>
          </a:prstGeom>
          <a:solidFill>
            <a:srgbClr val="EFF0FB"/>
          </a:solidFill>
          <a:ln>
            <a:solidFill>
              <a:srgbClr val="EF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139696"/>
            <a:ext cx="7132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C63C8"/>
                </a:solidFill>
                <a:latin typeface="Yu Gothic"/>
              </a:rPr>
              <a:t>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74320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C63C8"/>
                </a:solidFill>
                <a:latin typeface="Yu Gothic"/>
              </a:rPr>
              <a:t>Explanation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4612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F82"/>
                </a:solidFill>
                <a:latin typeface="Yu Gothic"/>
              </a:rPr>
              <a:t>Tính rõ ràng,</a:t>
            </a:r>
            <a:br/>
            <a:r>
              <a:t>logic truyền đạt</a:t>
            </a:r>
            <a:br/>
            <a:r>
              <a:t>và khả năng giải thích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F99"/>
                </a:solidFill>
                <a:latin typeface="Yu Gothic"/>
              </a:rPr>
              <a:t>04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Yu Gothic"/>
              </a:rPr>
              <a:t>Kiến trúc hệ thống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11680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2157984"/>
            <a:ext cx="960120" cy="310896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1874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72B4D"/>
                </a:solidFill>
                <a:latin typeface="Yu Gothic"/>
              </a:rPr>
              <a:t>React + TypeScript + Vite</a:t>
            </a:r>
            <a:br/>
            <a:r>
              <a:t>Upload, dashboard,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995928"/>
            <a:ext cx="1874520" cy="36576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9312" y="2157984"/>
            <a:ext cx="960120" cy="310896"/>
          </a:xfrm>
          <a:prstGeom prst="roundRect">
            <a:avLst/>
          </a:prstGeom>
          <a:solidFill>
            <a:srgbClr val="2C8F99"/>
          </a:solidFill>
          <a:ln w="12700"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1874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72B4D"/>
                </a:solidFill>
                <a:latin typeface="Yu Gothic"/>
              </a:rPr>
              <a:t>FastAPI</a:t>
            </a:r>
            <a:br/>
            <a:r>
              <a:t>upload / grading / jobs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995928"/>
            <a:ext cx="1874520" cy="36576"/>
          </a:xfrm>
          <a:prstGeom prst="rect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2011680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2157984"/>
            <a:ext cx="960120" cy="310896"/>
          </a:xfrm>
          <a:prstGeom prst="roundRect">
            <a:avLst/>
          </a:prstGeom>
          <a:solidFill>
            <a:srgbClr val="5C63C8"/>
          </a:solidFill>
          <a:ln w="12700">
            <a:solidFill>
              <a:srgbClr val="5C6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Rubric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43200"/>
            <a:ext cx="1874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72B4D"/>
                </a:solidFill>
                <a:latin typeface="Yu Gothic"/>
              </a:rPr>
              <a:t>document_type + version +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995928"/>
            <a:ext cx="1874520" cy="36576"/>
          </a:xfrm>
          <a:prstGeom prst="rect">
            <a:avLst/>
          </a:prstGeom>
          <a:solidFill>
            <a:srgbClr val="5C63C8"/>
          </a:solidFill>
          <a:ln>
            <a:solidFill>
              <a:srgbClr val="5C6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0" y="2011680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51392" y="2157984"/>
            <a:ext cx="960120" cy="310896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743200"/>
            <a:ext cx="1874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72B4D"/>
                </a:solidFill>
                <a:latin typeface="Yu Gothic"/>
              </a:rPr>
              <a:t>Gemini</a:t>
            </a:r>
            <a:br/>
            <a:r>
              <a:t>JSON structured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3995928"/>
            <a:ext cx="1874520" cy="3657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154680" y="3017520"/>
            <a:ext cx="164592" cy="0"/>
          </a:xfrm>
          <a:prstGeom prst="line">
            <a:avLst/>
          </a:prstGeom>
          <a:ln w="2794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3017520"/>
            <a:ext cx="164592" cy="0"/>
          </a:xfrm>
          <a:prstGeom prst="line">
            <a:avLst/>
          </a:prstGeom>
          <a:ln w="2794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66760" y="3017520"/>
            <a:ext cx="164592" cy="0"/>
          </a:xfrm>
          <a:prstGeom prst="line">
            <a:avLst/>
          </a:prstGeom>
          <a:ln w="2794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F99"/>
                </a:solidFill>
                <a:latin typeface="Yu Gothic"/>
              </a:rPr>
              <a:t>05 /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Yu Gothic"/>
              </a:rPr>
              <a:t>Cấu trúc kết quả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Yu Gothic"/>
              </a:rPr>
              <a:t>Project Review schema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542032"/>
            <a:ext cx="82296" cy="82296"/>
          </a:xfrm>
          <a:prstGeom prst="ellipse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468880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F82"/>
                </a:solidFill>
                <a:latin typeface="Yu Gothic"/>
              </a:rPr>
              <a:t>review_tong_the /25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80944"/>
            <a:ext cx="82296" cy="82296"/>
          </a:xfrm>
          <a:prstGeom prst="ellipse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907792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F82"/>
                </a:solidFill>
                <a:latin typeface="Yu Gothic"/>
              </a:rPr>
              <a:t>diem_tot /25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419856"/>
            <a:ext cx="82296" cy="82296"/>
          </a:xfrm>
          <a:prstGeom prst="ellipse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346704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F82"/>
                </a:solidFill>
                <a:latin typeface="Yu Gothic"/>
              </a:rPr>
              <a:t>diem_xau /30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858768"/>
            <a:ext cx="82296" cy="82296"/>
          </a:xfrm>
          <a:prstGeom prst="ellipse">
            <a:avLst/>
          </a:prstGeom>
          <a:solidFill>
            <a:srgbClr val="2C8F99"/>
          </a:solidFill>
          <a:ln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785616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F82"/>
                </a:solidFill>
                <a:latin typeface="Yu Gothic"/>
              </a:rPr>
              <a:t>chinh_sach /20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783080"/>
            <a:ext cx="6400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0116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Yu Gothic"/>
              </a:rPr>
              <a:t>Response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14600"/>
            <a:ext cx="5577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72B4D"/>
                </a:solidFill>
                <a:latin typeface="Yu Gothic"/>
              </a:rPr>
              <a:t>{</a:t>
            </a:r>
            <a:br/>
            <a:r>
              <a:t>  "score": 88,</a:t>
            </a:r>
            <a:br/>
            <a:r>
              <a:t>  "criteria_scores": {...},</a:t>
            </a:r>
            <a:br/>
            <a:r>
              <a:t>  "criteria_suggestions": {...},</a:t>
            </a:r>
            <a:br/>
            <a:r>
              <a:t>  "draft_feedback": "..."</a:t>
            </a:r>
            <a:br/>
            <a:r>
              <a:t>}</a:t>
            </a:r>
          </a:p>
        </p:txBody>
      </p:sp>
      <p:sp>
        <p:nvSpPr>
          <p:cNvPr id="17" name="Oval 16"/>
          <p:cNvSpPr/>
          <p:nvPr/>
        </p:nvSpPr>
        <p:spPr>
          <a:xfrm>
            <a:off x="4983480" y="4873752"/>
            <a:ext cx="82296" cy="82296"/>
          </a:xfrm>
          <a:prstGeom prst="ellipse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4800600"/>
            <a:ext cx="5504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F82"/>
                </a:solidFill>
                <a:latin typeface="Yu Gothic"/>
              </a:rPr>
              <a:t>criteria_suggestions giúp người dùng hiểu lý do bị trừ điểm</a:t>
            </a:r>
          </a:p>
        </p:txBody>
      </p:sp>
      <p:sp>
        <p:nvSpPr>
          <p:cNvPr id="19" name="Oval 18"/>
          <p:cNvSpPr/>
          <p:nvPr/>
        </p:nvSpPr>
        <p:spPr>
          <a:xfrm>
            <a:off x="4983480" y="5312664"/>
            <a:ext cx="82296" cy="82296"/>
          </a:xfrm>
          <a:prstGeom prst="ellipse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8072" y="5239512"/>
            <a:ext cx="5504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F82"/>
                </a:solidFill>
                <a:latin typeface="Yu Gothic"/>
              </a:rPr>
              <a:t>Feedback tổng hợp hiển thị theo ngôn ngữ của bài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F99"/>
                </a:solidFill>
                <a:latin typeface="Yu Gothic"/>
              </a:rPr>
              <a:t>06 /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Yu Gothic"/>
              </a:rPr>
              <a:t>Điểm mạnh nổi bật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1993392"/>
            <a:ext cx="548640" cy="457200"/>
          </a:xfrm>
          <a:prstGeom prst="roundRect">
            <a:avLst/>
          </a:prstGeom>
          <a:solidFill>
            <a:srgbClr val="E7F5F6"/>
          </a:solidFill>
          <a:ln>
            <a:solidFill>
              <a:srgbClr val="E7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933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C8F99"/>
                </a:solidFill>
                <a:latin typeface="Yu Gothic"/>
              </a:rPr>
              <a:t>Versioned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Cập nhật rubric theo version, không phá flow hiện tại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1993392"/>
            <a:ext cx="548640" cy="457200"/>
          </a:xfrm>
          <a:prstGeom prst="roundRect">
            <a:avLst/>
          </a:prstGeom>
          <a:solidFill>
            <a:srgbClr val="EBF4FE"/>
          </a:solidFill>
          <a:ln>
            <a:solidFill>
              <a:srgbClr val="EB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9933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0ED"/>
                </a:solidFill>
                <a:latin typeface="Yu Gothic"/>
              </a:rPr>
              <a:t>Multi-language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37744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Rubric và UI hỗ trợ tiếng Việt / tiếng Nhật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7032" y="1993392"/>
            <a:ext cx="548640" cy="457200"/>
          </a:xfrm>
          <a:prstGeom prst="roundRect">
            <a:avLst/>
          </a:prstGeom>
          <a:solidFill>
            <a:srgbClr val="EDF8EF"/>
          </a:solidFill>
          <a:ln>
            <a:solidFill>
              <a:srgbClr val="ED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9933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Yu Gothic"/>
              </a:rPr>
              <a:t>Batch grading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37744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Có background job cho chấm hàng loạt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" y="3867912"/>
            <a:ext cx="548640" cy="457200"/>
          </a:xfrm>
          <a:prstGeom prst="roundRect">
            <a:avLst/>
          </a:prstGeom>
          <a:solidFill>
            <a:srgbClr val="EFF0FB"/>
          </a:solidFill>
          <a:ln>
            <a:solidFill>
              <a:srgbClr val="EF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8679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C63C8"/>
                </a:solidFill>
                <a:latin typeface="Yu Gothic"/>
              </a:rPr>
              <a:t>Signature-safe regrade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519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Kết quả gắn với content_hash, rubric_version, gemini_model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0332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53712" y="3867912"/>
            <a:ext cx="548640" cy="457200"/>
          </a:xfrm>
          <a:prstGeom prst="roundRect">
            <a:avLst/>
          </a:prstGeom>
          <a:solidFill>
            <a:srgbClr val="FFF5EA"/>
          </a:solidFill>
          <a:ln>
            <a:solidFill>
              <a:srgbClr val="FF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38679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Yu Gothic"/>
              </a:rPr>
              <a:t>Detailed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2519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Hiển thị giải thích và hướng tăng điểm theo từng tiêu chí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70332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57032" y="3867912"/>
            <a:ext cx="548640" cy="457200"/>
          </a:xfrm>
          <a:prstGeom prst="roundRect">
            <a:avLst/>
          </a:prstGeom>
          <a:solidFill>
            <a:srgbClr val="E7F5F6"/>
          </a:solidFill>
          <a:ln>
            <a:solidFill>
              <a:srgbClr val="E7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38679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C8F99"/>
                </a:solidFill>
                <a:latin typeface="Yu Gothic"/>
              </a:rPr>
              <a:t>Extensible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2519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Hỗ trợ nhiều document_type trong cùng một nền tảng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F99"/>
                </a:solidFill>
                <a:latin typeface="Yu Gothic"/>
              </a:rPr>
              <a:t>07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Yu Gothic"/>
              </a:rPr>
              <a:t>Hướng phát triển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F82"/>
                </a:solidFill>
                <a:latin typeface="Yu Gothic"/>
              </a:rPr>
              <a:t>Những hạng mục có thể tăng giá trị vận hành và quản trị hệ thống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417320" cy="384048"/>
          </a:xfrm>
          <a:prstGeom prst="roundRect">
            <a:avLst/>
          </a:prstGeom>
          <a:solidFill>
            <a:srgbClr val="2C8F99"/>
          </a:solidFill>
          <a:ln w="12700">
            <a:solidFill>
              <a:srgbClr val="2C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C8F99"/>
                </a:solidFill>
                <a:latin typeface="Yu Gothic"/>
              </a:rPr>
              <a:t>Regrade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46120"/>
            <a:ext cx="12618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F82"/>
                </a:solidFill>
                <a:latin typeface="Yu Gothic"/>
              </a:rPr>
              <a:t>Chấm lại toàn bộ khi đổi rubric version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3520440"/>
            <a:ext cx="320039" cy="0"/>
          </a:xfrm>
          <a:prstGeom prst="line">
            <a:avLst/>
          </a:prstGeom>
          <a:ln w="2540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2011680"/>
            <a:ext cx="1417320" cy="384048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5146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788920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80ED"/>
                </a:solidFill>
                <a:latin typeface="Yu Gothic"/>
              </a:rPr>
              <a:t>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3246120"/>
            <a:ext cx="12618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F82"/>
                </a:solidFill>
                <a:latin typeface="Yu Gothic"/>
              </a:rPr>
              <a:t>Theo dõi rõ rubric_version cho từng submission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3520440"/>
            <a:ext cx="320039" cy="0"/>
          </a:xfrm>
          <a:prstGeom prst="line">
            <a:avLst/>
          </a:prstGeom>
          <a:ln w="2540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2011680"/>
            <a:ext cx="1417320" cy="384048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5146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788920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  <a:latin typeface="Yu Gothic"/>
              </a:rPr>
              <a:t>Report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3246120"/>
            <a:ext cx="12618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F82"/>
                </a:solidFill>
                <a:latin typeface="Yu Gothic"/>
              </a:rPr>
              <a:t>Xuất báo cáo tổng hợp theo dự án / loại tài liệu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60" y="3520440"/>
            <a:ext cx="320039" cy="0"/>
          </a:xfrm>
          <a:prstGeom prst="line">
            <a:avLst/>
          </a:prstGeom>
          <a:ln w="2540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60920" y="2011680"/>
            <a:ext cx="1417320" cy="384048"/>
          </a:xfrm>
          <a:prstGeom prst="roundRect">
            <a:avLst/>
          </a:prstGeom>
          <a:solidFill>
            <a:srgbClr val="5C63C8"/>
          </a:solidFill>
          <a:ln w="12700">
            <a:solidFill>
              <a:srgbClr val="5C6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25146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788920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63C8"/>
                </a:solidFill>
                <a:latin typeface="Yu Gothic"/>
              </a:rPr>
              <a:t>Rubric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246120"/>
            <a:ext cx="12618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F82"/>
                </a:solidFill>
                <a:latin typeface="Yu Gothic"/>
              </a:rPr>
              <a:t>Quản lý version và promote rubric tốt hơn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15400" y="3520440"/>
            <a:ext cx="320039" cy="0"/>
          </a:xfrm>
          <a:prstGeom prst="line">
            <a:avLst/>
          </a:prstGeom>
          <a:ln w="25400">
            <a:solidFill>
              <a:srgbClr val="849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09760" y="2011680"/>
            <a:ext cx="1417320" cy="384048"/>
          </a:xfrm>
          <a:prstGeom prst="round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5146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788920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994A"/>
                </a:solidFill>
                <a:latin typeface="Yu Gothic"/>
              </a:rPr>
              <a:t>Admin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3246120"/>
            <a:ext cx="12618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F82"/>
                </a:solidFill>
                <a:latin typeface="Yu Gothic"/>
              </a:rPr>
              <a:t>Cấu hình active version và kiểm tra metadata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