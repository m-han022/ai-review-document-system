
<file path=[Content_Types].xml><?xml version="1.0" encoding="utf-8"?>
<Types xmlns="http://schemas.openxmlformats.org/package/2006/content-types">
  <Default Extension="png" ContentType="image/png"/>
  <Default Extension="jpeg" ContentType="image/jpeg"/>
  <Default Extension="webp" ContentType="image/webp"/>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handoutMasterIdLst>
    <p:handoutMasterId r:id="rId17"/>
  </p:handoutMasterIdLst>
  <p:sldIdLst>
    <p:sldId id="802" r:id="rId2"/>
    <p:sldId id="985" r:id="rId3"/>
    <p:sldId id="1048" r:id="rId4"/>
    <p:sldId id="1039" r:id="rId5"/>
    <p:sldId id="1042" r:id="rId6"/>
    <p:sldId id="1045" r:id="rId7"/>
    <p:sldId id="1046" r:id="rId8"/>
    <p:sldId id="1041" r:id="rId9"/>
    <p:sldId id="1043" r:id="rId10"/>
    <p:sldId id="1044" r:id="rId11"/>
    <p:sldId id="1047" r:id="rId12"/>
    <p:sldId id="1049" r:id="rId13"/>
    <p:sldId id="1033" r:id="rId14"/>
    <p:sldId id="783" r:id="rId15"/>
  </p:sldIdLst>
  <p:sldSz cx="12192000" cy="6858000"/>
  <p:notesSz cx="6742113" cy="9872663"/>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2FC42D3-D426-4E12-AA70-C0AFD4671F5E}">
          <p14:sldIdLst>
            <p14:sldId id="802"/>
            <p14:sldId id="985"/>
            <p14:sldId id="1048"/>
          </p14:sldIdLst>
        </p14:section>
        <p14:section name="Untitled Section" id="{73DE9ED6-FC32-482F-AF0D-3758819E8781}">
          <p14:sldIdLst>
            <p14:sldId id="1039"/>
            <p14:sldId id="1042"/>
            <p14:sldId id="1045"/>
            <p14:sldId id="1046"/>
            <p14:sldId id="1041"/>
            <p14:sldId id="1043"/>
            <p14:sldId id="1044"/>
            <p14:sldId id="1047"/>
            <p14:sldId id="1049"/>
            <p14:sldId id="1033"/>
            <p14:sldId id="783"/>
          </p14:sldIdLst>
        </p14:section>
      </p14:sectionLst>
    </p:ext>
    <p:ext uri="{EFAFB233-063F-42B5-8137-9DF3F51BA10A}">
      <p15:sldGuideLst xmlns:p15="http://schemas.microsoft.com/office/powerpoint/2012/main">
        <p15:guide id="1" orient="horz" pos="206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FF99"/>
    <a:srgbClr val="00B050"/>
    <a:srgbClr val="33CC33"/>
    <a:srgbClr val="6D1309"/>
    <a:srgbClr val="003E6C"/>
    <a:srgbClr val="D2FCFE"/>
    <a:srgbClr val="CCFFFF"/>
    <a:srgbClr val="FFFFCC"/>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010" autoAdjust="0"/>
    <p:restoredTop sz="94397" autoAdjust="0"/>
  </p:normalViewPr>
  <p:slideViewPr>
    <p:cSldViewPr snapToGrid="0" snapToObjects="1" showGuides="1">
      <p:cViewPr varScale="1">
        <p:scale>
          <a:sx n="113" d="100"/>
          <a:sy n="113" d="100"/>
        </p:scale>
        <p:origin x="108" y="150"/>
      </p:cViewPr>
      <p:guideLst>
        <p:guide orient="horz" pos="2068"/>
        <p:guide pos="3840"/>
      </p:guideLst>
    </p:cSldViewPr>
  </p:slideViewPr>
  <p:outlineViewPr>
    <p:cViewPr>
      <p:scale>
        <a:sx n="33" d="100"/>
        <a:sy n="33" d="100"/>
      </p:scale>
      <p:origin x="0" y="1536"/>
    </p:cViewPr>
  </p:outlineViewPr>
  <p:notesTextViewPr>
    <p:cViewPr>
      <p:scale>
        <a:sx n="100" d="100"/>
        <a:sy n="100" d="100"/>
      </p:scale>
      <p:origin x="0" y="0"/>
    </p:cViewPr>
  </p:notesTextViewPr>
  <p:notesViewPr>
    <p:cSldViewPr snapToGrid="0" snapToObjects="1">
      <p:cViewPr varScale="1">
        <p:scale>
          <a:sx n="54" d="100"/>
          <a:sy n="54" d="100"/>
        </p:scale>
        <p:origin x="3084"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ntb_huyen.BRYCENVN\Desktop\NhinnhanANAC.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ntb_huyen.BRYCENVN\Desktop\NhinnhanANAC.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ntb_huyen.BRYCENVN\Desktop\NhinnhanANAC.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ntb_huyen.BRYCENVN\Desktop\NhinnhanANAC.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ntb_huyen.BRYCENVN\Desktop\NhinnhanANAC.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0438432835820901"/>
          <c:y val="3.9841427155599601E-2"/>
          <c:w val="0.43283582089552203"/>
          <c:h val="0.91972249752229895"/>
        </c:manualLayout>
      </c:layout>
      <c:pieChart>
        <c:varyColors val="1"/>
        <c:dLbls>
          <c:showLegendKey val="0"/>
          <c:showVal val="0"/>
          <c:showCatName val="0"/>
          <c:showSerName val="0"/>
          <c:showPercent val="1"/>
          <c:showBubbleSize val="0"/>
          <c:showLeaderLines val="0"/>
        </c:dLbls>
        <c:firstSliceAng val="0"/>
      </c:pieChart>
      <c:spPr>
        <a:noFill/>
        <a:ln>
          <a:noFill/>
        </a:ln>
        <a:effectLst/>
      </c:spPr>
    </c:plotArea>
    <c:legend>
      <c:legendPos val="b"/>
      <c:layout>
        <c:manualLayout>
          <c:xMode val="edge"/>
          <c:yMode val="edge"/>
          <c:x val="8.1513838288870294E-2"/>
          <c:y val="0.172024267194228"/>
          <c:w val="0.31589023387002002"/>
          <c:h val="0.77817904087994405"/>
        </c:manualLayout>
      </c:layout>
      <c:overlay val="0"/>
      <c:spPr>
        <a:noFill/>
        <a:ln>
          <a:noFill/>
        </a:ln>
        <a:effectLst/>
      </c:spPr>
      <c:txPr>
        <a:bodyPr rot="0" spcFirstLastPara="1"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uri="{0b15fc19-7d7d-44ad-8c2d-2c3a37ce22c3}">
        <chartProps xmlns="https://web.wps.cn/et/2018/main" chartId="{985df9b9-c3c2-484a-8035-19d793d33ca3}"/>
      </c:ext>
    </c:extLst>
  </c:chart>
  <c:spPr>
    <a:noFill/>
    <a:ln>
      <a:noFill/>
    </a:ln>
    <a:effectLst/>
  </c:spPr>
  <c:txPr>
    <a:bodyPr/>
    <a:lstStyle/>
    <a:p>
      <a:pPr>
        <a:defRPr lang="en-US"/>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dirty="0" smtClean="0"/>
              <a:t>分析対象機能総数</a:t>
            </a:r>
            <a:endParaRPr lang="ja-JP" alt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Code!$C$44</c:f>
              <c:strCache>
                <c:ptCount val="1"/>
                <c:pt idx="0">
                  <c:v>件数</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0D7-483F-B913-2ACF6771B60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0D7-483F-B913-2ACF6771B60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0D7-483F-B913-2ACF6771B60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Code!$B$45:$B$47</c:f>
              <c:strCache>
                <c:ptCount val="3"/>
                <c:pt idx="0">
                  <c:v>バッチ</c:v>
                </c:pt>
                <c:pt idx="1">
                  <c:v>画面</c:v>
                </c:pt>
                <c:pt idx="2">
                  <c:v>API</c:v>
                </c:pt>
              </c:strCache>
            </c:strRef>
          </c:cat>
          <c:val>
            <c:numRef>
              <c:f>Code!$C$45:$C$47</c:f>
              <c:numCache>
                <c:formatCode>General</c:formatCode>
                <c:ptCount val="3"/>
                <c:pt idx="0">
                  <c:v>11</c:v>
                </c:pt>
                <c:pt idx="1">
                  <c:v>21</c:v>
                </c:pt>
                <c:pt idx="2">
                  <c:v>3</c:v>
                </c:pt>
              </c:numCache>
            </c:numRef>
          </c:val>
          <c:extLst>
            <c:ext xmlns:c16="http://schemas.microsoft.com/office/drawing/2014/chart" uri="{C3380CC4-5D6E-409C-BE32-E72D297353CC}">
              <c16:uniqueId val="{00000006-90D7-483F-B913-2ACF6771B608}"/>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Code!$H$1</c:f>
              <c:strCache>
                <c:ptCount val="1"/>
                <c:pt idx="0">
                  <c:v>差分工数</c:v>
                </c:pt>
              </c:strCache>
            </c:strRef>
          </c:tx>
          <c:spPr>
            <a:solidFill>
              <a:schemeClr val="accent1"/>
            </a:solidFill>
            <a:ln>
              <a:noFill/>
            </a:ln>
            <a:effectLst/>
          </c:spPr>
          <c:invertIfNegative val="0"/>
          <c:cat>
            <c:strRef>
              <c:f>Code!$C$2:$C$24</c:f>
              <c:strCache>
                <c:ptCount val="23"/>
                <c:pt idx="0">
                  <c:v>ログイン</c:v>
                </c:pt>
                <c:pt idx="1">
                  <c:v>工場マスタ</c:v>
                </c:pt>
                <c:pt idx="2">
                  <c:v>セクションマスタ</c:v>
                </c:pt>
                <c:pt idx="3">
                  <c:v>セクションマスタ検索</c:v>
                </c:pt>
                <c:pt idx="4">
                  <c:v>グループマスタ</c:v>
                </c:pt>
                <c:pt idx="5">
                  <c:v>グループマスタ検索</c:v>
                </c:pt>
                <c:pt idx="6">
                  <c:v>仕入先マスタ</c:v>
                </c:pt>
                <c:pt idx="7">
                  <c:v>調達品マスタ</c:v>
                </c:pt>
                <c:pt idx="8">
                  <c:v>調達品契約マスタ</c:v>
                </c:pt>
                <c:pt idx="9">
                  <c:v>調達品単位換算マスタ</c:v>
                </c:pt>
                <c:pt idx="10">
                  <c:v>レシピ作成用調達品検索</c:v>
                </c:pt>
                <c:pt idx="11">
                  <c:v>レシピ作成用調達品検索CSV出力</c:v>
                </c:pt>
                <c:pt idx="12">
                  <c:v>産地エリアマスタ</c:v>
                </c:pt>
                <c:pt idx="13">
                  <c:v>産地マスタ</c:v>
                </c:pt>
                <c:pt idx="14">
                  <c:v>分類マスタ</c:v>
                </c:pt>
                <c:pt idx="15">
                  <c:v>名称マスタ</c:v>
                </c:pt>
                <c:pt idx="16">
                  <c:v>祝日マスタ</c:v>
                </c:pt>
                <c:pt idx="17">
                  <c:v>税マスタ</c:v>
                </c:pt>
                <c:pt idx="18">
                  <c:v>組織権限紐づけマスタ</c:v>
                </c:pt>
                <c:pt idx="19">
                  <c:v>発注依頼締切解除</c:v>
                </c:pt>
                <c:pt idx="20">
                  <c:v>発注承認</c:v>
                </c:pt>
                <c:pt idx="21">
                  <c:v>セクション別在庫マスタ連携_API_受信</c:v>
                </c:pt>
                <c:pt idx="22">
                  <c:v>セクション別在庫マスタ_受信</c:v>
                </c:pt>
              </c:strCache>
            </c:strRef>
          </c:cat>
          <c:val>
            <c:numRef>
              <c:f>Code!$H$2:$H$24</c:f>
              <c:numCache>
                <c:formatCode>General</c:formatCode>
                <c:ptCount val="23"/>
                <c:pt idx="0">
                  <c:v>0</c:v>
                </c:pt>
                <c:pt idx="1">
                  <c:v>20</c:v>
                </c:pt>
                <c:pt idx="2">
                  <c:v>0</c:v>
                </c:pt>
                <c:pt idx="3">
                  <c:v>0</c:v>
                </c:pt>
                <c:pt idx="4">
                  <c:v>0</c:v>
                </c:pt>
                <c:pt idx="5">
                  <c:v>0</c:v>
                </c:pt>
                <c:pt idx="6">
                  <c:v>-8</c:v>
                </c:pt>
                <c:pt idx="7">
                  <c:v>16</c:v>
                </c:pt>
                <c:pt idx="8">
                  <c:v>0</c:v>
                </c:pt>
                <c:pt idx="9">
                  <c:v>36</c:v>
                </c:pt>
                <c:pt idx="10">
                  <c:v>12</c:v>
                </c:pt>
                <c:pt idx="11">
                  <c:v>-2</c:v>
                </c:pt>
                <c:pt idx="12">
                  <c:v>12</c:v>
                </c:pt>
                <c:pt idx="13">
                  <c:v>1.5</c:v>
                </c:pt>
                <c:pt idx="14">
                  <c:v>0</c:v>
                </c:pt>
                <c:pt idx="15">
                  <c:v>24</c:v>
                </c:pt>
                <c:pt idx="16">
                  <c:v>50</c:v>
                </c:pt>
                <c:pt idx="17">
                  <c:v>26</c:v>
                </c:pt>
                <c:pt idx="18">
                  <c:v>12</c:v>
                </c:pt>
                <c:pt idx="19">
                  <c:v>17.5</c:v>
                </c:pt>
                <c:pt idx="20">
                  <c:v>21</c:v>
                </c:pt>
                <c:pt idx="21">
                  <c:v>-8</c:v>
                </c:pt>
                <c:pt idx="22">
                  <c:v>9</c:v>
                </c:pt>
              </c:numCache>
            </c:numRef>
          </c:val>
          <c:extLst>
            <c:ext xmlns:c16="http://schemas.microsoft.com/office/drawing/2014/chart" uri="{C3380CC4-5D6E-409C-BE32-E72D297353CC}">
              <c16:uniqueId val="{00000000-35AF-4F06-9EB5-ECBB7868F0A2}"/>
            </c:ext>
          </c:extLst>
        </c:ser>
        <c:dLbls>
          <c:showLegendKey val="0"/>
          <c:showVal val="0"/>
          <c:showCatName val="0"/>
          <c:showSerName val="0"/>
          <c:showPercent val="0"/>
          <c:showBubbleSize val="0"/>
        </c:dLbls>
        <c:gapWidth val="219"/>
        <c:overlap val="-27"/>
        <c:axId val="2108614208"/>
        <c:axId val="2108616288"/>
      </c:barChart>
      <c:catAx>
        <c:axId val="2108614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8616288"/>
        <c:crosses val="autoZero"/>
        <c:auto val="1"/>
        <c:lblAlgn val="ctr"/>
        <c:lblOffset val="100"/>
        <c:noMultiLvlLbl val="0"/>
      </c:catAx>
      <c:valAx>
        <c:axId val="2108616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86142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7097013816669142E-2"/>
          <c:y val="0.17583422856057607"/>
          <c:w val="0.9175256276927648"/>
          <c:h val="0.3909866926463787"/>
        </c:manualLayout>
      </c:layout>
      <c:barChart>
        <c:barDir val="col"/>
        <c:grouping val="clustered"/>
        <c:varyColors val="0"/>
        <c:ser>
          <c:idx val="0"/>
          <c:order val="0"/>
          <c:tx>
            <c:strRef>
              <c:f>Code!$I$1</c:f>
              <c:strCache>
                <c:ptCount val="1"/>
                <c:pt idx="0">
                  <c:v>指摘数</c:v>
                </c:pt>
              </c:strCache>
            </c:strRef>
          </c:tx>
          <c:spPr>
            <a:solidFill>
              <a:schemeClr val="accent1"/>
            </a:solidFill>
            <a:ln>
              <a:noFill/>
            </a:ln>
            <a:effectLst/>
          </c:spPr>
          <c:invertIfNegative val="0"/>
          <c:cat>
            <c:strRef>
              <c:f>Code!$C$2:$C$36</c:f>
              <c:strCache>
                <c:ptCount val="35"/>
                <c:pt idx="0">
                  <c:v>ログイン</c:v>
                </c:pt>
                <c:pt idx="1">
                  <c:v>工場マスタ</c:v>
                </c:pt>
                <c:pt idx="2">
                  <c:v>セクションマスタ</c:v>
                </c:pt>
                <c:pt idx="3">
                  <c:v>セクションマスタ検索</c:v>
                </c:pt>
                <c:pt idx="4">
                  <c:v>グループマスタ</c:v>
                </c:pt>
                <c:pt idx="5">
                  <c:v>グループマスタ検索</c:v>
                </c:pt>
                <c:pt idx="6">
                  <c:v>仕入先マスタ</c:v>
                </c:pt>
                <c:pt idx="7">
                  <c:v>調達品マスタ</c:v>
                </c:pt>
                <c:pt idx="8">
                  <c:v>調達品契約マスタ</c:v>
                </c:pt>
                <c:pt idx="9">
                  <c:v>調達品単位換算マスタ</c:v>
                </c:pt>
                <c:pt idx="10">
                  <c:v>レシピ作成用調達品検索</c:v>
                </c:pt>
                <c:pt idx="11">
                  <c:v>レシピ作成用調達品検索CSV出力</c:v>
                </c:pt>
                <c:pt idx="12">
                  <c:v>産地エリアマスタ</c:v>
                </c:pt>
                <c:pt idx="13">
                  <c:v>産地マスタ</c:v>
                </c:pt>
                <c:pt idx="14">
                  <c:v>分類マスタ</c:v>
                </c:pt>
                <c:pt idx="15">
                  <c:v>名称マスタ</c:v>
                </c:pt>
                <c:pt idx="16">
                  <c:v>祝日マスタ</c:v>
                </c:pt>
                <c:pt idx="17">
                  <c:v>税マスタ</c:v>
                </c:pt>
                <c:pt idx="18">
                  <c:v>組織権限紐づけマスタ</c:v>
                </c:pt>
                <c:pt idx="19">
                  <c:v>発注依頼締切解除</c:v>
                </c:pt>
                <c:pt idx="20">
                  <c:v>発注承認</c:v>
                </c:pt>
                <c:pt idx="21">
                  <c:v>セクション別在庫マスタ連携_API_受信</c:v>
                </c:pt>
                <c:pt idx="22">
                  <c:v>セクション別在庫マスタ_受信</c:v>
                </c:pt>
                <c:pt idx="23">
                  <c:v>食材使用数量報告書連携_API_受信</c:v>
                </c:pt>
                <c:pt idx="24">
                  <c:v>食材使用数量報告書_受信</c:v>
                </c:pt>
                <c:pt idx="25">
                  <c:v>月間使用予定明細_受信</c:v>
                </c:pt>
                <c:pt idx="26">
                  <c:v>生産指示連携_API_受信</c:v>
                </c:pt>
                <c:pt idx="27">
                  <c:v>生産指示材料構成(新)_受信</c:v>
                </c:pt>
                <c:pt idx="28">
                  <c:v>生産指示番号採番_受信</c:v>
                </c:pt>
                <c:pt idx="29">
                  <c:v>受注別生産ヘッダ_受信</c:v>
                </c:pt>
                <c:pt idx="30">
                  <c:v>受注別生産明細_受信</c:v>
                </c:pt>
                <c:pt idx="31">
                  <c:v>配合構成ヘッダ_受信</c:v>
                </c:pt>
                <c:pt idx="32">
                  <c:v>メニュー企画・生産用材料構成</c:v>
                </c:pt>
                <c:pt idx="33">
                  <c:v>メニュー企画_受信</c:v>
                </c:pt>
                <c:pt idx="34">
                  <c:v>生産用材料構成_受信</c:v>
                </c:pt>
              </c:strCache>
            </c:strRef>
          </c:cat>
          <c:val>
            <c:numRef>
              <c:f>Code!$I$2:$I$36</c:f>
              <c:numCache>
                <c:formatCode>General</c:formatCode>
                <c:ptCount val="35"/>
                <c:pt idx="0">
                  <c:v>5</c:v>
                </c:pt>
                <c:pt idx="1">
                  <c:v>7</c:v>
                </c:pt>
                <c:pt idx="2">
                  <c:v>10</c:v>
                </c:pt>
                <c:pt idx="3">
                  <c:v>4</c:v>
                </c:pt>
                <c:pt idx="4">
                  <c:v>7</c:v>
                </c:pt>
                <c:pt idx="5">
                  <c:v>4</c:v>
                </c:pt>
                <c:pt idx="6">
                  <c:v>12</c:v>
                </c:pt>
                <c:pt idx="7">
                  <c:v>25</c:v>
                </c:pt>
                <c:pt idx="8">
                  <c:v>12</c:v>
                </c:pt>
                <c:pt idx="9">
                  <c:v>0</c:v>
                </c:pt>
                <c:pt idx="10">
                  <c:v>0</c:v>
                </c:pt>
                <c:pt idx="11">
                  <c:v>0</c:v>
                </c:pt>
                <c:pt idx="12">
                  <c:v>8</c:v>
                </c:pt>
                <c:pt idx="13">
                  <c:v>10</c:v>
                </c:pt>
                <c:pt idx="14">
                  <c:v>26</c:v>
                </c:pt>
                <c:pt idx="15">
                  <c:v>18</c:v>
                </c:pt>
                <c:pt idx="16">
                  <c:v>12</c:v>
                </c:pt>
                <c:pt idx="17">
                  <c:v>8</c:v>
                </c:pt>
                <c:pt idx="18">
                  <c:v>8</c:v>
                </c:pt>
                <c:pt idx="19">
                  <c:v>10</c:v>
                </c:pt>
                <c:pt idx="20">
                  <c:v>15</c:v>
                </c:pt>
                <c:pt idx="21">
                  <c:v>4</c:v>
                </c:pt>
                <c:pt idx="22">
                  <c:v>4</c:v>
                </c:pt>
                <c:pt idx="23">
                  <c:v>2</c:v>
                </c:pt>
                <c:pt idx="24">
                  <c:v>2</c:v>
                </c:pt>
                <c:pt idx="25">
                  <c:v>2</c:v>
                </c:pt>
                <c:pt idx="26">
                  <c:v>6</c:v>
                </c:pt>
                <c:pt idx="27">
                  <c:v>6</c:v>
                </c:pt>
                <c:pt idx="28">
                  <c:v>6</c:v>
                </c:pt>
                <c:pt idx="29">
                  <c:v>6</c:v>
                </c:pt>
                <c:pt idx="30">
                  <c:v>6</c:v>
                </c:pt>
                <c:pt idx="31">
                  <c:v>4</c:v>
                </c:pt>
                <c:pt idx="32">
                  <c:v>4</c:v>
                </c:pt>
                <c:pt idx="33">
                  <c:v>4</c:v>
                </c:pt>
                <c:pt idx="34">
                  <c:v>4</c:v>
                </c:pt>
              </c:numCache>
            </c:numRef>
          </c:val>
          <c:extLst>
            <c:ext xmlns:c16="http://schemas.microsoft.com/office/drawing/2014/chart" uri="{C3380CC4-5D6E-409C-BE32-E72D297353CC}">
              <c16:uniqueId val="{00000000-6F64-4313-8E7E-479D8AD993D9}"/>
            </c:ext>
          </c:extLst>
        </c:ser>
        <c:dLbls>
          <c:showLegendKey val="0"/>
          <c:showVal val="0"/>
          <c:showCatName val="0"/>
          <c:showSerName val="0"/>
          <c:showPercent val="0"/>
          <c:showBubbleSize val="0"/>
        </c:dLbls>
        <c:gapWidth val="219"/>
        <c:overlap val="-27"/>
        <c:axId val="2117111808"/>
        <c:axId val="2117116800"/>
      </c:barChart>
      <c:catAx>
        <c:axId val="2117111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7116800"/>
        <c:crosses val="autoZero"/>
        <c:auto val="1"/>
        <c:lblAlgn val="ctr"/>
        <c:lblOffset val="100"/>
        <c:noMultiLvlLbl val="0"/>
      </c:catAx>
      <c:valAx>
        <c:axId val="21171168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171118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UTTHUCTHI!$F$1</c:f>
              <c:strCache>
                <c:ptCount val="1"/>
                <c:pt idx="0">
                  <c:v>差分工数</c:v>
                </c:pt>
              </c:strCache>
            </c:strRef>
          </c:tx>
          <c:spPr>
            <a:solidFill>
              <a:schemeClr val="accent1"/>
            </a:solidFill>
            <a:ln>
              <a:noFill/>
            </a:ln>
            <a:effectLst/>
          </c:spPr>
          <c:invertIfNegative val="0"/>
          <c:cat>
            <c:strRef>
              <c:f>UTTHUCTHI!$B$2:$B$33</c:f>
              <c:strCache>
                <c:ptCount val="32"/>
                <c:pt idx="0">
                  <c:v>ログイン</c:v>
                </c:pt>
                <c:pt idx="1">
                  <c:v>工場マスタ</c:v>
                </c:pt>
                <c:pt idx="2">
                  <c:v>セクションマスタ</c:v>
                </c:pt>
                <c:pt idx="3">
                  <c:v>セクションマスタ検索</c:v>
                </c:pt>
                <c:pt idx="4">
                  <c:v>グループマスタ</c:v>
                </c:pt>
                <c:pt idx="5">
                  <c:v>グループマスタ検索</c:v>
                </c:pt>
                <c:pt idx="6">
                  <c:v>仕入先マスタ</c:v>
                </c:pt>
                <c:pt idx="7">
                  <c:v>調達品マスタ</c:v>
                </c:pt>
                <c:pt idx="8">
                  <c:v>調達品契約マスタ</c:v>
                </c:pt>
                <c:pt idx="9">
                  <c:v>調達品単位換算マスタ</c:v>
                </c:pt>
                <c:pt idx="10">
                  <c:v>レシピ作成用調達品検索</c:v>
                </c:pt>
                <c:pt idx="11">
                  <c:v>レシピ作成用調達品検索CSV出力</c:v>
                </c:pt>
                <c:pt idx="12">
                  <c:v>産地エリアマスタ</c:v>
                </c:pt>
                <c:pt idx="13">
                  <c:v>産地マスタ</c:v>
                </c:pt>
                <c:pt idx="14">
                  <c:v>分類マスタ</c:v>
                </c:pt>
                <c:pt idx="15">
                  <c:v>名称マスタ</c:v>
                </c:pt>
                <c:pt idx="16">
                  <c:v>祝日マスタ</c:v>
                </c:pt>
                <c:pt idx="17">
                  <c:v>税マスタ</c:v>
                </c:pt>
                <c:pt idx="18">
                  <c:v>組織権限紐づけマスタ</c:v>
                </c:pt>
                <c:pt idx="19">
                  <c:v>発注依頼締切解除</c:v>
                </c:pt>
                <c:pt idx="20">
                  <c:v>発注承認</c:v>
                </c:pt>
                <c:pt idx="21">
                  <c:v>セクション別在庫マスタ連携_API_受信</c:v>
                </c:pt>
                <c:pt idx="22">
                  <c:v>セクション別在庫マスタ_受信</c:v>
                </c:pt>
                <c:pt idx="23">
                  <c:v>食材使用数量報告書連携_API_受信</c:v>
                </c:pt>
                <c:pt idx="24">
                  <c:v>食材使用数量報告書_受信</c:v>
                </c:pt>
                <c:pt idx="25">
                  <c:v>月間使用予定明細_受信</c:v>
                </c:pt>
                <c:pt idx="26">
                  <c:v>生産指示連携_API_受信</c:v>
                </c:pt>
                <c:pt idx="27">
                  <c:v>生産指示材料構成(新)_受信</c:v>
                </c:pt>
                <c:pt idx="28">
                  <c:v>生産指示番号採番_受信</c:v>
                </c:pt>
                <c:pt idx="29">
                  <c:v>受注別生産ヘッダ_受信</c:v>
                </c:pt>
                <c:pt idx="30">
                  <c:v>受注別生産明細_受信</c:v>
                </c:pt>
                <c:pt idx="31">
                  <c:v>配合構成ヘッダ_受信</c:v>
                </c:pt>
              </c:strCache>
            </c:strRef>
          </c:cat>
          <c:val>
            <c:numRef>
              <c:f>UTTHUCTHI!$F$2:$F$33</c:f>
              <c:numCache>
                <c:formatCode>General</c:formatCode>
                <c:ptCount val="32"/>
                <c:pt idx="0">
                  <c:v>-3</c:v>
                </c:pt>
                <c:pt idx="1">
                  <c:v>3</c:v>
                </c:pt>
                <c:pt idx="2">
                  <c:v>2</c:v>
                </c:pt>
                <c:pt idx="3">
                  <c:v>-3.5</c:v>
                </c:pt>
                <c:pt idx="4">
                  <c:v>0.80000000000000071</c:v>
                </c:pt>
                <c:pt idx="5">
                  <c:v>-0.69999999999999929</c:v>
                </c:pt>
                <c:pt idx="6">
                  <c:v>8</c:v>
                </c:pt>
                <c:pt idx="7">
                  <c:v>32</c:v>
                </c:pt>
                <c:pt idx="8">
                  <c:v>0</c:v>
                </c:pt>
                <c:pt idx="9">
                  <c:v>-1</c:v>
                </c:pt>
                <c:pt idx="10">
                  <c:v>1</c:v>
                </c:pt>
                <c:pt idx="11">
                  <c:v>0</c:v>
                </c:pt>
                <c:pt idx="12">
                  <c:v>-0.5</c:v>
                </c:pt>
                <c:pt idx="13">
                  <c:v>-0.5</c:v>
                </c:pt>
                <c:pt idx="14">
                  <c:v>8</c:v>
                </c:pt>
                <c:pt idx="15">
                  <c:v>0</c:v>
                </c:pt>
                <c:pt idx="16">
                  <c:v>0.5</c:v>
                </c:pt>
                <c:pt idx="17">
                  <c:v>4</c:v>
                </c:pt>
                <c:pt idx="18">
                  <c:v>0</c:v>
                </c:pt>
                <c:pt idx="19">
                  <c:v>-1</c:v>
                </c:pt>
                <c:pt idx="20">
                  <c:v>4</c:v>
                </c:pt>
                <c:pt idx="21">
                  <c:v>10</c:v>
                </c:pt>
                <c:pt idx="22">
                  <c:v>1</c:v>
                </c:pt>
                <c:pt idx="23">
                  <c:v>3</c:v>
                </c:pt>
                <c:pt idx="24">
                  <c:v>0</c:v>
                </c:pt>
                <c:pt idx="25">
                  <c:v>0</c:v>
                </c:pt>
                <c:pt idx="26">
                  <c:v>10.900000000000002</c:v>
                </c:pt>
                <c:pt idx="27">
                  <c:v>0</c:v>
                </c:pt>
                <c:pt idx="28">
                  <c:v>0</c:v>
                </c:pt>
                <c:pt idx="29">
                  <c:v>0</c:v>
                </c:pt>
                <c:pt idx="30">
                  <c:v>0</c:v>
                </c:pt>
                <c:pt idx="31">
                  <c:v>2</c:v>
                </c:pt>
              </c:numCache>
            </c:numRef>
          </c:val>
          <c:extLst>
            <c:ext xmlns:c16="http://schemas.microsoft.com/office/drawing/2014/chart" uri="{C3380CC4-5D6E-409C-BE32-E72D297353CC}">
              <c16:uniqueId val="{00000000-C899-4862-879C-9252ADC24991}"/>
            </c:ext>
          </c:extLst>
        </c:ser>
        <c:dLbls>
          <c:showLegendKey val="0"/>
          <c:showVal val="0"/>
          <c:showCatName val="0"/>
          <c:showSerName val="0"/>
          <c:showPercent val="0"/>
          <c:showBubbleSize val="0"/>
        </c:dLbls>
        <c:gapWidth val="219"/>
        <c:overlap val="-27"/>
        <c:axId val="112990016"/>
        <c:axId val="112976288"/>
      </c:barChart>
      <c:catAx>
        <c:axId val="112990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976288"/>
        <c:crosses val="autoZero"/>
        <c:auto val="1"/>
        <c:lblAlgn val="ctr"/>
        <c:lblOffset val="100"/>
        <c:noMultiLvlLbl val="0"/>
      </c:catAx>
      <c:valAx>
        <c:axId val="112976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9900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UTTHUCTHI!$F$1</c:f>
              <c:strCache>
                <c:ptCount val="1"/>
                <c:pt idx="0">
                  <c:v>差分工数</c:v>
                </c:pt>
              </c:strCache>
            </c:strRef>
          </c:tx>
          <c:spPr>
            <a:solidFill>
              <a:schemeClr val="accent1"/>
            </a:solidFill>
            <a:ln>
              <a:noFill/>
            </a:ln>
            <a:effectLst/>
          </c:spPr>
          <c:invertIfNegative val="0"/>
          <c:cat>
            <c:strRef>
              <c:f>UTTHUCTHI!$B$2:$B$33</c:f>
              <c:strCache>
                <c:ptCount val="32"/>
                <c:pt idx="0">
                  <c:v>ログイン</c:v>
                </c:pt>
                <c:pt idx="1">
                  <c:v>工場マスタ</c:v>
                </c:pt>
                <c:pt idx="2">
                  <c:v>セクションマスタ</c:v>
                </c:pt>
                <c:pt idx="3">
                  <c:v>セクションマスタ検索</c:v>
                </c:pt>
                <c:pt idx="4">
                  <c:v>グループマスタ</c:v>
                </c:pt>
                <c:pt idx="5">
                  <c:v>グループマスタ検索</c:v>
                </c:pt>
                <c:pt idx="6">
                  <c:v>仕入先マスタ</c:v>
                </c:pt>
                <c:pt idx="7">
                  <c:v>調達品マスタ</c:v>
                </c:pt>
                <c:pt idx="8">
                  <c:v>調達品契約マスタ</c:v>
                </c:pt>
                <c:pt idx="9">
                  <c:v>調達品単位換算マスタ</c:v>
                </c:pt>
                <c:pt idx="10">
                  <c:v>レシピ作成用調達品検索</c:v>
                </c:pt>
                <c:pt idx="11">
                  <c:v>レシピ作成用調達品検索CSV出力</c:v>
                </c:pt>
                <c:pt idx="12">
                  <c:v>産地エリアマスタ</c:v>
                </c:pt>
                <c:pt idx="13">
                  <c:v>産地マスタ</c:v>
                </c:pt>
                <c:pt idx="14">
                  <c:v>分類マスタ</c:v>
                </c:pt>
                <c:pt idx="15">
                  <c:v>名称マスタ</c:v>
                </c:pt>
                <c:pt idx="16">
                  <c:v>祝日マスタ</c:v>
                </c:pt>
                <c:pt idx="17">
                  <c:v>税マスタ</c:v>
                </c:pt>
                <c:pt idx="18">
                  <c:v>組織権限紐づけマスタ</c:v>
                </c:pt>
                <c:pt idx="19">
                  <c:v>発注依頼締切解除</c:v>
                </c:pt>
                <c:pt idx="20">
                  <c:v>発注承認</c:v>
                </c:pt>
                <c:pt idx="21">
                  <c:v>セクション別在庫マスタ連携_API_受信</c:v>
                </c:pt>
                <c:pt idx="22">
                  <c:v>セクション別在庫マスタ_受信</c:v>
                </c:pt>
                <c:pt idx="23">
                  <c:v>食材使用数量報告書連携_API_受信</c:v>
                </c:pt>
                <c:pt idx="24">
                  <c:v>食材使用数量報告書_受信</c:v>
                </c:pt>
                <c:pt idx="25">
                  <c:v>月間使用予定明細_受信</c:v>
                </c:pt>
                <c:pt idx="26">
                  <c:v>生産指示連携_API_受信</c:v>
                </c:pt>
                <c:pt idx="27">
                  <c:v>生産指示材料構成(新)_受信</c:v>
                </c:pt>
                <c:pt idx="28">
                  <c:v>生産指示番号採番_受信</c:v>
                </c:pt>
                <c:pt idx="29">
                  <c:v>受注別生産ヘッダ_受信</c:v>
                </c:pt>
                <c:pt idx="30">
                  <c:v>受注別生産明細_受信</c:v>
                </c:pt>
                <c:pt idx="31">
                  <c:v>配合構成ヘッダ_受信</c:v>
                </c:pt>
              </c:strCache>
            </c:strRef>
          </c:cat>
          <c:val>
            <c:numRef>
              <c:f>UTTHUCTHI!$F$2:$F$33</c:f>
              <c:numCache>
                <c:formatCode>General</c:formatCode>
                <c:ptCount val="32"/>
                <c:pt idx="0">
                  <c:v>-3</c:v>
                </c:pt>
                <c:pt idx="1">
                  <c:v>3</c:v>
                </c:pt>
                <c:pt idx="2">
                  <c:v>2</c:v>
                </c:pt>
                <c:pt idx="3">
                  <c:v>-3.5</c:v>
                </c:pt>
                <c:pt idx="4">
                  <c:v>0.80000000000000071</c:v>
                </c:pt>
                <c:pt idx="5">
                  <c:v>-0.69999999999999929</c:v>
                </c:pt>
                <c:pt idx="6">
                  <c:v>8</c:v>
                </c:pt>
                <c:pt idx="7">
                  <c:v>32</c:v>
                </c:pt>
                <c:pt idx="8">
                  <c:v>0</c:v>
                </c:pt>
                <c:pt idx="9">
                  <c:v>-1</c:v>
                </c:pt>
                <c:pt idx="10">
                  <c:v>1</c:v>
                </c:pt>
                <c:pt idx="11">
                  <c:v>0</c:v>
                </c:pt>
                <c:pt idx="12">
                  <c:v>-0.5</c:v>
                </c:pt>
                <c:pt idx="13">
                  <c:v>-0.5</c:v>
                </c:pt>
                <c:pt idx="14">
                  <c:v>8</c:v>
                </c:pt>
                <c:pt idx="15">
                  <c:v>0</c:v>
                </c:pt>
                <c:pt idx="16">
                  <c:v>0.5</c:v>
                </c:pt>
                <c:pt idx="17">
                  <c:v>4</c:v>
                </c:pt>
                <c:pt idx="18">
                  <c:v>0</c:v>
                </c:pt>
                <c:pt idx="19">
                  <c:v>-1</c:v>
                </c:pt>
                <c:pt idx="20">
                  <c:v>4</c:v>
                </c:pt>
                <c:pt idx="21">
                  <c:v>10</c:v>
                </c:pt>
                <c:pt idx="22">
                  <c:v>1</c:v>
                </c:pt>
                <c:pt idx="23">
                  <c:v>3</c:v>
                </c:pt>
                <c:pt idx="24">
                  <c:v>0</c:v>
                </c:pt>
                <c:pt idx="25">
                  <c:v>0</c:v>
                </c:pt>
                <c:pt idx="26">
                  <c:v>10.900000000000002</c:v>
                </c:pt>
                <c:pt idx="27">
                  <c:v>0</c:v>
                </c:pt>
                <c:pt idx="28">
                  <c:v>0</c:v>
                </c:pt>
                <c:pt idx="29">
                  <c:v>0</c:v>
                </c:pt>
                <c:pt idx="30">
                  <c:v>0</c:v>
                </c:pt>
                <c:pt idx="31">
                  <c:v>2</c:v>
                </c:pt>
              </c:numCache>
            </c:numRef>
          </c:val>
          <c:extLst>
            <c:ext xmlns:c16="http://schemas.microsoft.com/office/drawing/2014/chart" uri="{C3380CC4-5D6E-409C-BE32-E72D297353CC}">
              <c16:uniqueId val="{00000000-C899-4862-879C-9252ADC24991}"/>
            </c:ext>
          </c:extLst>
        </c:ser>
        <c:dLbls>
          <c:showLegendKey val="0"/>
          <c:showVal val="0"/>
          <c:showCatName val="0"/>
          <c:showSerName val="0"/>
          <c:showPercent val="0"/>
          <c:showBubbleSize val="0"/>
        </c:dLbls>
        <c:gapWidth val="219"/>
        <c:overlap val="-27"/>
        <c:axId val="112990016"/>
        <c:axId val="112976288"/>
      </c:barChart>
      <c:catAx>
        <c:axId val="112990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976288"/>
        <c:crosses val="autoZero"/>
        <c:auto val="1"/>
        <c:lblAlgn val="ctr"/>
        <c:lblOffset val="100"/>
        <c:noMultiLvlLbl val="0"/>
      </c:catAx>
      <c:valAx>
        <c:axId val="112976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9900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1"/>
            <a:ext cx="2921582" cy="493634"/>
          </a:xfrm>
          <a:prstGeom prst="rect">
            <a:avLst/>
          </a:prstGeom>
        </p:spPr>
        <p:txBody>
          <a:bodyPr vert="horz" lIns="90813" tIns="45407" rIns="90813" bIns="45407"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8972" y="1"/>
            <a:ext cx="2921582" cy="493634"/>
          </a:xfrm>
          <a:prstGeom prst="rect">
            <a:avLst/>
          </a:prstGeom>
        </p:spPr>
        <p:txBody>
          <a:bodyPr vert="horz" lIns="90813" tIns="45407" rIns="90813" bIns="45407" rtlCol="0"/>
          <a:lstStyle>
            <a:lvl1pPr algn="r">
              <a:defRPr sz="1200"/>
            </a:lvl1pPr>
          </a:lstStyle>
          <a:p>
            <a:fld id="{AF9C2696-C907-6948-BD73-824E2CB18D72}" type="datetimeFigureOut">
              <a:rPr kumimoji="1" lang="ja-JP" altLang="en-US" smtClean="0"/>
              <a:t>2026/1/16</a:t>
            </a:fld>
            <a:endParaRPr kumimoji="1" lang="ja-JP" altLang="en-US"/>
          </a:p>
        </p:txBody>
      </p:sp>
      <p:sp>
        <p:nvSpPr>
          <p:cNvPr id="4" name="フッター プレースホルダー 3"/>
          <p:cNvSpPr>
            <a:spLocks noGrp="1"/>
          </p:cNvSpPr>
          <p:nvPr>
            <p:ph type="ftr" sz="quarter" idx="2"/>
          </p:nvPr>
        </p:nvSpPr>
        <p:spPr>
          <a:xfrm>
            <a:off x="2" y="9377317"/>
            <a:ext cx="2921582" cy="493634"/>
          </a:xfrm>
          <a:prstGeom prst="rect">
            <a:avLst/>
          </a:prstGeom>
        </p:spPr>
        <p:txBody>
          <a:bodyPr vert="horz" lIns="90813" tIns="45407" rIns="90813" bIns="45407"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8972" y="9377317"/>
            <a:ext cx="2921582" cy="493634"/>
          </a:xfrm>
          <a:prstGeom prst="rect">
            <a:avLst/>
          </a:prstGeom>
        </p:spPr>
        <p:txBody>
          <a:bodyPr vert="horz" lIns="90813" tIns="45407" rIns="90813" bIns="45407" rtlCol="0" anchor="b"/>
          <a:lstStyle>
            <a:lvl1pPr algn="r">
              <a:defRPr sz="1200"/>
            </a:lvl1pPr>
          </a:lstStyle>
          <a:p>
            <a:fld id="{53766504-C39F-2F4A-A070-5E6B687FB065}"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1"/>
            <a:ext cx="2921582" cy="493634"/>
          </a:xfrm>
          <a:prstGeom prst="rect">
            <a:avLst/>
          </a:prstGeom>
        </p:spPr>
        <p:txBody>
          <a:bodyPr vert="horz" lIns="90813" tIns="45407" rIns="90813" bIns="45407"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8972" y="1"/>
            <a:ext cx="2921582" cy="493634"/>
          </a:xfrm>
          <a:prstGeom prst="rect">
            <a:avLst/>
          </a:prstGeom>
        </p:spPr>
        <p:txBody>
          <a:bodyPr vert="horz" lIns="90813" tIns="45407" rIns="90813" bIns="45407" rtlCol="0"/>
          <a:lstStyle>
            <a:lvl1pPr algn="r">
              <a:defRPr sz="1200"/>
            </a:lvl1pPr>
          </a:lstStyle>
          <a:p>
            <a:fld id="{20E2E5DB-49C6-7B4E-BA05-F353AC5A96E1}" type="datetimeFigureOut">
              <a:rPr kumimoji="1" lang="ja-JP" altLang="en-US" smtClean="0"/>
              <a:t>2026/1/16</a:t>
            </a:fld>
            <a:endParaRPr kumimoji="1" lang="ja-JP" altLang="en-US"/>
          </a:p>
        </p:txBody>
      </p:sp>
      <p:sp>
        <p:nvSpPr>
          <p:cNvPr id="4" name="スライド イメージ プレースホルダー 3"/>
          <p:cNvSpPr>
            <a:spLocks noGrp="1" noRot="1" noChangeAspect="1"/>
          </p:cNvSpPr>
          <p:nvPr>
            <p:ph type="sldImg" idx="2"/>
          </p:nvPr>
        </p:nvSpPr>
        <p:spPr>
          <a:xfrm>
            <a:off x="82550" y="741363"/>
            <a:ext cx="6577013" cy="3700462"/>
          </a:xfrm>
          <a:prstGeom prst="rect">
            <a:avLst/>
          </a:prstGeom>
          <a:noFill/>
          <a:ln w="12700">
            <a:solidFill>
              <a:prstClr val="black"/>
            </a:solidFill>
          </a:ln>
        </p:spPr>
        <p:txBody>
          <a:bodyPr vert="horz" lIns="90813" tIns="45407" rIns="90813" bIns="45407" rtlCol="0" anchor="ctr"/>
          <a:lstStyle/>
          <a:p>
            <a:endParaRPr lang="ja-JP" altLang="en-US"/>
          </a:p>
        </p:txBody>
      </p:sp>
      <p:sp>
        <p:nvSpPr>
          <p:cNvPr id="5" name="ノート プレースホルダー 4"/>
          <p:cNvSpPr>
            <a:spLocks noGrp="1"/>
          </p:cNvSpPr>
          <p:nvPr>
            <p:ph type="body" sz="quarter" idx="3"/>
          </p:nvPr>
        </p:nvSpPr>
        <p:spPr>
          <a:xfrm>
            <a:off x="674212" y="4689516"/>
            <a:ext cx="5393690" cy="4442699"/>
          </a:xfrm>
          <a:prstGeom prst="rect">
            <a:avLst/>
          </a:prstGeom>
        </p:spPr>
        <p:txBody>
          <a:bodyPr vert="horz" lIns="90813" tIns="45407" rIns="90813" bIns="45407"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2" y="9377317"/>
            <a:ext cx="2921582" cy="493634"/>
          </a:xfrm>
          <a:prstGeom prst="rect">
            <a:avLst/>
          </a:prstGeom>
        </p:spPr>
        <p:txBody>
          <a:bodyPr vert="horz" lIns="90813" tIns="45407" rIns="90813" bIns="45407"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8972" y="9377317"/>
            <a:ext cx="2921582" cy="493634"/>
          </a:xfrm>
          <a:prstGeom prst="rect">
            <a:avLst/>
          </a:prstGeom>
        </p:spPr>
        <p:txBody>
          <a:bodyPr vert="horz" lIns="90813" tIns="45407" rIns="90813" bIns="45407" rtlCol="0" anchor="b"/>
          <a:lstStyle>
            <a:lvl1pPr algn="r">
              <a:defRPr sz="1200"/>
            </a:lvl1pPr>
          </a:lstStyle>
          <a:p>
            <a:fld id="{BA167B2C-D8A0-9442-92B1-D4EBC7AFF139}"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 イメージ プレースホルダー 1"/>
          <p:cNvSpPr>
            <a:spLocks noGrp="1" noRot="1" noChangeAspect="1" noTextEdit="1"/>
          </p:cNvSpPr>
          <p:nvPr>
            <p:ph type="sldImg"/>
          </p:nvPr>
        </p:nvSpPr>
        <p:spPr>
          <a:xfrm>
            <a:off x="92075" y="744538"/>
            <a:ext cx="6615113" cy="3722687"/>
          </a:xfrm>
        </p:spPr>
      </p:sp>
      <p:sp>
        <p:nvSpPr>
          <p:cNvPr id="7171" name="ノート プレースホルダー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dirty="0">
              <a:latin typeface="Times New Roman" panose="02020603050405020304" charset="0"/>
            </a:endParaRPr>
          </a:p>
        </p:txBody>
      </p:sp>
      <p:sp>
        <p:nvSpPr>
          <p:cNvPr id="7172" name="スライド番号プレースホルダー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400">
                <a:solidFill>
                  <a:schemeClr val="tx1"/>
                </a:solidFill>
                <a:latin typeface="HGS創英角ｺﾞｼｯｸUB" panose="020B0900000000000000" pitchFamily="50" charset="-128"/>
                <a:ea typeface="HGS創英角ｺﾞｼｯｸUB" panose="020B0900000000000000" pitchFamily="50" charset="-128"/>
              </a:defRPr>
            </a:lvl1pPr>
            <a:lvl2pPr marL="753745" indent="-290195">
              <a:defRPr kumimoji="1" sz="1400">
                <a:solidFill>
                  <a:schemeClr val="tx1"/>
                </a:solidFill>
                <a:latin typeface="HGS創英角ｺﾞｼｯｸUB" panose="020B0900000000000000" pitchFamily="50" charset="-128"/>
                <a:ea typeface="HGS創英角ｺﾞｼｯｸUB" panose="020B0900000000000000" pitchFamily="50" charset="-128"/>
              </a:defRPr>
            </a:lvl2pPr>
            <a:lvl3pPr marL="1159510" indent="-231775">
              <a:defRPr kumimoji="1" sz="1400">
                <a:solidFill>
                  <a:schemeClr val="tx1"/>
                </a:solidFill>
                <a:latin typeface="HGS創英角ｺﾞｼｯｸUB" panose="020B0900000000000000" pitchFamily="50" charset="-128"/>
                <a:ea typeface="HGS創英角ｺﾞｼｯｸUB" panose="020B0900000000000000" pitchFamily="50" charset="-128"/>
              </a:defRPr>
            </a:lvl3pPr>
            <a:lvl4pPr marL="1623695" indent="-231775">
              <a:defRPr kumimoji="1" sz="1400">
                <a:solidFill>
                  <a:schemeClr val="tx1"/>
                </a:solidFill>
                <a:latin typeface="HGS創英角ｺﾞｼｯｸUB" panose="020B0900000000000000" pitchFamily="50" charset="-128"/>
                <a:ea typeface="HGS創英角ｺﾞｼｯｸUB" panose="020B0900000000000000" pitchFamily="50" charset="-128"/>
              </a:defRPr>
            </a:lvl4pPr>
            <a:lvl5pPr marL="2087245" indent="-231775">
              <a:defRPr kumimoji="1" sz="1400">
                <a:solidFill>
                  <a:schemeClr val="tx1"/>
                </a:solidFill>
                <a:latin typeface="HGS創英角ｺﾞｼｯｸUB" panose="020B0900000000000000" pitchFamily="50" charset="-128"/>
                <a:ea typeface="HGS創英角ｺﾞｼｯｸUB" panose="020B0900000000000000" pitchFamily="50" charset="-128"/>
              </a:defRPr>
            </a:lvl5pPr>
            <a:lvl6pPr marL="2551430" indent="-231775" eaLnBrk="0" fontAlgn="base" hangingPunct="0">
              <a:spcBef>
                <a:spcPct val="0"/>
              </a:spcBef>
              <a:spcAft>
                <a:spcPct val="0"/>
              </a:spcAft>
              <a:defRPr kumimoji="1" sz="1400">
                <a:solidFill>
                  <a:schemeClr val="tx1"/>
                </a:solidFill>
                <a:latin typeface="HGS創英角ｺﾞｼｯｸUB" panose="020B0900000000000000" pitchFamily="50" charset="-128"/>
                <a:ea typeface="HGS創英角ｺﾞｼｯｸUB" panose="020B0900000000000000" pitchFamily="50" charset="-128"/>
              </a:defRPr>
            </a:lvl6pPr>
            <a:lvl7pPr marL="3015615" indent="-231775" eaLnBrk="0" fontAlgn="base" hangingPunct="0">
              <a:spcBef>
                <a:spcPct val="0"/>
              </a:spcBef>
              <a:spcAft>
                <a:spcPct val="0"/>
              </a:spcAft>
              <a:defRPr kumimoji="1" sz="1400">
                <a:solidFill>
                  <a:schemeClr val="tx1"/>
                </a:solidFill>
                <a:latin typeface="HGS創英角ｺﾞｼｯｸUB" panose="020B0900000000000000" pitchFamily="50" charset="-128"/>
                <a:ea typeface="HGS創英角ｺﾞｼｯｸUB" panose="020B0900000000000000" pitchFamily="50" charset="-128"/>
              </a:defRPr>
            </a:lvl7pPr>
            <a:lvl8pPr marL="3479165" indent="-231775" eaLnBrk="0" fontAlgn="base" hangingPunct="0">
              <a:spcBef>
                <a:spcPct val="0"/>
              </a:spcBef>
              <a:spcAft>
                <a:spcPct val="0"/>
              </a:spcAft>
              <a:defRPr kumimoji="1" sz="1400">
                <a:solidFill>
                  <a:schemeClr val="tx1"/>
                </a:solidFill>
                <a:latin typeface="HGS創英角ｺﾞｼｯｸUB" panose="020B0900000000000000" pitchFamily="50" charset="-128"/>
                <a:ea typeface="HGS創英角ｺﾞｼｯｸUB" panose="020B0900000000000000" pitchFamily="50" charset="-128"/>
              </a:defRPr>
            </a:lvl8pPr>
            <a:lvl9pPr marL="3943350" indent="-231775" eaLnBrk="0" fontAlgn="base" hangingPunct="0">
              <a:spcBef>
                <a:spcPct val="0"/>
              </a:spcBef>
              <a:spcAft>
                <a:spcPct val="0"/>
              </a:spcAft>
              <a:defRPr kumimoji="1" sz="1400">
                <a:solidFill>
                  <a:schemeClr val="tx1"/>
                </a:solidFill>
                <a:latin typeface="HGS創英角ｺﾞｼｯｸUB" panose="020B0900000000000000" pitchFamily="50" charset="-128"/>
                <a:ea typeface="HGS創英角ｺﾞｼｯｸUB" panose="020B0900000000000000" pitchFamily="50" charset="-128"/>
              </a:defRPr>
            </a:lvl9pPr>
          </a:lstStyle>
          <a:p>
            <a:fld id="{2C05C7DE-A5F5-4AF8-8060-DBD5FBF51483}" type="slidenum">
              <a:rPr lang="en-US" altLang="ja-JP" sz="1200">
                <a:latin typeface="Times New Roman" panose="02020603050405020304" charset="0"/>
                <a:ea typeface="MS PGothic" panose="020B0600070205080204" charset="-128"/>
              </a:rPr>
              <a:t>1</a:t>
            </a:fld>
            <a:endParaRPr lang="en-US" altLang="ja-JP" sz="1200" dirty="0">
              <a:latin typeface="Times New Roman" panose="02020603050405020304" charset="0"/>
              <a:ea typeface="MS PGothic" panose="020B060007020508020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BA167B2C-D8A0-9442-92B1-D4EBC7AFF139}" type="slidenum">
              <a:rPr kumimoji="1" lang="ja-JP" altLang="en-US" smtClean="0"/>
              <a:t>4</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BA167B2C-D8A0-9442-92B1-D4EBC7AFF139}" type="slidenum">
              <a:rPr kumimoji="1" lang="ja-JP" altLang="en-US" smtClean="0"/>
              <a:t>5</a:t>
            </a:fld>
            <a:endParaRPr kumimoji="1" lang="ja-JP" altLang="en-US"/>
          </a:p>
        </p:txBody>
      </p:sp>
    </p:spTree>
    <p:extLst>
      <p:ext uri="{BB962C8B-B14F-4D97-AF65-F5344CB8AC3E}">
        <p14:creationId xmlns:p14="http://schemas.microsoft.com/office/powerpoint/2010/main" val="1332411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BA167B2C-D8A0-9442-92B1-D4EBC7AFF139}" type="slidenum">
              <a:rPr kumimoji="1" lang="ja-JP" altLang="en-US" smtClean="0"/>
              <a:t>6</a:t>
            </a:fld>
            <a:endParaRPr kumimoji="1" lang="ja-JP" altLang="en-US"/>
          </a:p>
        </p:txBody>
      </p:sp>
    </p:spTree>
    <p:extLst>
      <p:ext uri="{BB962C8B-B14F-4D97-AF65-F5344CB8AC3E}">
        <p14:creationId xmlns:p14="http://schemas.microsoft.com/office/powerpoint/2010/main" val="11874564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BA167B2C-D8A0-9442-92B1-D4EBC7AFF139}" type="slidenum">
              <a:rPr kumimoji="1" lang="ja-JP" altLang="en-US" smtClean="0"/>
              <a:t>7</a:t>
            </a:fld>
            <a:endParaRPr kumimoji="1" lang="ja-JP" altLang="en-US"/>
          </a:p>
        </p:txBody>
      </p:sp>
    </p:spTree>
    <p:extLst>
      <p:ext uri="{BB962C8B-B14F-4D97-AF65-F5344CB8AC3E}">
        <p14:creationId xmlns:p14="http://schemas.microsoft.com/office/powerpoint/2010/main" val="1362630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BA167B2C-D8A0-9442-92B1-D4EBC7AFF139}" type="slidenum">
              <a:rPr kumimoji="1" lang="ja-JP" altLang="en-US" smtClean="0"/>
              <a:t>8</a:t>
            </a:fld>
            <a:endParaRPr kumimoji="1" lang="ja-JP" altLang="en-US"/>
          </a:p>
        </p:txBody>
      </p:sp>
    </p:spTree>
    <p:extLst>
      <p:ext uri="{BB962C8B-B14F-4D97-AF65-F5344CB8AC3E}">
        <p14:creationId xmlns:p14="http://schemas.microsoft.com/office/powerpoint/2010/main" val="152162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BA167B2C-D8A0-9442-92B1-D4EBC7AFF139}" type="slidenum">
              <a:rPr kumimoji="1" lang="ja-JP" altLang="en-US" smtClean="0"/>
              <a:t>9</a:t>
            </a:fld>
            <a:endParaRPr kumimoji="1" lang="ja-JP" altLang="en-US"/>
          </a:p>
        </p:txBody>
      </p:sp>
    </p:spTree>
    <p:extLst>
      <p:ext uri="{BB962C8B-B14F-4D97-AF65-F5344CB8AC3E}">
        <p14:creationId xmlns:p14="http://schemas.microsoft.com/office/powerpoint/2010/main" val="4004505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BA167B2C-D8A0-9442-92B1-D4EBC7AFF139}" type="slidenum">
              <a:rPr kumimoji="1" lang="ja-JP" altLang="en-US" smtClean="0"/>
              <a:t>10</a:t>
            </a:fld>
            <a:endParaRPr kumimoji="1" lang="ja-JP" altLang="en-US"/>
          </a:p>
        </p:txBody>
      </p:sp>
    </p:spTree>
    <p:extLst>
      <p:ext uri="{BB962C8B-B14F-4D97-AF65-F5344CB8AC3E}">
        <p14:creationId xmlns:p14="http://schemas.microsoft.com/office/powerpoint/2010/main" val="2062976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BA167B2C-D8A0-9442-92B1-D4EBC7AFF139}" type="slidenum">
              <a:rPr kumimoji="1" lang="ja-JP" altLang="en-US" smtClean="0"/>
              <a:t>11</a:t>
            </a:fld>
            <a:endParaRPr kumimoji="1" lang="ja-JP" altLang="en-US"/>
          </a:p>
        </p:txBody>
      </p:sp>
    </p:spTree>
    <p:extLst>
      <p:ext uri="{BB962C8B-B14F-4D97-AF65-F5344CB8AC3E}">
        <p14:creationId xmlns:p14="http://schemas.microsoft.com/office/powerpoint/2010/main" val="2782603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BA167B2C-D8A0-9442-92B1-D4EBC7AFF139}" type="slidenum">
              <a:rPr kumimoji="1" lang="ja-JP" altLang="en-US" smtClean="0"/>
              <a:t>12</a:t>
            </a:fld>
            <a:endParaRPr kumimoji="1" lang="ja-JP" altLang="en-US"/>
          </a:p>
        </p:txBody>
      </p:sp>
    </p:spTree>
    <p:extLst>
      <p:ext uri="{BB962C8B-B14F-4D97-AF65-F5344CB8AC3E}">
        <p14:creationId xmlns:p14="http://schemas.microsoft.com/office/powerpoint/2010/main" val="7864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2550" y="741363"/>
            <a:ext cx="6577013" cy="3700462"/>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B231615C-BA21-A344-B4F8-6650B8FE4BDA}" type="slidenum">
              <a:rPr lang="en-US" altLang="ja-JP" smtClean="0"/>
              <a:t>14</a:t>
            </a:fld>
            <a:endParaRPr lang="en-US" altLang="ja-JP"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914400" y="2130426"/>
            <a:ext cx="103632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6" name="スライド番号プレースホルダー 5"/>
          <p:cNvSpPr>
            <a:spLocks noGrp="1"/>
          </p:cNvSpPr>
          <p:nvPr>
            <p:ph type="sldNum" sz="quarter" idx="12"/>
          </p:nvPr>
        </p:nvSpPr>
        <p:spPr/>
        <p:txBody>
          <a:bodyPr/>
          <a:lstStyle/>
          <a:p>
            <a:fld id="{0A2F15E4-2CDD-6047-9F8A-F392A4BC9A1F}"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fld id="{0A2F15E4-2CDD-6047-9F8A-F392A4BC9A1F}"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6" name="スライド番号プレースホルダー 5"/>
          <p:cNvSpPr>
            <a:spLocks noGrp="1"/>
          </p:cNvSpPr>
          <p:nvPr>
            <p:ph type="sldNum" sz="quarter" idx="12"/>
          </p:nvPr>
        </p:nvSpPr>
        <p:spPr/>
        <p:txBody>
          <a:bodyPr/>
          <a:lstStyle/>
          <a:p>
            <a:fld id="{0A2F15E4-2CDD-6047-9F8A-F392A4BC9A1F}"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スライド番号プレースホルダー 6"/>
          <p:cNvSpPr>
            <a:spLocks noGrp="1"/>
          </p:cNvSpPr>
          <p:nvPr>
            <p:ph type="sldNum" sz="quarter" idx="12"/>
          </p:nvPr>
        </p:nvSpPr>
        <p:spPr/>
        <p:txBody>
          <a:bodyPr/>
          <a:lstStyle/>
          <a:p>
            <a:fld id="{0A2F15E4-2CDD-6047-9F8A-F392A4BC9A1F}"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スライド番号プレースホルダー 8"/>
          <p:cNvSpPr>
            <a:spLocks noGrp="1"/>
          </p:cNvSpPr>
          <p:nvPr>
            <p:ph type="sldNum" sz="quarter" idx="12"/>
          </p:nvPr>
        </p:nvSpPr>
        <p:spPr/>
        <p:txBody>
          <a:bodyPr/>
          <a:lstStyle/>
          <a:p>
            <a:fld id="{0A2F15E4-2CDD-6047-9F8A-F392A4BC9A1F}"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5" name="スライド番号プレースホルダー 4"/>
          <p:cNvSpPr>
            <a:spLocks noGrp="1"/>
          </p:cNvSpPr>
          <p:nvPr>
            <p:ph type="sldNum" sz="quarter" idx="12"/>
          </p:nvPr>
        </p:nvSpPr>
        <p:spPr/>
        <p:txBody>
          <a:bodyPr/>
          <a:lstStyle/>
          <a:p>
            <a:fld id="{0A2F15E4-2CDD-6047-9F8A-F392A4BC9A1F}"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7" name="スライド番号プレースホルダー 6"/>
          <p:cNvSpPr>
            <a:spLocks noGrp="1"/>
          </p:cNvSpPr>
          <p:nvPr>
            <p:ph type="sldNum" sz="quarter" idx="12"/>
          </p:nvPr>
        </p:nvSpPr>
        <p:spPr/>
        <p:txBody>
          <a:bodyPr/>
          <a:lstStyle/>
          <a:p>
            <a:fld id="{0A2F15E4-2CDD-6047-9F8A-F392A4BC9A1F}"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7" name="スライド番号プレースホルダー 6"/>
          <p:cNvSpPr>
            <a:spLocks noGrp="1"/>
          </p:cNvSpPr>
          <p:nvPr>
            <p:ph type="sldNum" sz="quarter" idx="12"/>
          </p:nvPr>
        </p:nvSpPr>
        <p:spPr/>
        <p:txBody>
          <a:bodyPr/>
          <a:lstStyle/>
          <a:p>
            <a:fld id="{0A2F15E4-2CDD-6047-9F8A-F392A4BC9A1F}" type="slidenum">
              <a:rPr kumimoji="1" lang="ja-JP" altLang="en-US" smtClean="0"/>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fld id="{0A2F15E4-2CDD-6047-9F8A-F392A4BC9A1F}" type="slidenum">
              <a:rPr kumimoji="1" lang="ja-JP" altLang="en-US" smtClean="0"/>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839200" y="274639"/>
            <a:ext cx="27432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609600" y="274639"/>
            <a:ext cx="80264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fld id="{0A2F15E4-2CDD-6047-9F8A-F392A4BC9A1F}" type="slidenum">
              <a:rPr kumimoji="1" lang="ja-JP" altLang="en-US" smtClean="0"/>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9"/>
          <p:cNvPicPr>
            <a:picLocks noChangeAspect="1" noChangeArrowheads="1"/>
          </p:cNvPicPr>
          <p:nvPr/>
        </p:nvPicPr>
        <p:blipFill>
          <a:blip r:embed="rId13" cstate="email">
            <a:extLst>
              <a:ext uri="{28A0092B-C50C-407E-A947-70E740481C1C}">
                <a14:useLocalDpi xmlns:a14="http://schemas.microsoft.com/office/drawing/2010/main" val="0"/>
              </a:ext>
            </a:extLst>
          </a:blip>
          <a:srcRect/>
          <a:stretch>
            <a:fillRect/>
          </a:stretch>
        </p:blipFill>
        <p:spPr bwMode="auto">
          <a:xfrm>
            <a:off x="146053" y="6524103"/>
            <a:ext cx="2078987" cy="26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プレースホルダー 1"/>
          <p:cNvSpPr>
            <a:spLocks noGrp="1"/>
          </p:cNvSpPr>
          <p:nvPr>
            <p:ph type="title"/>
          </p:nvPr>
        </p:nvSpPr>
        <p:spPr>
          <a:xfrm>
            <a:off x="318805" y="347535"/>
            <a:ext cx="11569571" cy="456540"/>
          </a:xfrm>
          <a:prstGeom prst="rect">
            <a:avLst/>
          </a:prstGeom>
        </p:spPr>
        <p:txBody>
          <a:bodyPr vert="horz" lIns="91440" tIns="45720" rIns="91440" bIns="45720" rtlCol="0" anchor="ctr">
            <a:no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609600" y="1038225"/>
            <a:ext cx="10972800" cy="5143500"/>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4"/>
          </p:nvPr>
        </p:nvSpPr>
        <p:spPr>
          <a:xfrm>
            <a:off x="9082287" y="6453137"/>
            <a:ext cx="2844800" cy="365125"/>
          </a:xfrm>
          <a:prstGeom prst="rect">
            <a:avLst/>
          </a:prstGeom>
        </p:spPr>
        <p:txBody>
          <a:bodyPr vert="horz" lIns="91440" tIns="45720" rIns="91440" bIns="45720" rtlCol="0" anchor="ctr"/>
          <a:lstStyle>
            <a:lvl1pPr algn="r">
              <a:defRPr sz="1200">
                <a:solidFill>
                  <a:schemeClr val="tx1">
                    <a:lumMod val="65000"/>
                    <a:lumOff val="35000"/>
                  </a:schemeClr>
                </a:solidFill>
                <a:latin typeface="ヒラギノ角ゴ Pro W3" pitchFamily="34" charset="-128"/>
                <a:ea typeface="ヒラギノ角ゴ Pro W3" pitchFamily="34" charset="-128"/>
              </a:defRPr>
            </a:lvl1pPr>
          </a:lstStyle>
          <a:p>
            <a:fld id="{0A2F15E4-2CDD-6047-9F8A-F392A4BC9A1F}" type="slidenum">
              <a:rPr lang="ja-JP" altLang="en-US" smtClean="0"/>
              <a:t>‹#›</a:t>
            </a:fld>
            <a:endParaRPr lang="ja-JP" altLang="en-US"/>
          </a:p>
        </p:txBody>
      </p:sp>
      <p:sp>
        <p:nvSpPr>
          <p:cNvPr id="14" name="Rectangle 13"/>
          <p:cNvSpPr>
            <a:spLocks noChangeArrowheads="1"/>
          </p:cNvSpPr>
          <p:nvPr/>
        </p:nvSpPr>
        <p:spPr bwMode="auto">
          <a:xfrm>
            <a:off x="0" y="1"/>
            <a:ext cx="12192000" cy="150813"/>
          </a:xfrm>
          <a:prstGeom prst="rect">
            <a:avLst/>
          </a:prstGeom>
          <a:solidFill>
            <a:srgbClr val="8EBE33"/>
          </a:solidFill>
          <a:ln>
            <a:noFill/>
          </a:ln>
        </p:spPr>
        <p:txBody>
          <a:bodyPr wrap="none" anchor="ctr"/>
          <a:lstStyle/>
          <a:p>
            <a:endParaRPr lang="ja-JP" altLang="en-US" sz="1800"/>
          </a:p>
        </p:txBody>
      </p:sp>
      <p:sp>
        <p:nvSpPr>
          <p:cNvPr id="15" name="Rectangle 14"/>
          <p:cNvSpPr>
            <a:spLocks noChangeArrowheads="1"/>
          </p:cNvSpPr>
          <p:nvPr/>
        </p:nvSpPr>
        <p:spPr bwMode="auto">
          <a:xfrm>
            <a:off x="0" y="184151"/>
            <a:ext cx="12192000" cy="42863"/>
          </a:xfrm>
          <a:prstGeom prst="rect">
            <a:avLst/>
          </a:prstGeom>
          <a:solidFill>
            <a:srgbClr val="8EBE33"/>
          </a:solidFill>
          <a:ln>
            <a:noFill/>
          </a:ln>
        </p:spPr>
        <p:txBody>
          <a:bodyPr wrap="none" anchor="ctr"/>
          <a:lstStyle/>
          <a:p>
            <a:endParaRPr lang="ja-JP" altLang="en-US" sz="1800"/>
          </a:p>
        </p:txBody>
      </p:sp>
      <p:sp>
        <p:nvSpPr>
          <p:cNvPr id="4" name="正方形/長方形 3"/>
          <p:cNvSpPr/>
          <p:nvPr/>
        </p:nvSpPr>
        <p:spPr>
          <a:xfrm>
            <a:off x="3067065" y="6535524"/>
            <a:ext cx="3219435" cy="184666"/>
          </a:xfrm>
          <a:prstGeom prst="rect">
            <a:avLst/>
          </a:prstGeom>
          <a:ln>
            <a:solidFill>
              <a:srgbClr val="FF6600"/>
            </a:solidFill>
          </a:ln>
        </p:spPr>
        <p:txBody>
          <a:bodyPr wrap="square" anchor="ctr" anchorCtr="0">
            <a:spAutoFit/>
          </a:bodyPr>
          <a:lstStyle/>
          <a:p>
            <a:pPr marL="0" marR="0" indent="0" algn="ctr" defTabSz="457200" rtl="0" eaLnBrk="1" fontAlgn="auto" latinLnBrk="0" hangingPunct="1">
              <a:lnSpc>
                <a:spcPct val="100000"/>
              </a:lnSpc>
              <a:spcBef>
                <a:spcPts val="0"/>
              </a:spcBef>
              <a:spcAft>
                <a:spcPts val="0"/>
              </a:spcAft>
              <a:buClrTx/>
              <a:buSzTx/>
              <a:buFontTx/>
              <a:buNone/>
              <a:defRPr/>
            </a:pPr>
            <a:r>
              <a:rPr lang="en-US" altLang="ja-JP" sz="600" u="none" dirty="0">
                <a:solidFill>
                  <a:srgbClr val="FF6600"/>
                </a:solidFill>
                <a:latin typeface="Meiryo" panose="020B0604030504040204" pitchFamily="50" charset="-128"/>
                <a:ea typeface="Meiryo" panose="020B0604030504040204" pitchFamily="50" charset="-128"/>
                <a:cs typeface="MS PGothic" panose="020B0600070205080204" charset="-128"/>
              </a:rPr>
              <a:t>Confidential.</a:t>
            </a:r>
            <a:r>
              <a:rPr lang="ja-JP" altLang="en-US" sz="600" u="none" dirty="0">
                <a:solidFill>
                  <a:srgbClr val="FF6600"/>
                </a:solidFill>
                <a:latin typeface="Meiryo" panose="020B0604030504040204" pitchFamily="50" charset="-128"/>
                <a:ea typeface="Meiryo" panose="020B0604030504040204" pitchFamily="50" charset="-128"/>
                <a:cs typeface="MS PGothic" panose="020B0600070205080204" charset="-128"/>
              </a:rPr>
              <a:t> </a:t>
            </a:r>
            <a:r>
              <a:rPr lang="en-US" altLang="ja-JP" sz="600" u="none" dirty="0">
                <a:solidFill>
                  <a:srgbClr val="FF6600"/>
                </a:solidFill>
                <a:latin typeface="Meiryo" panose="020B0604030504040204" pitchFamily="50" charset="-128"/>
                <a:ea typeface="Meiryo" panose="020B0604030504040204" pitchFamily="50" charset="-128"/>
                <a:cs typeface="MS PGothic" panose="020B0600070205080204" charset="-128"/>
              </a:rPr>
              <a:t>2023</a:t>
            </a:r>
            <a:r>
              <a:rPr lang="ja-JP" altLang="en-US" sz="600" u="none" baseline="0" dirty="0">
                <a:solidFill>
                  <a:srgbClr val="FF6600"/>
                </a:solidFill>
                <a:latin typeface="Meiryo" panose="020B0604030504040204" pitchFamily="50" charset="-128"/>
                <a:ea typeface="Meiryo" panose="020B0604030504040204" pitchFamily="50" charset="-128"/>
                <a:cs typeface="MS PGothic" panose="020B0600070205080204" charset="-128"/>
              </a:rPr>
              <a:t> </a:t>
            </a:r>
            <a:r>
              <a:rPr lang="en-US" altLang="ja-JP" sz="600" u="none" dirty="0">
                <a:solidFill>
                  <a:srgbClr val="FF6600"/>
                </a:solidFill>
                <a:latin typeface="Meiryo" panose="020B0604030504040204" pitchFamily="50" charset="-128"/>
                <a:ea typeface="Meiryo" panose="020B0604030504040204" pitchFamily="50" charset="-128"/>
                <a:cs typeface="MS PGothic" panose="020B0600070205080204" charset="-128"/>
              </a:rPr>
              <a:t>BRYCEN Co.,</a:t>
            </a:r>
            <a:r>
              <a:rPr lang="ja-JP" altLang="en-US" sz="600" u="none" dirty="0">
                <a:solidFill>
                  <a:srgbClr val="FF6600"/>
                </a:solidFill>
                <a:latin typeface="Meiryo" panose="020B0604030504040204" pitchFamily="50" charset="-128"/>
                <a:ea typeface="Meiryo" panose="020B0604030504040204" pitchFamily="50" charset="-128"/>
                <a:cs typeface="MS PGothic" panose="020B0600070205080204" charset="-128"/>
              </a:rPr>
              <a:t> </a:t>
            </a:r>
            <a:r>
              <a:rPr lang="en-US" altLang="ja-JP" sz="600" u="none" dirty="0">
                <a:solidFill>
                  <a:srgbClr val="FF6600"/>
                </a:solidFill>
                <a:latin typeface="Meiryo" panose="020B0604030504040204" pitchFamily="50" charset="-128"/>
                <a:ea typeface="Meiryo" panose="020B0604030504040204" pitchFamily="50" charset="-128"/>
                <a:cs typeface="MS PGothic" panose="020B0600070205080204" charset="-128"/>
              </a:rPr>
              <a:t>Ltd.  All Rights Reserved. </a:t>
            </a:r>
          </a:p>
        </p:txBody>
      </p:sp>
      <p:cxnSp>
        <p:nvCxnSpPr>
          <p:cNvPr id="8" name="直線コネクタ 7"/>
          <p:cNvCxnSpPr/>
          <p:nvPr/>
        </p:nvCxnSpPr>
        <p:spPr>
          <a:xfrm>
            <a:off x="0" y="6381750"/>
            <a:ext cx="12192000" cy="0"/>
          </a:xfrm>
          <a:prstGeom prst="line">
            <a:avLst/>
          </a:prstGeom>
          <a:ln w="19050">
            <a:solidFill>
              <a:srgbClr val="8EBE33"/>
            </a:solidFill>
            <a:tailEnd type="none"/>
          </a:ln>
          <a:effectLst/>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kumimoji="1" sz="2800" b="1" kern="1200">
          <a:solidFill>
            <a:schemeClr val="tx1">
              <a:lumMod val="65000"/>
              <a:lumOff val="35000"/>
            </a:schemeClr>
          </a:solidFill>
          <a:latin typeface="Meiryo" panose="020B0604030504040204" pitchFamily="50" charset="-128"/>
          <a:ea typeface="Meiryo" panose="020B0604030504040204" pitchFamily="50" charset="-128"/>
          <a:cs typeface="+mj-cs"/>
        </a:defRPr>
      </a:lvl1pPr>
    </p:titleStyle>
    <p:bodyStyle>
      <a:lvl1pPr marL="342900" indent="-342900" algn="l" defTabSz="457200" rtl="0" eaLnBrk="1" latinLnBrk="0" hangingPunct="1">
        <a:spcBef>
          <a:spcPct val="20000"/>
        </a:spcBef>
        <a:buFont typeface="Arial" panose="020B0604020202020204"/>
        <a:buChar char="•"/>
        <a:defRPr kumimoji="1" sz="3200" kern="1200">
          <a:solidFill>
            <a:schemeClr val="tx1">
              <a:lumMod val="65000"/>
              <a:lumOff val="35000"/>
            </a:schemeClr>
          </a:solidFill>
          <a:latin typeface="Meiryo" panose="020B0604030504040204" pitchFamily="50" charset="-128"/>
          <a:ea typeface="Meiryo" panose="020B0604030504040204" pitchFamily="50" charset="-128"/>
          <a:cs typeface="+mn-cs"/>
        </a:defRPr>
      </a:lvl1pPr>
      <a:lvl2pPr marL="742950" indent="-285750" algn="l" defTabSz="457200" rtl="0" eaLnBrk="1" latinLnBrk="0" hangingPunct="1">
        <a:spcBef>
          <a:spcPct val="20000"/>
        </a:spcBef>
        <a:buFont typeface="Arial" panose="020B0604020202020204"/>
        <a:buChar char="–"/>
        <a:defRPr kumimoji="1" sz="2800" kern="1200">
          <a:solidFill>
            <a:schemeClr val="tx1">
              <a:lumMod val="65000"/>
              <a:lumOff val="35000"/>
            </a:schemeClr>
          </a:solidFill>
          <a:latin typeface="Meiryo" panose="020B0604030504040204" pitchFamily="50" charset="-128"/>
          <a:ea typeface="Meiryo" panose="020B0604030504040204" pitchFamily="50" charset="-128"/>
          <a:cs typeface="+mn-cs"/>
        </a:defRPr>
      </a:lvl2pPr>
      <a:lvl3pPr marL="1143000" indent="-228600" algn="l" defTabSz="457200" rtl="0" eaLnBrk="1" latinLnBrk="0" hangingPunct="1">
        <a:spcBef>
          <a:spcPct val="20000"/>
        </a:spcBef>
        <a:buFont typeface="Arial" panose="020B0604020202020204"/>
        <a:buChar char="•"/>
        <a:defRPr kumimoji="1" sz="2400" kern="1200">
          <a:solidFill>
            <a:schemeClr val="tx1">
              <a:lumMod val="65000"/>
              <a:lumOff val="35000"/>
            </a:schemeClr>
          </a:solidFill>
          <a:latin typeface="Meiryo" panose="020B0604030504040204" pitchFamily="50" charset="-128"/>
          <a:ea typeface="Meiryo" panose="020B0604030504040204" pitchFamily="50" charset="-128"/>
          <a:cs typeface="+mn-cs"/>
        </a:defRPr>
      </a:lvl3pPr>
      <a:lvl4pPr marL="1600200" indent="-228600" algn="l" defTabSz="457200" rtl="0" eaLnBrk="1" latinLnBrk="0" hangingPunct="1">
        <a:spcBef>
          <a:spcPct val="20000"/>
        </a:spcBef>
        <a:buFont typeface="Arial" panose="020B0604020202020204"/>
        <a:buChar char="–"/>
        <a:defRPr kumimoji="1" sz="2000" kern="1200">
          <a:solidFill>
            <a:schemeClr val="tx1">
              <a:lumMod val="65000"/>
              <a:lumOff val="35000"/>
            </a:schemeClr>
          </a:solidFill>
          <a:latin typeface="Meiryo" panose="020B0604030504040204" pitchFamily="50" charset="-128"/>
          <a:ea typeface="Meiryo" panose="020B0604030504040204" pitchFamily="50" charset="-128"/>
          <a:cs typeface="+mn-cs"/>
        </a:defRPr>
      </a:lvl4pPr>
      <a:lvl5pPr marL="2057400" indent="-228600" algn="l" defTabSz="457200" rtl="0" eaLnBrk="1" latinLnBrk="0" hangingPunct="1">
        <a:spcBef>
          <a:spcPct val="20000"/>
        </a:spcBef>
        <a:buFont typeface="Arial" panose="020B0604020202020204"/>
        <a:buChar char="»"/>
        <a:defRPr kumimoji="1" sz="2000" kern="1200">
          <a:solidFill>
            <a:schemeClr val="tx1">
              <a:lumMod val="65000"/>
              <a:lumOff val="35000"/>
            </a:schemeClr>
          </a:solidFill>
          <a:latin typeface="Meiryo" panose="020B0604030504040204" pitchFamily="50" charset="-128"/>
          <a:ea typeface="Meiryo" panose="020B0604030504040204" pitchFamily="50" charset="-128"/>
          <a:cs typeface="+mn-cs"/>
        </a:defRPr>
      </a:lvl5pPr>
      <a:lvl6pPr marL="2514600" indent="-228600" algn="l" defTabSz="457200" rtl="0" eaLnBrk="1" latinLnBrk="0" hangingPunct="1">
        <a:spcBef>
          <a:spcPct val="20000"/>
        </a:spcBef>
        <a:buFont typeface="Arial" panose="020B0604020202020204"/>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web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áy bay chở khách Nhật Bản cháy trơ khung, hai cánh biến dạ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V="1">
            <a:off x="110067" y="435210"/>
            <a:ext cx="12022666" cy="5612928"/>
          </a:xfrm>
          <a:prstGeom prst="rect">
            <a:avLst/>
          </a:prstGeom>
          <a:noFill/>
          <a:extLst>
            <a:ext uri="{909E8E84-426E-40DD-AFC4-6F175D3DCCD1}">
              <a14:hiddenFill xmlns:a14="http://schemas.microsoft.com/office/drawing/2010/main">
                <a:solidFill>
                  <a:srgbClr val="FFFFFF"/>
                </a:solidFill>
              </a14:hiddenFill>
            </a:ext>
          </a:extLst>
        </p:spPr>
      </p:pic>
      <p:pic>
        <p:nvPicPr>
          <p:cNvPr id="2" name="図 1"/>
          <p:cNvPicPr>
            <a:picLocks noChangeAspect="1"/>
          </p:cNvPicPr>
          <p:nvPr/>
        </p:nvPicPr>
        <p:blipFill>
          <a:blip r:embed="rId4" cstate="email"/>
          <a:stretch>
            <a:fillRect/>
          </a:stretch>
        </p:blipFill>
        <p:spPr>
          <a:xfrm>
            <a:off x="10488488" y="429643"/>
            <a:ext cx="1583148" cy="648072"/>
          </a:xfrm>
          <a:prstGeom prst="rect">
            <a:avLst/>
          </a:prstGeom>
        </p:spPr>
      </p:pic>
      <p:sp>
        <p:nvSpPr>
          <p:cNvPr id="7" name="タイトル 1"/>
          <p:cNvSpPr txBox="1"/>
          <p:nvPr/>
        </p:nvSpPr>
        <p:spPr>
          <a:xfrm>
            <a:off x="3959389" y="5559487"/>
            <a:ext cx="4273222" cy="677825"/>
          </a:xfrm>
          <a:prstGeom prst="rect">
            <a:avLst/>
          </a:prstGeom>
        </p:spPr>
        <p:txBody>
          <a:bodyPr/>
          <a:lstStyle>
            <a:lvl1pPr algn="ctr" rtl="0" eaLnBrk="0" fontAlgn="base" hangingPunct="0">
              <a:lnSpc>
                <a:spcPct val="85000"/>
              </a:lnSpc>
              <a:spcBef>
                <a:spcPct val="0"/>
              </a:spcBef>
              <a:spcAft>
                <a:spcPct val="0"/>
              </a:spcAft>
              <a:defRPr kumimoji="1" sz="2800">
                <a:solidFill>
                  <a:schemeClr val="tx2"/>
                </a:solidFill>
                <a:latin typeface="+mj-lt"/>
                <a:ea typeface="+mj-ea"/>
                <a:cs typeface="MS PGothic" panose="020B0600070205080204" charset="-128"/>
              </a:defRPr>
            </a:lvl1pPr>
            <a:lvl2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2pPr>
            <a:lvl3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3pPr>
            <a:lvl4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4pPr>
            <a:lvl5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5pPr>
            <a:lvl6pPr marL="4572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6pPr>
            <a:lvl7pPr marL="9144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7pPr>
            <a:lvl8pPr marL="13716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8pPr>
            <a:lvl9pPr marL="18288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9pPr>
          </a:lstStyle>
          <a:p>
            <a:endParaRPr lang="en-US" altLang="ja-JP" sz="2400" b="1" i="1" kern="0" dirty="0" smtClean="0">
              <a:solidFill>
                <a:srgbClr val="92D050"/>
              </a:solidFill>
              <a:latin typeface="Meiryo" panose="020B0604030504040204" pitchFamily="50" charset="-128"/>
              <a:ea typeface="Meiryo" panose="020B0604030504040204" pitchFamily="50" charset="-128"/>
            </a:endParaRPr>
          </a:p>
        </p:txBody>
      </p:sp>
      <p:sp>
        <p:nvSpPr>
          <p:cNvPr id="6" name="タイトル 1"/>
          <p:cNvSpPr txBox="1"/>
          <p:nvPr/>
        </p:nvSpPr>
        <p:spPr>
          <a:xfrm>
            <a:off x="9048328" y="6048138"/>
            <a:ext cx="2880320" cy="333358"/>
          </a:xfrm>
          <a:prstGeom prst="rect">
            <a:avLst/>
          </a:prstGeom>
        </p:spPr>
        <p:txBody>
          <a:bodyPr/>
          <a:lstStyle>
            <a:lvl1pPr algn="ctr" rtl="0" eaLnBrk="0" fontAlgn="base" hangingPunct="0">
              <a:lnSpc>
                <a:spcPct val="85000"/>
              </a:lnSpc>
              <a:spcBef>
                <a:spcPct val="0"/>
              </a:spcBef>
              <a:spcAft>
                <a:spcPct val="0"/>
              </a:spcAft>
              <a:defRPr kumimoji="1" sz="2800">
                <a:solidFill>
                  <a:schemeClr val="tx2"/>
                </a:solidFill>
                <a:latin typeface="+mj-lt"/>
                <a:ea typeface="+mj-ea"/>
                <a:cs typeface="MS PGothic" panose="020B0600070205080204" charset="-128"/>
              </a:defRPr>
            </a:lvl1pPr>
            <a:lvl2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2pPr>
            <a:lvl3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3pPr>
            <a:lvl4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4pPr>
            <a:lvl5pPr algn="l" rtl="0" eaLnBrk="0" fontAlgn="base" hangingPunct="0">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cs typeface="MS PGothic" panose="020B0600070205080204" charset="-128"/>
              </a:defRPr>
            </a:lvl5pPr>
            <a:lvl6pPr marL="4572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6pPr>
            <a:lvl7pPr marL="9144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7pPr>
            <a:lvl8pPr marL="13716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8pPr>
            <a:lvl9pPr marL="1828800" algn="l" rtl="0" fontAlgn="base">
              <a:lnSpc>
                <a:spcPct val="85000"/>
              </a:lnSpc>
              <a:spcBef>
                <a:spcPct val="0"/>
              </a:spcBef>
              <a:spcAft>
                <a:spcPct val="0"/>
              </a:spcAft>
              <a:defRPr kumimoji="1" sz="2400">
                <a:solidFill>
                  <a:schemeClr val="tx2"/>
                </a:solidFill>
                <a:latin typeface="Times New Roman" panose="02020603050405020304" charset="0"/>
                <a:ea typeface="MS PGothic" panose="020B0600070205080204" charset="-128"/>
              </a:defRPr>
            </a:lvl9pPr>
          </a:lstStyle>
          <a:p>
            <a:pPr algn="r"/>
            <a:endParaRPr lang="ja-JP" altLang="en-US" sz="2400" b="1" i="1" kern="0" dirty="0">
              <a:solidFill>
                <a:srgbClr val="92D050"/>
              </a:solidFill>
              <a:latin typeface="Meiryo" panose="020B0604030504040204" pitchFamily="50" charset="-128"/>
              <a:ea typeface="Meiryo" panose="020B0604030504040204" pitchFamily="50" charset="-128"/>
            </a:endParaRPr>
          </a:p>
        </p:txBody>
      </p:sp>
      <p:sp>
        <p:nvSpPr>
          <p:cNvPr id="5" name="TextBox 4"/>
          <p:cNvSpPr txBox="1"/>
          <p:nvPr/>
        </p:nvSpPr>
        <p:spPr>
          <a:xfrm>
            <a:off x="5063066" y="4648200"/>
            <a:ext cx="5926667" cy="156966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lang="ja-JP" altLang="en-US" sz="4800" b="1" i="1" kern="0" dirty="0" smtClean="0">
                <a:solidFill>
                  <a:schemeClr val="bg1"/>
                </a:solidFill>
                <a:latin typeface="Meiryo" panose="020B0604030504040204" pitchFamily="50" charset="-128"/>
                <a:ea typeface="Meiryo" panose="020B0604030504040204" pitchFamily="50" charset="-128"/>
              </a:rPr>
              <a:t>振</a:t>
            </a:r>
            <a:r>
              <a:rPr lang="ja-JP" altLang="en-US" sz="4800" b="1" i="1" kern="0" dirty="0">
                <a:solidFill>
                  <a:schemeClr val="bg1"/>
                </a:solidFill>
                <a:latin typeface="Meiryo" panose="020B0604030504040204" pitchFamily="50" charset="-128"/>
                <a:ea typeface="Meiryo" panose="020B0604030504040204" pitchFamily="50" charset="-128"/>
              </a:rPr>
              <a:t>り返りご報</a:t>
            </a:r>
            <a:r>
              <a:rPr lang="ja-JP" altLang="en-US" sz="4800" b="1" i="1" kern="0" dirty="0" smtClean="0">
                <a:solidFill>
                  <a:schemeClr val="bg1"/>
                </a:solidFill>
                <a:latin typeface="Meiryo" panose="020B0604030504040204" pitchFamily="50" charset="-128"/>
                <a:ea typeface="Meiryo" panose="020B0604030504040204" pitchFamily="50" charset="-128"/>
              </a:rPr>
              <a:t>告</a:t>
            </a:r>
            <a:endParaRPr lang="en-US" altLang="ja-JP" sz="4800" b="1" i="1" kern="0" dirty="0" smtClean="0">
              <a:solidFill>
                <a:schemeClr val="bg1"/>
              </a:solidFill>
              <a:latin typeface="Meiryo" panose="020B0604030504040204" pitchFamily="50" charset="-128"/>
              <a:ea typeface="Meiryo" panose="020B0604030504040204" pitchFamily="50" charset="-128"/>
            </a:endParaRPr>
          </a:p>
          <a:p>
            <a:r>
              <a:rPr lang="en-US" altLang="ja-JP" sz="4800" b="1" dirty="0" smtClean="0">
                <a:solidFill>
                  <a:schemeClr val="bg1"/>
                </a:solidFill>
                <a:latin typeface="Meiryo" panose="020B0604030504040204" pitchFamily="50" charset="-128"/>
                <a:ea typeface="Meiryo" panose="020B0604030504040204" pitchFamily="50" charset="-128"/>
              </a:rPr>
              <a:t>2026</a:t>
            </a:r>
            <a:r>
              <a:rPr lang="ja-JP" altLang="en-US" sz="4800" b="1" dirty="0" smtClean="0">
                <a:solidFill>
                  <a:schemeClr val="bg1"/>
                </a:solidFill>
                <a:latin typeface="Meiryo" panose="020B0604030504040204" pitchFamily="50" charset="-128"/>
                <a:ea typeface="Meiryo" panose="020B0604030504040204" pitchFamily="50" charset="-128"/>
              </a:rPr>
              <a:t>年</a:t>
            </a:r>
            <a:r>
              <a:rPr lang="en-US" altLang="ja-JP" sz="4800" b="1" dirty="0">
                <a:solidFill>
                  <a:schemeClr val="bg1"/>
                </a:solidFill>
                <a:latin typeface="Meiryo" panose="020B0604030504040204" pitchFamily="50" charset="-128"/>
                <a:ea typeface="Meiryo" panose="020B0604030504040204" pitchFamily="50" charset="-128"/>
              </a:rPr>
              <a:t>01</a:t>
            </a:r>
            <a:r>
              <a:rPr lang="ja-JP" altLang="en-US" sz="4800" b="1" dirty="0" smtClean="0">
                <a:solidFill>
                  <a:schemeClr val="bg1"/>
                </a:solidFill>
                <a:latin typeface="Meiryo" panose="020B0604030504040204" pitchFamily="50" charset="-128"/>
                <a:ea typeface="Meiryo" panose="020B0604030504040204" pitchFamily="50" charset="-128"/>
              </a:rPr>
              <a:t>月</a:t>
            </a:r>
            <a:r>
              <a:rPr lang="en-US" altLang="ja-JP" sz="4800" b="1" dirty="0" smtClean="0">
                <a:solidFill>
                  <a:schemeClr val="bg1"/>
                </a:solidFill>
                <a:latin typeface="Meiryo" panose="020B0604030504040204" pitchFamily="50" charset="-128"/>
                <a:ea typeface="Meiryo" panose="020B0604030504040204" pitchFamily="50" charset="-128"/>
              </a:rPr>
              <a:t>16</a:t>
            </a:r>
            <a:r>
              <a:rPr lang="ja-JP" altLang="en-US" sz="4800" b="1" dirty="0" smtClean="0">
                <a:solidFill>
                  <a:schemeClr val="bg1"/>
                </a:solidFill>
                <a:latin typeface="Meiryo" panose="020B0604030504040204" pitchFamily="50" charset="-128"/>
                <a:ea typeface="Meiryo" panose="020B0604030504040204" pitchFamily="50" charset="-128"/>
              </a:rPr>
              <a:t>日</a:t>
            </a:r>
            <a:endParaRPr lang="ja-JP" altLang="en-US" sz="4800" b="1" i="1" kern="0" dirty="0">
              <a:solidFill>
                <a:schemeClr val="bg1"/>
              </a:solidFill>
              <a:latin typeface="Meiryo" panose="020B0604030504040204" pitchFamily="50" charset="-128"/>
              <a:ea typeface="Meiryo" panose="020B0604030504040204" pitchFamily="50" charset="-128"/>
            </a:endParaRPr>
          </a:p>
        </p:txBody>
      </p:sp>
      <p:sp>
        <p:nvSpPr>
          <p:cNvPr id="8" name="TextBox 4"/>
          <p:cNvSpPr txBox="1"/>
          <p:nvPr/>
        </p:nvSpPr>
        <p:spPr>
          <a:xfrm>
            <a:off x="2020994" y="1683173"/>
            <a:ext cx="7275407" cy="1017693"/>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noAutofit/>
          </a:bodyPr>
          <a:lstStyle/>
          <a:p>
            <a:pPr algn="ctr"/>
            <a:r>
              <a:rPr lang="en-US" altLang="zh-CN" sz="4800" b="1" i="1" kern="0" dirty="0" smtClean="0">
                <a:solidFill>
                  <a:schemeClr val="accent6">
                    <a:lumMod val="75000"/>
                  </a:schemeClr>
                </a:solidFill>
                <a:latin typeface="Meiryo" panose="020B0604030504040204" pitchFamily="50" charset="-128"/>
                <a:ea typeface="Meiryo" panose="020B0604030504040204" pitchFamily="50" charset="-128"/>
              </a:rPr>
              <a:t>ANAC(</a:t>
            </a:r>
            <a:r>
              <a:rPr lang="ja-JP" altLang="en-US" sz="4800" b="1" i="1" kern="0" dirty="0" smtClean="0">
                <a:solidFill>
                  <a:schemeClr val="accent6">
                    <a:lumMod val="75000"/>
                  </a:schemeClr>
                </a:solidFill>
                <a:latin typeface="Meiryo" panose="020B0604030504040204" pitchFamily="50" charset="-128"/>
                <a:ea typeface="Meiryo" panose="020B0604030504040204" pitchFamily="50" charset="-128"/>
              </a:rPr>
              <a:t>基幹）</a:t>
            </a:r>
            <a:r>
              <a:rPr lang="zh-CN" altLang="en-US" sz="4800" b="1" i="1" kern="0" dirty="0" smtClean="0">
                <a:solidFill>
                  <a:schemeClr val="accent6">
                    <a:lumMod val="75000"/>
                  </a:schemeClr>
                </a:solidFill>
                <a:latin typeface="Meiryo" panose="020B0604030504040204" pitchFamily="50" charset="-128"/>
                <a:ea typeface="Meiryo" panose="020B0604030504040204" pitchFamily="50" charset="-128"/>
              </a:rPr>
              <a:t>案</a:t>
            </a:r>
            <a:r>
              <a:rPr lang="zh-CN" altLang="en-US" sz="4800" b="1" i="1" kern="0" dirty="0">
                <a:solidFill>
                  <a:schemeClr val="accent6">
                    <a:lumMod val="75000"/>
                  </a:schemeClr>
                </a:solidFill>
                <a:latin typeface="Meiryo" panose="020B0604030504040204" pitchFamily="50" charset="-128"/>
                <a:ea typeface="Meiryo" panose="020B0604030504040204" pitchFamily="50" charset="-128"/>
              </a:rPr>
              <a:t>件</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t>2</a:t>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目的</a:t>
            </a:r>
            <a:endPar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sp>
        <p:nvSpPr>
          <p:cNvPr id="8" name="Rectangle 7"/>
          <p:cNvSpPr/>
          <p:nvPr/>
        </p:nvSpPr>
        <p:spPr>
          <a:xfrm>
            <a:off x="876300" y="1194435"/>
            <a:ext cx="9883775" cy="4004098"/>
          </a:xfrm>
          <a:prstGeom prst="rect">
            <a:avLst/>
          </a:prstGeom>
          <a:noFill/>
          <a:ln>
            <a:noFill/>
          </a:ln>
          <a:effectLst>
            <a:outerShdw blurRad="50800" dist="50800" dir="5400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ja-JP" altLang="en-US" sz="2000" b="1" dirty="0" smtClean="0">
                <a:solidFill>
                  <a:schemeClr val="tx1"/>
                </a:solidFill>
              </a:rPr>
              <a:t>目</a:t>
            </a:r>
            <a:r>
              <a:rPr lang="ja-JP" altLang="en-US" sz="2000" b="1" dirty="0">
                <a:solidFill>
                  <a:schemeClr val="tx1"/>
                </a:solidFill>
              </a:rPr>
              <a:t>的</a:t>
            </a:r>
          </a:p>
          <a:p>
            <a:r>
              <a:rPr lang="ja-JP" altLang="en-US" sz="2000" dirty="0">
                <a:solidFill>
                  <a:schemeClr val="tx1"/>
                </a:solidFill>
              </a:rPr>
              <a:t>本報告書は</a:t>
            </a:r>
            <a:r>
              <a:rPr lang="ja-JP" altLang="en-US" sz="2000" dirty="0" smtClean="0">
                <a:solidFill>
                  <a:schemeClr val="tx1"/>
                </a:solidFill>
              </a:rPr>
              <a:t>、実装お</a:t>
            </a:r>
            <a:r>
              <a:rPr lang="ja-JP" altLang="en-US" sz="2000" dirty="0">
                <a:solidFill>
                  <a:schemeClr val="tx1"/>
                </a:solidFill>
              </a:rPr>
              <a:t>よび </a:t>
            </a:r>
            <a:r>
              <a:rPr lang="ja-JP" altLang="en-US" sz="2000" dirty="0" smtClean="0">
                <a:solidFill>
                  <a:schemeClr val="tx1"/>
                </a:solidFill>
              </a:rPr>
              <a:t>単体テスト工</a:t>
            </a:r>
            <a:r>
              <a:rPr lang="ja-JP" altLang="en-US" sz="2000" dirty="0">
                <a:solidFill>
                  <a:schemeClr val="tx1"/>
                </a:solidFill>
              </a:rPr>
              <a:t>程における工数と品質に着目し、</a:t>
            </a:r>
            <a:br>
              <a:rPr lang="ja-JP" altLang="en-US" sz="2000" dirty="0">
                <a:solidFill>
                  <a:schemeClr val="tx1"/>
                </a:solidFill>
              </a:rPr>
            </a:br>
            <a:r>
              <a:rPr lang="ja-JP" altLang="en-US" sz="2000" dirty="0">
                <a:solidFill>
                  <a:schemeClr val="tx1"/>
                </a:solidFill>
              </a:rPr>
              <a:t>プロジェクトの実施状況を総合的に振り返ることを目的</a:t>
            </a:r>
            <a:r>
              <a:rPr lang="ja-JP" altLang="en-US" sz="2000" dirty="0" smtClean="0">
                <a:solidFill>
                  <a:schemeClr val="tx1"/>
                </a:solidFill>
              </a:rPr>
              <a:t>と</a:t>
            </a:r>
            <a:r>
              <a:rPr lang="ja-JP" altLang="en-US" sz="2000" dirty="0">
                <a:solidFill>
                  <a:schemeClr val="tx1"/>
                </a:solidFill>
              </a:rPr>
              <a:t>しま</a:t>
            </a:r>
            <a:r>
              <a:rPr lang="ja-JP" altLang="en-US" sz="2000" dirty="0" smtClean="0">
                <a:solidFill>
                  <a:schemeClr val="tx1"/>
                </a:solidFill>
              </a:rPr>
              <a:t>す。</a:t>
            </a:r>
            <a:endParaRPr lang="en-US" altLang="ja-JP" sz="2000" dirty="0" smtClean="0">
              <a:solidFill>
                <a:schemeClr val="tx1"/>
              </a:solidFill>
            </a:endParaRPr>
          </a:p>
          <a:p>
            <a:endParaRPr lang="ja-JP" altLang="en-US" sz="2000" dirty="0">
              <a:solidFill>
                <a:schemeClr val="tx1"/>
              </a:solidFill>
            </a:endParaRPr>
          </a:p>
          <a:p>
            <a:r>
              <a:rPr lang="ja-JP" altLang="en-US" sz="2000" dirty="0">
                <a:solidFill>
                  <a:schemeClr val="tx1"/>
                </a:solidFill>
              </a:rPr>
              <a:t>工数差分</a:t>
            </a:r>
            <a:r>
              <a:rPr lang="ja-JP" altLang="en-US" sz="2000" dirty="0" smtClean="0">
                <a:solidFill>
                  <a:schemeClr val="tx1"/>
                </a:solidFill>
              </a:rPr>
              <a:t>、</a:t>
            </a:r>
            <a:r>
              <a:rPr lang="ja-JP" altLang="en-US" sz="2000" dirty="0">
                <a:solidFill>
                  <a:schemeClr val="tx1"/>
                </a:solidFill>
              </a:rPr>
              <a:t>指摘</a:t>
            </a:r>
            <a:r>
              <a:rPr lang="ja-JP" altLang="en-US" sz="2000" dirty="0" smtClean="0">
                <a:solidFill>
                  <a:schemeClr val="tx1"/>
                </a:solidFill>
              </a:rPr>
              <a:t>件</a:t>
            </a:r>
            <a:r>
              <a:rPr lang="ja-JP" altLang="en-US" sz="2000" dirty="0">
                <a:solidFill>
                  <a:schemeClr val="tx1"/>
                </a:solidFill>
              </a:rPr>
              <a:t>数およびその発生要因を分析することで、</a:t>
            </a:r>
            <a:br>
              <a:rPr lang="ja-JP" altLang="en-US" sz="2000" dirty="0">
                <a:solidFill>
                  <a:schemeClr val="tx1"/>
                </a:solidFill>
              </a:rPr>
            </a:br>
            <a:r>
              <a:rPr lang="ja-JP" altLang="en-US" sz="2000" dirty="0">
                <a:solidFill>
                  <a:schemeClr val="tx1"/>
                </a:solidFill>
              </a:rPr>
              <a:t>実施した対策の有効性を評価し、今後</a:t>
            </a:r>
            <a:r>
              <a:rPr lang="ja-JP" altLang="en-US" sz="2000" dirty="0" smtClean="0">
                <a:solidFill>
                  <a:schemeClr val="tx1"/>
                </a:solidFill>
              </a:rPr>
              <a:t>のプ</a:t>
            </a:r>
            <a:r>
              <a:rPr lang="ja-JP" altLang="en-US" sz="2000" dirty="0">
                <a:solidFill>
                  <a:schemeClr val="tx1"/>
                </a:solidFill>
              </a:rPr>
              <a:t>ロジェクトに向け</a:t>
            </a:r>
            <a:r>
              <a:rPr lang="ja-JP" altLang="en-US" sz="2000" dirty="0" smtClean="0">
                <a:solidFill>
                  <a:schemeClr val="tx1"/>
                </a:solidFill>
              </a:rPr>
              <a:t>た教</a:t>
            </a:r>
            <a:r>
              <a:rPr lang="ja-JP" altLang="en-US" sz="2000" dirty="0">
                <a:solidFill>
                  <a:schemeClr val="tx1"/>
                </a:solidFill>
              </a:rPr>
              <a:t>訓・改善点を整理す</a:t>
            </a:r>
            <a:r>
              <a:rPr lang="ja-JP" altLang="en-US" sz="2000" dirty="0" smtClean="0">
                <a:solidFill>
                  <a:schemeClr val="tx1"/>
                </a:solidFill>
              </a:rPr>
              <a:t>ること。</a:t>
            </a:r>
            <a:endParaRPr lang="ja-JP" altLang="en-US" sz="2000" dirty="0">
              <a:solidFill>
                <a:schemeClr val="tx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t>3</a:t>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概要</a:t>
            </a:r>
            <a:endPar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graphicFrame>
        <p:nvGraphicFramePr>
          <p:cNvPr id="5" name="Chart 4"/>
          <p:cNvGraphicFramePr/>
          <p:nvPr>
            <p:extLst>
              <p:ext uri="{D42A27DB-BD31-4B8C-83A1-F6EECF244321}">
                <p14:modId xmlns:p14="http://schemas.microsoft.com/office/powerpoint/2010/main" val="1243260039"/>
              </p:ext>
            </p:extLst>
          </p:nvPr>
        </p:nvGraphicFramePr>
        <p:xfrm>
          <a:off x="4889617" y="2941992"/>
          <a:ext cx="6171353" cy="3142453"/>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7"/>
          <p:cNvSpPr/>
          <p:nvPr/>
        </p:nvSpPr>
        <p:spPr>
          <a:xfrm>
            <a:off x="541867" y="1019501"/>
            <a:ext cx="10840835" cy="2929135"/>
          </a:xfrm>
          <a:prstGeom prst="rect">
            <a:avLst/>
          </a:prstGeom>
          <a:noFill/>
          <a:ln>
            <a:noFill/>
          </a:ln>
          <a:effectLst>
            <a:outerShdw blurRad="50800" dist="50800" dir="5400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400" b="1" dirty="0" smtClean="0">
                <a:solidFill>
                  <a:schemeClr val="tx1"/>
                </a:solidFill>
              </a:rPr>
              <a:t>プ</a:t>
            </a:r>
            <a:r>
              <a:rPr lang="ja-JP" altLang="en-US" sz="1400" b="1" dirty="0">
                <a:solidFill>
                  <a:schemeClr val="tx1"/>
                </a:solidFill>
              </a:rPr>
              <a:t>ロジェクト概</a:t>
            </a:r>
            <a:r>
              <a:rPr lang="ja-JP" altLang="en-US" sz="1400" b="1" dirty="0" smtClean="0">
                <a:solidFill>
                  <a:schemeClr val="tx1"/>
                </a:solidFill>
              </a:rPr>
              <a:t>要</a:t>
            </a:r>
            <a:endParaRPr lang="en-US" altLang="ja-JP" sz="1400" b="1" dirty="0" smtClean="0">
              <a:solidFill>
                <a:schemeClr val="tx1"/>
              </a:solidFill>
            </a:endParaRPr>
          </a:p>
          <a:p>
            <a:r>
              <a:rPr lang="ja-JP" altLang="en-US" sz="1400" dirty="0" smtClean="0">
                <a:solidFill>
                  <a:schemeClr val="tx1"/>
                </a:solidFill>
              </a:rPr>
              <a:t>本</a:t>
            </a:r>
            <a:r>
              <a:rPr lang="ja-JP" altLang="en-US" sz="1400" dirty="0">
                <a:solidFill>
                  <a:schemeClr val="tx1"/>
                </a:solidFill>
              </a:rPr>
              <a:t>プロジェクトでは</a:t>
            </a:r>
            <a:r>
              <a:rPr lang="ja-JP" altLang="en-US" sz="1400" dirty="0" smtClean="0">
                <a:solidFill>
                  <a:schemeClr val="tx1"/>
                </a:solidFill>
              </a:rPr>
              <a:t>、実装お</a:t>
            </a:r>
            <a:r>
              <a:rPr lang="ja-JP" altLang="en-US" sz="1400" dirty="0">
                <a:solidFill>
                  <a:schemeClr val="tx1"/>
                </a:solidFill>
              </a:rPr>
              <a:t>よび </a:t>
            </a:r>
            <a:r>
              <a:rPr lang="ja-JP" altLang="en-US" sz="1400" dirty="0" smtClean="0">
                <a:solidFill>
                  <a:schemeClr val="tx1"/>
                </a:solidFill>
              </a:rPr>
              <a:t>単体テスト（</a:t>
            </a:r>
            <a:r>
              <a:rPr lang="ja-JP" altLang="en-US" sz="1400" dirty="0">
                <a:solidFill>
                  <a:schemeClr val="tx1"/>
                </a:solidFill>
              </a:rPr>
              <a:t>設計・実施</a:t>
            </a:r>
            <a:r>
              <a:rPr lang="ja-JP" altLang="en-US" sz="1400" dirty="0" smtClean="0">
                <a:solidFill>
                  <a:schemeClr val="tx1"/>
                </a:solidFill>
              </a:rPr>
              <a:t>）を</a:t>
            </a:r>
            <a:r>
              <a:rPr lang="ja-JP" altLang="en-US" sz="1400" dirty="0">
                <a:solidFill>
                  <a:schemeClr val="tx1"/>
                </a:solidFill>
              </a:rPr>
              <a:t>担当しており、</a:t>
            </a:r>
            <a:br>
              <a:rPr lang="ja-JP" altLang="en-US" sz="1400" dirty="0">
                <a:solidFill>
                  <a:schemeClr val="tx1"/>
                </a:solidFill>
              </a:rPr>
            </a:br>
            <a:r>
              <a:rPr lang="en-US" altLang="ja-JP" sz="1400" dirty="0">
                <a:solidFill>
                  <a:schemeClr val="tx1"/>
                </a:solidFill>
              </a:rPr>
              <a:t>JP </a:t>
            </a:r>
            <a:r>
              <a:rPr lang="ja-JP" altLang="en-US" sz="1400" dirty="0">
                <a:solidFill>
                  <a:schemeClr val="tx1"/>
                </a:solidFill>
              </a:rPr>
              <a:t>側より提供された基本設計書をインプットとして作業を実施しております。</a:t>
            </a:r>
          </a:p>
          <a:p>
            <a:r>
              <a:rPr lang="ja-JP" altLang="en-US" sz="1400" dirty="0">
                <a:solidFill>
                  <a:schemeClr val="tx1"/>
                </a:solidFill>
              </a:rPr>
              <a:t>基本設計につきましては本プロジェクトの担当範囲外としており、</a:t>
            </a:r>
            <a:br>
              <a:rPr lang="ja-JP" altLang="en-US" sz="1400" dirty="0">
                <a:solidFill>
                  <a:schemeClr val="tx1"/>
                </a:solidFill>
              </a:rPr>
            </a:br>
            <a:r>
              <a:rPr lang="ja-JP" altLang="en-US" sz="1400" dirty="0" smtClean="0">
                <a:solidFill>
                  <a:schemeClr val="tx1"/>
                </a:solidFill>
              </a:rPr>
              <a:t>設</a:t>
            </a:r>
            <a:r>
              <a:rPr lang="ja-JP" altLang="en-US" sz="1400" dirty="0">
                <a:solidFill>
                  <a:schemeClr val="tx1"/>
                </a:solidFill>
              </a:rPr>
              <a:t>計内容に基づいた機能実装、品質確認および検証に注力しております</a:t>
            </a:r>
            <a:r>
              <a:rPr lang="ja-JP" altLang="en-US" sz="1400" dirty="0" smtClean="0">
                <a:solidFill>
                  <a:schemeClr val="tx1"/>
                </a:solidFill>
              </a:rPr>
              <a:t>。</a:t>
            </a:r>
            <a:endParaRPr lang="en-US" altLang="ja-JP" sz="1400" dirty="0" smtClean="0">
              <a:solidFill>
                <a:schemeClr val="tx1"/>
              </a:solidFill>
            </a:endParaRPr>
          </a:p>
          <a:p>
            <a:endParaRPr lang="ja-JP" altLang="en-US" sz="1400" dirty="0">
              <a:solidFill>
                <a:schemeClr val="tx1"/>
              </a:solidFill>
            </a:endParaRPr>
          </a:p>
          <a:p>
            <a:r>
              <a:rPr lang="ja-JP" altLang="en-US" sz="1400" b="1" dirty="0">
                <a:solidFill>
                  <a:schemeClr val="tx1"/>
                </a:solidFill>
              </a:rPr>
              <a:t>分析対象機</a:t>
            </a:r>
            <a:r>
              <a:rPr lang="ja-JP" altLang="en-US" sz="1400" b="1" dirty="0" smtClean="0">
                <a:solidFill>
                  <a:schemeClr val="tx1"/>
                </a:solidFill>
              </a:rPr>
              <a:t>能</a:t>
            </a:r>
            <a:endParaRPr lang="ja-JP" altLang="en-US" sz="1400" b="1" dirty="0">
              <a:solidFill>
                <a:schemeClr val="tx1"/>
              </a:solidFill>
            </a:endParaRPr>
          </a:p>
          <a:p>
            <a:r>
              <a:rPr lang="en-US" altLang="ja-JP" sz="1400" dirty="0">
                <a:solidFill>
                  <a:schemeClr val="tx1"/>
                </a:solidFill>
              </a:rPr>
              <a:t>※ </a:t>
            </a:r>
            <a:r>
              <a:rPr lang="ja-JP" altLang="en-US" sz="1400" dirty="0">
                <a:solidFill>
                  <a:schemeClr val="tx1"/>
                </a:solidFill>
              </a:rPr>
              <a:t>下記に記載している分析対象機能数は、</a:t>
            </a:r>
            <a:r>
              <a:rPr lang="en-US" altLang="ja-JP" sz="1400" dirty="0">
                <a:solidFill>
                  <a:schemeClr val="tx1"/>
                </a:solidFill>
              </a:rPr>
              <a:t>2026</a:t>
            </a:r>
            <a:r>
              <a:rPr lang="ja-JP" altLang="en-US" sz="1400" dirty="0">
                <a:solidFill>
                  <a:schemeClr val="tx1"/>
                </a:solidFill>
              </a:rPr>
              <a:t>年</a:t>
            </a:r>
            <a:r>
              <a:rPr lang="en-US" altLang="ja-JP" sz="1400" dirty="0">
                <a:solidFill>
                  <a:schemeClr val="tx1"/>
                </a:solidFill>
              </a:rPr>
              <a:t>01</a:t>
            </a:r>
            <a:r>
              <a:rPr lang="ja-JP" altLang="en-US" sz="1400" dirty="0">
                <a:solidFill>
                  <a:schemeClr val="tx1"/>
                </a:solidFill>
              </a:rPr>
              <a:t>月</a:t>
            </a:r>
            <a:r>
              <a:rPr lang="en-US" altLang="ja-JP" sz="1400" dirty="0">
                <a:solidFill>
                  <a:schemeClr val="tx1"/>
                </a:solidFill>
              </a:rPr>
              <a:t>15</a:t>
            </a:r>
            <a:r>
              <a:rPr lang="ja-JP" altLang="en-US" sz="1400" dirty="0">
                <a:solidFill>
                  <a:schemeClr val="tx1"/>
                </a:solidFill>
              </a:rPr>
              <a:t>日時点</a:t>
            </a:r>
            <a:r>
              <a:rPr lang="ja-JP" altLang="en-US" sz="1400" dirty="0" smtClean="0">
                <a:solidFill>
                  <a:schemeClr val="tx1"/>
                </a:solidFill>
              </a:rPr>
              <a:t>で単体テストま</a:t>
            </a:r>
            <a:r>
              <a:rPr lang="ja-JP" altLang="en-US" sz="1400" dirty="0">
                <a:solidFill>
                  <a:schemeClr val="tx1"/>
                </a:solidFill>
              </a:rPr>
              <a:t>で完了している機能数です</a:t>
            </a:r>
            <a:r>
              <a:rPr lang="ja-JP" altLang="en-US" sz="1400" dirty="0" smtClean="0">
                <a:solidFill>
                  <a:schemeClr val="tx1"/>
                </a:solidFill>
              </a:rPr>
              <a:t>。</a:t>
            </a:r>
            <a:endParaRPr lang="en-US" altLang="ja-JP" sz="1400" dirty="0" smtClean="0">
              <a:solidFill>
                <a:schemeClr val="tx1"/>
              </a:solidFill>
            </a:endParaRPr>
          </a:p>
          <a:p>
            <a:r>
              <a:rPr lang="en-US" altLang="ja-JP" sz="1400" dirty="0" smtClean="0">
                <a:solidFill>
                  <a:schemeClr val="tx1"/>
                </a:solidFill>
              </a:rPr>
              <a:t>※</a:t>
            </a:r>
            <a:r>
              <a:rPr lang="ja-JP" altLang="en-US" sz="1400" dirty="0" smtClean="0">
                <a:solidFill>
                  <a:schemeClr val="tx1"/>
                </a:solidFill>
              </a:rPr>
              <a:t>　</a:t>
            </a:r>
            <a:r>
              <a:rPr lang="ja-JP" altLang="en-US" sz="1400" dirty="0">
                <a:solidFill>
                  <a:schemeClr val="tx1"/>
                </a:solidFill>
              </a:rPr>
              <a:t>本報告書に記載している指摘はすべて内部レビューでの指摘です。</a:t>
            </a:r>
            <a:br>
              <a:rPr lang="ja-JP" altLang="en-US" sz="1400" dirty="0">
                <a:solidFill>
                  <a:schemeClr val="tx1"/>
                </a:solidFill>
              </a:rPr>
            </a:br>
            <a:r>
              <a:rPr lang="en-US" altLang="ja-JP" sz="1400" dirty="0">
                <a:solidFill>
                  <a:schemeClr val="tx1"/>
                </a:solidFill>
              </a:rPr>
              <a:t>JP </a:t>
            </a:r>
            <a:r>
              <a:rPr lang="ja-JP" altLang="en-US" sz="1400" dirty="0">
                <a:solidFill>
                  <a:schemeClr val="tx1"/>
                </a:solidFill>
              </a:rPr>
              <a:t>側によるレビューは本工程では実施されておらず</a:t>
            </a:r>
            <a:r>
              <a:rPr lang="ja-JP" altLang="en-US" sz="1400" dirty="0" smtClean="0">
                <a:solidFill>
                  <a:schemeClr val="tx1"/>
                </a:solidFill>
              </a:rPr>
              <a:t>、</a:t>
            </a:r>
            <a:r>
              <a:rPr lang="en-US" altLang="ja-JP" sz="1400" dirty="0" smtClean="0">
                <a:solidFill>
                  <a:schemeClr val="tx1"/>
                </a:solidFill>
              </a:rPr>
              <a:t>JP </a:t>
            </a:r>
            <a:r>
              <a:rPr lang="ja-JP" altLang="en-US" sz="1400" dirty="0">
                <a:solidFill>
                  <a:schemeClr val="tx1"/>
                </a:solidFill>
              </a:rPr>
              <a:t>側の確認は結合テスト工程にて実施さ</a:t>
            </a:r>
            <a:r>
              <a:rPr lang="ja-JP" altLang="en-US" sz="1400" dirty="0" smtClean="0">
                <a:solidFill>
                  <a:schemeClr val="tx1"/>
                </a:solidFill>
              </a:rPr>
              <a:t>れ</a:t>
            </a:r>
            <a:r>
              <a:rPr lang="ja-JP" altLang="en-US" sz="1400" dirty="0">
                <a:solidFill>
                  <a:schemeClr val="tx1"/>
                </a:solidFill>
              </a:rPr>
              <a:t>ます</a:t>
            </a:r>
            <a:r>
              <a:rPr lang="ja-JP" altLang="en-US" sz="1400" dirty="0" smtClean="0">
                <a:solidFill>
                  <a:schemeClr val="tx1"/>
                </a:solidFill>
              </a:rPr>
              <a:t>。</a:t>
            </a:r>
            <a:endParaRPr lang="ja-JP" altLang="en-US" sz="1400" dirty="0">
              <a:solidFill>
                <a:schemeClr val="tx1"/>
              </a:solidFill>
            </a:endParaRPr>
          </a:p>
          <a:p>
            <a:endParaRPr lang="vi-VN" sz="1400" dirty="0">
              <a:solidFill>
                <a:schemeClr val="tx1"/>
              </a:solidFill>
            </a:endParaRPr>
          </a:p>
          <a:p>
            <a:endParaRPr lang="vi-VN" sz="1400" dirty="0">
              <a:solidFill>
                <a:schemeClr val="tx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188629857"/>
              </p:ext>
            </p:extLst>
          </p:nvPr>
        </p:nvGraphicFramePr>
        <p:xfrm>
          <a:off x="5818352" y="4124117"/>
          <a:ext cx="5010515" cy="1616285"/>
        </p:xfrm>
        <a:graphic>
          <a:graphicData uri="http://schemas.openxmlformats.org/drawingml/2006/table">
            <a:tbl>
              <a:tblPr>
                <a:tableStyleId>{5C22544A-7EE6-4342-B048-85BDC9FD1C3A}</a:tableStyleId>
              </a:tblPr>
              <a:tblGrid>
                <a:gridCol w="2362999">
                  <a:extLst>
                    <a:ext uri="{9D8B030D-6E8A-4147-A177-3AD203B41FA5}">
                      <a16:colId xmlns:a16="http://schemas.microsoft.com/office/drawing/2014/main" val="768587436"/>
                    </a:ext>
                  </a:extLst>
                </a:gridCol>
                <a:gridCol w="2647516">
                  <a:extLst>
                    <a:ext uri="{9D8B030D-6E8A-4147-A177-3AD203B41FA5}">
                      <a16:colId xmlns:a16="http://schemas.microsoft.com/office/drawing/2014/main" val="3767605772"/>
                    </a:ext>
                  </a:extLst>
                </a:gridCol>
              </a:tblGrid>
              <a:tr h="323257">
                <a:tc>
                  <a:txBody>
                    <a:bodyPr/>
                    <a:lstStyle/>
                    <a:p>
                      <a:pPr algn="ctr" fontAlgn="b"/>
                      <a:r>
                        <a:rPr lang="ja-JP" altLang="en-US" sz="1100" u="none" strike="noStrike">
                          <a:effectLst/>
                        </a:rPr>
                        <a:t>機能区分</a:t>
                      </a:r>
                      <a:endParaRPr lang="ja-JP" altLang="en-US" sz="1100" b="1"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b">
                    <a:solidFill>
                      <a:srgbClr val="92D050"/>
                    </a:solidFill>
                  </a:tcPr>
                </a:tc>
                <a:tc>
                  <a:txBody>
                    <a:bodyPr/>
                    <a:lstStyle/>
                    <a:p>
                      <a:pPr algn="ctr" fontAlgn="b"/>
                      <a:r>
                        <a:rPr lang="ja-JP" altLang="en-US" sz="1100" u="none" strike="noStrike" dirty="0">
                          <a:effectLst/>
                        </a:rPr>
                        <a:t>件数</a:t>
                      </a:r>
                      <a:endParaRPr lang="ja-JP" altLang="en-US" sz="1100" b="1"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b">
                    <a:solidFill>
                      <a:srgbClr val="92D050"/>
                    </a:solidFill>
                  </a:tcPr>
                </a:tc>
                <a:extLst>
                  <a:ext uri="{0D108BD9-81ED-4DB2-BD59-A6C34878D82A}">
                    <a16:rowId xmlns:a16="http://schemas.microsoft.com/office/drawing/2014/main" val="2682820285"/>
                  </a:ext>
                </a:extLst>
              </a:tr>
              <a:tr h="323257">
                <a:tc>
                  <a:txBody>
                    <a:bodyPr/>
                    <a:lstStyle/>
                    <a:p>
                      <a:pPr algn="l" fontAlgn="b"/>
                      <a:r>
                        <a:rPr lang="ja-JP" altLang="en-US" sz="1100" u="none" strike="noStrike" dirty="0">
                          <a:effectLst/>
                        </a:rPr>
                        <a:t>バッチ</a:t>
                      </a:r>
                      <a:endParaRPr lang="ja-JP" alt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b"/>
                </a:tc>
                <a:tc>
                  <a:txBody>
                    <a:bodyPr/>
                    <a:lstStyle/>
                    <a:p>
                      <a:pPr algn="r" fontAlgn="b"/>
                      <a:r>
                        <a:rPr lang="en-US" sz="1100" u="none" strike="noStrike">
                          <a:effectLst/>
                        </a:rPr>
                        <a:t>11</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b"/>
                </a:tc>
                <a:extLst>
                  <a:ext uri="{0D108BD9-81ED-4DB2-BD59-A6C34878D82A}">
                    <a16:rowId xmlns:a16="http://schemas.microsoft.com/office/drawing/2014/main" val="1217510433"/>
                  </a:ext>
                </a:extLst>
              </a:tr>
              <a:tr h="323257">
                <a:tc>
                  <a:txBody>
                    <a:bodyPr/>
                    <a:lstStyle/>
                    <a:p>
                      <a:pPr algn="l" fontAlgn="b"/>
                      <a:r>
                        <a:rPr lang="ja-JP" altLang="en-US" sz="1100" u="none" strike="noStrike">
                          <a:effectLst/>
                        </a:rPr>
                        <a:t>画面</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b"/>
                </a:tc>
                <a:tc>
                  <a:txBody>
                    <a:bodyPr/>
                    <a:lstStyle/>
                    <a:p>
                      <a:pPr algn="r" fontAlgn="b"/>
                      <a:r>
                        <a:rPr lang="en-US" sz="1100" u="none" strike="noStrike">
                          <a:effectLst/>
                        </a:rPr>
                        <a:t>21</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b"/>
                </a:tc>
                <a:extLst>
                  <a:ext uri="{0D108BD9-81ED-4DB2-BD59-A6C34878D82A}">
                    <a16:rowId xmlns:a16="http://schemas.microsoft.com/office/drawing/2014/main" val="2499005266"/>
                  </a:ext>
                </a:extLst>
              </a:tr>
              <a:tr h="323257">
                <a:tc>
                  <a:txBody>
                    <a:bodyPr/>
                    <a:lstStyle/>
                    <a:p>
                      <a:pPr algn="l" fontAlgn="b"/>
                      <a:r>
                        <a:rPr lang="en-US" sz="1100" u="none" strike="noStrike">
                          <a:effectLst/>
                        </a:rPr>
                        <a:t>API</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b"/>
                </a:tc>
                <a:tc>
                  <a:txBody>
                    <a:bodyPr/>
                    <a:lstStyle/>
                    <a:p>
                      <a:pPr algn="r" fontAlgn="b"/>
                      <a:r>
                        <a:rPr lang="en-US" sz="1100" u="none" strike="noStrike">
                          <a:effectLst/>
                        </a:rPr>
                        <a:t>3</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b"/>
                </a:tc>
                <a:extLst>
                  <a:ext uri="{0D108BD9-81ED-4DB2-BD59-A6C34878D82A}">
                    <a16:rowId xmlns:a16="http://schemas.microsoft.com/office/drawing/2014/main" val="4041646007"/>
                  </a:ext>
                </a:extLst>
              </a:tr>
              <a:tr h="323257">
                <a:tc>
                  <a:txBody>
                    <a:bodyPr/>
                    <a:lstStyle/>
                    <a:p>
                      <a:pPr algn="l" fontAlgn="b"/>
                      <a:r>
                        <a:rPr lang="ja-JP" altLang="en-US" sz="1100" u="none" strike="noStrike">
                          <a:effectLst/>
                        </a:rPr>
                        <a:t>分析対象機能総数</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b">
                    <a:solidFill>
                      <a:schemeClr val="accent3">
                        <a:lumMod val="20000"/>
                        <a:lumOff val="80000"/>
                      </a:schemeClr>
                    </a:solidFill>
                  </a:tcPr>
                </a:tc>
                <a:tc>
                  <a:txBody>
                    <a:bodyPr/>
                    <a:lstStyle/>
                    <a:p>
                      <a:pPr algn="r" fontAlgn="b"/>
                      <a:r>
                        <a:rPr lang="en-US" sz="1100" u="none" strike="noStrike" dirty="0">
                          <a:effectLst/>
                        </a:rPr>
                        <a:t>35</a:t>
                      </a:r>
                      <a:endParaRPr 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b">
                    <a:solidFill>
                      <a:schemeClr val="accent3">
                        <a:lumMod val="20000"/>
                        <a:lumOff val="80000"/>
                      </a:schemeClr>
                    </a:solidFill>
                  </a:tcPr>
                </a:tc>
                <a:extLst>
                  <a:ext uri="{0D108BD9-81ED-4DB2-BD59-A6C34878D82A}">
                    <a16:rowId xmlns:a16="http://schemas.microsoft.com/office/drawing/2014/main" val="4043853126"/>
                  </a:ext>
                </a:extLst>
              </a:tr>
            </a:tbl>
          </a:graphicData>
        </a:graphic>
      </p:graphicFrame>
      <p:graphicFrame>
        <p:nvGraphicFramePr>
          <p:cNvPr id="12" name="Chart 11"/>
          <p:cNvGraphicFramePr>
            <a:graphicFrameLocks/>
          </p:cNvGraphicFramePr>
          <p:nvPr>
            <p:extLst>
              <p:ext uri="{D42A27DB-BD31-4B8C-83A1-F6EECF244321}">
                <p14:modId xmlns:p14="http://schemas.microsoft.com/office/powerpoint/2010/main" val="1737161316"/>
              </p:ext>
            </p:extLst>
          </p:nvPr>
        </p:nvGraphicFramePr>
        <p:xfrm>
          <a:off x="684049" y="3776133"/>
          <a:ext cx="4319751" cy="22829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450810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t>4</a:t>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ja-JP" altLang="en-US"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製造</a:t>
            </a:r>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分析</a:t>
            </a:r>
            <a:endParaRPr lang="en-US" altLang="ja-JP"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graphicFrame>
        <p:nvGraphicFramePr>
          <p:cNvPr id="8" name="Table 7"/>
          <p:cNvGraphicFramePr>
            <a:graphicFrameLocks noGrp="1"/>
          </p:cNvGraphicFramePr>
          <p:nvPr>
            <p:extLst>
              <p:ext uri="{D42A27DB-BD31-4B8C-83A1-F6EECF244321}">
                <p14:modId xmlns:p14="http://schemas.microsoft.com/office/powerpoint/2010/main" val="355948448"/>
              </p:ext>
            </p:extLst>
          </p:nvPr>
        </p:nvGraphicFramePr>
        <p:xfrm>
          <a:off x="1168401" y="1100673"/>
          <a:ext cx="8511532" cy="4900094"/>
        </p:xfrm>
        <a:graphic>
          <a:graphicData uri="http://schemas.openxmlformats.org/drawingml/2006/table">
            <a:tbl>
              <a:tblPr>
                <a:tableStyleId>{5C22544A-7EE6-4342-B048-85BDC9FD1C3A}</a:tableStyleId>
              </a:tblPr>
              <a:tblGrid>
                <a:gridCol w="897466">
                  <a:extLst>
                    <a:ext uri="{9D8B030D-6E8A-4147-A177-3AD203B41FA5}">
                      <a16:colId xmlns:a16="http://schemas.microsoft.com/office/drawing/2014/main" val="3020317558"/>
                    </a:ext>
                  </a:extLst>
                </a:gridCol>
                <a:gridCol w="3485357">
                  <a:extLst>
                    <a:ext uri="{9D8B030D-6E8A-4147-A177-3AD203B41FA5}">
                      <a16:colId xmlns:a16="http://schemas.microsoft.com/office/drawing/2014/main" val="3065763272"/>
                    </a:ext>
                  </a:extLst>
                </a:gridCol>
                <a:gridCol w="565864">
                  <a:extLst>
                    <a:ext uri="{9D8B030D-6E8A-4147-A177-3AD203B41FA5}">
                      <a16:colId xmlns:a16="http://schemas.microsoft.com/office/drawing/2014/main" val="1397524681"/>
                    </a:ext>
                  </a:extLst>
                </a:gridCol>
                <a:gridCol w="565864">
                  <a:extLst>
                    <a:ext uri="{9D8B030D-6E8A-4147-A177-3AD203B41FA5}">
                      <a16:colId xmlns:a16="http://schemas.microsoft.com/office/drawing/2014/main" val="1601177441"/>
                    </a:ext>
                  </a:extLst>
                </a:gridCol>
                <a:gridCol w="649696">
                  <a:extLst>
                    <a:ext uri="{9D8B030D-6E8A-4147-A177-3AD203B41FA5}">
                      <a16:colId xmlns:a16="http://schemas.microsoft.com/office/drawing/2014/main" val="1810341099"/>
                    </a:ext>
                  </a:extLst>
                </a:gridCol>
                <a:gridCol w="586821">
                  <a:extLst>
                    <a:ext uri="{9D8B030D-6E8A-4147-A177-3AD203B41FA5}">
                      <a16:colId xmlns:a16="http://schemas.microsoft.com/office/drawing/2014/main" val="281018872"/>
                    </a:ext>
                  </a:extLst>
                </a:gridCol>
                <a:gridCol w="597301">
                  <a:extLst>
                    <a:ext uri="{9D8B030D-6E8A-4147-A177-3AD203B41FA5}">
                      <a16:colId xmlns:a16="http://schemas.microsoft.com/office/drawing/2014/main" val="2306005263"/>
                    </a:ext>
                  </a:extLst>
                </a:gridCol>
                <a:gridCol w="544906">
                  <a:extLst>
                    <a:ext uri="{9D8B030D-6E8A-4147-A177-3AD203B41FA5}">
                      <a16:colId xmlns:a16="http://schemas.microsoft.com/office/drawing/2014/main" val="2452531514"/>
                    </a:ext>
                  </a:extLst>
                </a:gridCol>
                <a:gridCol w="618257">
                  <a:extLst>
                    <a:ext uri="{9D8B030D-6E8A-4147-A177-3AD203B41FA5}">
                      <a16:colId xmlns:a16="http://schemas.microsoft.com/office/drawing/2014/main" val="3999731729"/>
                    </a:ext>
                  </a:extLst>
                </a:gridCol>
              </a:tblGrid>
              <a:tr h="264869">
                <a:tc>
                  <a:txBody>
                    <a:bodyPr/>
                    <a:lstStyle/>
                    <a:p>
                      <a:pPr algn="ctr" fontAlgn="ctr"/>
                      <a:r>
                        <a:rPr lang="en-US" sz="800" u="none" strike="noStrike">
                          <a:effectLst/>
                        </a:rPr>
                        <a:t>ID</a:t>
                      </a:r>
                      <a:endParaRPr lang="en-US" sz="800" b="1"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ctr">
                    <a:solidFill>
                      <a:srgbClr val="92D050"/>
                    </a:solidFill>
                  </a:tcPr>
                </a:tc>
                <a:tc>
                  <a:txBody>
                    <a:bodyPr/>
                    <a:lstStyle/>
                    <a:p>
                      <a:pPr algn="ctr" fontAlgn="ctr"/>
                      <a:r>
                        <a:rPr lang="ja-JP" altLang="en-US" sz="800" u="none" strike="noStrike">
                          <a:effectLst/>
                        </a:rPr>
                        <a:t>機能名</a:t>
                      </a:r>
                      <a:endParaRPr lang="ja-JP" altLang="en-US" sz="800" b="1"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ctr">
                    <a:solidFill>
                      <a:srgbClr val="92D050"/>
                    </a:solidFill>
                  </a:tcPr>
                </a:tc>
                <a:tc>
                  <a:txBody>
                    <a:bodyPr/>
                    <a:lstStyle/>
                    <a:p>
                      <a:pPr algn="ctr" fontAlgn="ctr"/>
                      <a:r>
                        <a:rPr lang="ja-JP" altLang="en-US" sz="800" u="none" strike="noStrike">
                          <a:effectLst/>
                        </a:rPr>
                        <a:t>区分</a:t>
                      </a:r>
                      <a:endParaRPr lang="ja-JP" altLang="en-US" sz="800" b="1"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ctr">
                    <a:solidFill>
                      <a:srgbClr val="92D050"/>
                    </a:solidFill>
                  </a:tcPr>
                </a:tc>
                <a:tc>
                  <a:txBody>
                    <a:bodyPr/>
                    <a:lstStyle/>
                    <a:p>
                      <a:pPr algn="ctr" fontAlgn="ctr"/>
                      <a:r>
                        <a:rPr lang="ja-JP" altLang="en-US" sz="800" u="none" strike="noStrike">
                          <a:effectLst/>
                        </a:rPr>
                        <a:t>ステップ数</a:t>
                      </a:r>
                      <a:endParaRPr lang="ja-JP" altLang="en-US" sz="800" b="1"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ctr">
                    <a:solidFill>
                      <a:srgbClr val="92D050"/>
                    </a:solidFill>
                  </a:tcPr>
                </a:tc>
                <a:tc>
                  <a:txBody>
                    <a:bodyPr/>
                    <a:lstStyle/>
                    <a:p>
                      <a:pPr algn="ctr" fontAlgn="ctr"/>
                      <a:r>
                        <a:rPr lang="ja-JP" altLang="en-US" sz="800" u="none" strike="noStrike">
                          <a:effectLst/>
                        </a:rPr>
                        <a:t>予定工数</a:t>
                      </a:r>
                      <a:br>
                        <a:rPr lang="ja-JP" altLang="en-US" sz="800" u="none" strike="noStrike">
                          <a:effectLst/>
                        </a:rPr>
                      </a:br>
                      <a:r>
                        <a:rPr lang="en-US" altLang="ja-JP" sz="800" u="none" strike="noStrike">
                          <a:effectLst/>
                        </a:rPr>
                        <a:t>(</a:t>
                      </a:r>
                      <a:r>
                        <a:rPr lang="en-US" sz="800" u="none" strike="noStrike">
                          <a:effectLst/>
                        </a:rPr>
                        <a:t>H)</a:t>
                      </a:r>
                      <a:endParaRPr lang="en-US" sz="800" b="1"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ctr">
                    <a:solidFill>
                      <a:srgbClr val="92D050"/>
                    </a:solidFill>
                  </a:tcPr>
                </a:tc>
                <a:tc>
                  <a:txBody>
                    <a:bodyPr/>
                    <a:lstStyle/>
                    <a:p>
                      <a:pPr algn="ctr" fontAlgn="ctr"/>
                      <a:r>
                        <a:rPr lang="ja-JP" altLang="en-US" sz="800" u="none" strike="noStrike">
                          <a:effectLst/>
                        </a:rPr>
                        <a:t>実績工数</a:t>
                      </a:r>
                      <a:br>
                        <a:rPr lang="ja-JP" altLang="en-US" sz="800" u="none" strike="noStrike">
                          <a:effectLst/>
                        </a:rPr>
                      </a:br>
                      <a:r>
                        <a:rPr lang="en-US" altLang="ja-JP" sz="800" u="none" strike="noStrike">
                          <a:effectLst/>
                        </a:rPr>
                        <a:t>(</a:t>
                      </a:r>
                      <a:r>
                        <a:rPr lang="en-US" sz="800" u="none" strike="noStrike">
                          <a:effectLst/>
                        </a:rPr>
                        <a:t>H)</a:t>
                      </a:r>
                      <a:endParaRPr lang="en-US" sz="800" b="1"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ctr">
                    <a:solidFill>
                      <a:srgbClr val="92D050"/>
                    </a:solidFill>
                  </a:tcPr>
                </a:tc>
                <a:tc>
                  <a:txBody>
                    <a:bodyPr/>
                    <a:lstStyle/>
                    <a:p>
                      <a:pPr algn="ctr" fontAlgn="ctr"/>
                      <a:r>
                        <a:rPr lang="ja-JP" altLang="en-US" sz="800" u="none" strike="noStrike">
                          <a:effectLst/>
                        </a:rPr>
                        <a:t>差分工数</a:t>
                      </a:r>
                      <a:endParaRPr lang="ja-JP" altLang="en-US" sz="800" b="1"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ctr">
                    <a:solidFill>
                      <a:srgbClr val="92D050"/>
                    </a:solidFill>
                  </a:tcPr>
                </a:tc>
                <a:tc>
                  <a:txBody>
                    <a:bodyPr/>
                    <a:lstStyle/>
                    <a:p>
                      <a:pPr algn="ctr" fontAlgn="ctr"/>
                      <a:r>
                        <a:rPr lang="ja-JP" altLang="en-US" sz="800" u="none" strike="noStrike">
                          <a:effectLst/>
                        </a:rPr>
                        <a:t>指摘数</a:t>
                      </a:r>
                      <a:endParaRPr lang="ja-JP" altLang="en-US" sz="800" b="1"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ctr">
                    <a:solidFill>
                      <a:srgbClr val="92D050"/>
                    </a:solidFill>
                  </a:tcPr>
                </a:tc>
                <a:tc>
                  <a:txBody>
                    <a:bodyPr/>
                    <a:lstStyle/>
                    <a:p>
                      <a:pPr algn="ctr" fontAlgn="ctr"/>
                      <a:r>
                        <a:rPr lang="en-US" sz="800" u="none" strike="noStrike" dirty="0">
                          <a:effectLst/>
                        </a:rPr>
                        <a:t>QA</a:t>
                      </a:r>
                      <a:r>
                        <a:rPr lang="ja-JP" altLang="en-US" sz="800" u="none" strike="noStrike" dirty="0">
                          <a:effectLst/>
                        </a:rPr>
                        <a:t>数</a:t>
                      </a:r>
                      <a:endParaRPr lang="ja-JP" altLang="en-US" sz="800" b="1"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ctr">
                    <a:solidFill>
                      <a:srgbClr val="92D050"/>
                    </a:solidFill>
                  </a:tcPr>
                </a:tc>
                <a:extLst>
                  <a:ext uri="{0D108BD9-81ED-4DB2-BD59-A6C34878D82A}">
                    <a16:rowId xmlns:a16="http://schemas.microsoft.com/office/drawing/2014/main" val="2359188764"/>
                  </a:ext>
                </a:extLst>
              </a:tr>
              <a:tr h="132435">
                <a:tc>
                  <a:txBody>
                    <a:bodyPr/>
                    <a:lstStyle/>
                    <a:p>
                      <a:pPr algn="l" fontAlgn="b"/>
                      <a:r>
                        <a:rPr lang="en-US" sz="800" u="none" strike="noStrike">
                          <a:effectLst/>
                        </a:rPr>
                        <a:t>SPCM00101</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ログイン</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3,434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5</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1</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4217201746"/>
                  </a:ext>
                </a:extLst>
              </a:tr>
              <a:tr h="132435">
                <a:tc>
                  <a:txBody>
                    <a:bodyPr/>
                    <a:lstStyle/>
                    <a:p>
                      <a:pPr algn="l" fontAlgn="b"/>
                      <a:r>
                        <a:rPr lang="en-US" sz="800" u="none" strike="noStrike">
                          <a:effectLst/>
                        </a:rPr>
                        <a:t>SPMT0021</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工場マスタ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5,704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56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76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7</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1783112080"/>
                  </a:ext>
                </a:extLst>
              </a:tr>
              <a:tr h="132435">
                <a:tc>
                  <a:txBody>
                    <a:bodyPr/>
                    <a:lstStyle/>
                    <a:p>
                      <a:pPr algn="l" fontAlgn="b"/>
                      <a:r>
                        <a:rPr lang="en-US" sz="800" u="none" strike="noStrike">
                          <a:effectLst/>
                        </a:rPr>
                        <a:t>SPMT00101AC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セクションマスタ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3,886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96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96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3</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3307108361"/>
                  </a:ext>
                </a:extLst>
              </a:tr>
              <a:tr h="132435">
                <a:tc>
                  <a:txBody>
                    <a:bodyPr/>
                    <a:lstStyle/>
                    <a:p>
                      <a:pPr algn="l" fontAlgn="b"/>
                      <a:r>
                        <a:rPr lang="en-US" sz="800" u="none" strike="noStrike">
                          <a:effectLst/>
                        </a:rPr>
                        <a:t>SPMT00111AC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セクションマスタ検索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1,035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1</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3831462334"/>
                  </a:ext>
                </a:extLst>
              </a:tr>
              <a:tr h="132435">
                <a:tc>
                  <a:txBody>
                    <a:bodyPr/>
                    <a:lstStyle/>
                    <a:p>
                      <a:pPr algn="l" fontAlgn="b"/>
                      <a:r>
                        <a:rPr lang="en-US" sz="800" u="none" strike="noStrike">
                          <a:effectLst/>
                        </a:rPr>
                        <a:t>SPMT00201AC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グループマスタ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4,024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7</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5</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796444782"/>
                  </a:ext>
                </a:extLst>
              </a:tr>
              <a:tr h="132435">
                <a:tc>
                  <a:txBody>
                    <a:bodyPr/>
                    <a:lstStyle/>
                    <a:p>
                      <a:pPr algn="l" fontAlgn="b"/>
                      <a:r>
                        <a:rPr lang="en-US" sz="800" u="none" strike="noStrike">
                          <a:effectLst/>
                        </a:rPr>
                        <a:t>SPMT00211AC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グループマスタ検索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1,002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2</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747985809"/>
                  </a:ext>
                </a:extLst>
              </a:tr>
              <a:tr h="132435">
                <a:tc>
                  <a:txBody>
                    <a:bodyPr/>
                    <a:lstStyle/>
                    <a:p>
                      <a:pPr algn="l" fontAlgn="b"/>
                      <a:r>
                        <a:rPr lang="en-US" sz="800" u="none" strike="noStrike">
                          <a:effectLst/>
                        </a:rPr>
                        <a:t>SPMT00101</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仕入先マスタ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7,343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30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2377215093"/>
                  </a:ext>
                </a:extLst>
              </a:tr>
              <a:tr h="132435">
                <a:tc>
                  <a:txBody>
                    <a:bodyPr/>
                    <a:lstStyle/>
                    <a:p>
                      <a:pPr algn="l" fontAlgn="b"/>
                      <a:r>
                        <a:rPr lang="en-US" sz="800" u="none" strike="noStrike">
                          <a:effectLst/>
                        </a:rPr>
                        <a:t>SPMT00141</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調達品マスタ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12,685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108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124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25</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5</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1715741276"/>
                  </a:ext>
                </a:extLst>
              </a:tr>
              <a:tr h="132435">
                <a:tc>
                  <a:txBody>
                    <a:bodyPr/>
                    <a:lstStyle/>
                    <a:p>
                      <a:pPr algn="l" fontAlgn="b"/>
                      <a:r>
                        <a:rPr lang="en-US" sz="800" u="none" strike="noStrike">
                          <a:effectLst/>
                        </a:rPr>
                        <a:t>SPMT00151AC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調達品契約マスタ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5,523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4</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2248469765"/>
                  </a:ext>
                </a:extLst>
              </a:tr>
              <a:tr h="132435">
                <a:tc>
                  <a:txBody>
                    <a:bodyPr/>
                    <a:lstStyle/>
                    <a:p>
                      <a:pPr algn="l" fontAlgn="b"/>
                      <a:r>
                        <a:rPr lang="en-US" sz="800" u="none" strike="noStrike">
                          <a:effectLst/>
                        </a:rPr>
                        <a:t>SPMT00161AC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調達品単位換算マスタ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3,616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52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36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127591320"/>
                  </a:ext>
                </a:extLst>
              </a:tr>
              <a:tr h="132435">
                <a:tc>
                  <a:txBody>
                    <a:bodyPr/>
                    <a:lstStyle/>
                    <a:p>
                      <a:pPr algn="l" fontAlgn="b"/>
                      <a:r>
                        <a:rPr lang="en-US" sz="800" u="none" strike="noStrike">
                          <a:effectLst/>
                        </a:rPr>
                        <a:t>SPMT00301AC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dirty="0">
                          <a:effectLst/>
                        </a:rPr>
                        <a:t>レシピ作成用調達品検索</a:t>
                      </a:r>
                      <a:endParaRPr lang="ja-JP" alt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4,719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1890945981"/>
                  </a:ext>
                </a:extLst>
              </a:tr>
              <a:tr h="132435">
                <a:tc>
                  <a:txBody>
                    <a:bodyPr/>
                    <a:lstStyle/>
                    <a:p>
                      <a:pPr algn="l" fontAlgn="b"/>
                      <a:r>
                        <a:rPr lang="en-US" sz="800" u="none" strike="noStrike">
                          <a:effectLst/>
                        </a:rPr>
                        <a:t>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レシピ作成用調達品検索</a:t>
                      </a:r>
                      <a:r>
                        <a:rPr lang="en-US" altLang="ja-JP" sz="800" u="none" strike="noStrike">
                          <a:effectLst/>
                        </a:rPr>
                        <a:t>CSV</a:t>
                      </a:r>
                      <a:r>
                        <a:rPr lang="ja-JP" altLang="en-US" sz="800" u="none" strike="noStrike">
                          <a:effectLst/>
                        </a:rPr>
                        <a:t>出力</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4,881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116453166"/>
                  </a:ext>
                </a:extLst>
              </a:tr>
              <a:tr h="132435">
                <a:tc>
                  <a:txBody>
                    <a:bodyPr/>
                    <a:lstStyle/>
                    <a:p>
                      <a:pPr algn="l" fontAlgn="b"/>
                      <a:r>
                        <a:rPr lang="en-US" sz="800" u="none" strike="noStrike">
                          <a:effectLst/>
                        </a:rPr>
                        <a:t>SPMT00401AC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産地エリアマスタ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3,499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56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68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3</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690458752"/>
                  </a:ext>
                </a:extLst>
              </a:tr>
              <a:tr h="132435">
                <a:tc>
                  <a:txBody>
                    <a:bodyPr/>
                    <a:lstStyle/>
                    <a:p>
                      <a:pPr algn="l" fontAlgn="b"/>
                      <a:r>
                        <a:rPr lang="en-US" sz="800" u="none" strike="noStrike">
                          <a:effectLst/>
                        </a:rPr>
                        <a:t>SPMT00501AC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産地マスタ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3,777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41.5</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1.5</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3</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744845896"/>
                  </a:ext>
                </a:extLst>
              </a:tr>
              <a:tr h="132435">
                <a:tc>
                  <a:txBody>
                    <a:bodyPr/>
                    <a:lstStyle/>
                    <a:p>
                      <a:pPr algn="l" fontAlgn="b"/>
                      <a:r>
                        <a:rPr lang="en-US" sz="800" u="none" strike="noStrike">
                          <a:effectLst/>
                        </a:rPr>
                        <a:t>SPMT00701</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分類マスタ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11,400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32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32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2360092733"/>
                  </a:ext>
                </a:extLst>
              </a:tr>
              <a:tr h="132435">
                <a:tc>
                  <a:txBody>
                    <a:bodyPr/>
                    <a:lstStyle/>
                    <a:p>
                      <a:pPr algn="l" fontAlgn="b"/>
                      <a:r>
                        <a:rPr lang="en-US" sz="800" u="none" strike="noStrike">
                          <a:effectLst/>
                        </a:rPr>
                        <a:t>SPMT00601AC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名称マスタ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5,527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6</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3098484955"/>
                  </a:ext>
                </a:extLst>
              </a:tr>
              <a:tr h="132435">
                <a:tc>
                  <a:txBody>
                    <a:bodyPr/>
                    <a:lstStyle/>
                    <a:p>
                      <a:pPr algn="l" fontAlgn="b"/>
                      <a:r>
                        <a:rPr lang="en-US" sz="800" u="none" strike="noStrike">
                          <a:effectLst/>
                        </a:rPr>
                        <a:t>SPMT00181</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祝日マスタ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3,307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66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50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5</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3564716515"/>
                  </a:ext>
                </a:extLst>
              </a:tr>
              <a:tr h="132435">
                <a:tc>
                  <a:txBody>
                    <a:bodyPr/>
                    <a:lstStyle/>
                    <a:p>
                      <a:pPr algn="l" fontAlgn="b"/>
                      <a:r>
                        <a:rPr lang="en-US" sz="800" u="none" strike="noStrike">
                          <a:effectLst/>
                        </a:rPr>
                        <a:t>SPMT00231</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税マスタ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4,864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3384910220"/>
                  </a:ext>
                </a:extLst>
              </a:tr>
              <a:tr h="132435">
                <a:tc>
                  <a:txBody>
                    <a:bodyPr/>
                    <a:lstStyle/>
                    <a:p>
                      <a:pPr algn="l" fontAlgn="b"/>
                      <a:r>
                        <a:rPr lang="en-US" sz="800" u="none" strike="noStrike">
                          <a:effectLst/>
                        </a:rPr>
                        <a:t>SPMT00801AC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組織権限紐づけマスタ</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2,641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32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1</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2341827596"/>
                  </a:ext>
                </a:extLst>
              </a:tr>
              <a:tr h="132435">
                <a:tc>
                  <a:txBody>
                    <a:bodyPr/>
                    <a:lstStyle/>
                    <a:p>
                      <a:pPr algn="l" fontAlgn="b"/>
                      <a:r>
                        <a:rPr lang="en-US" sz="800" u="none" strike="noStrike">
                          <a:effectLst/>
                        </a:rPr>
                        <a:t>SPOR00901AC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zh-TW" altLang="en-US" sz="800" u="none" strike="noStrike">
                          <a:effectLst/>
                        </a:rPr>
                        <a:t>発注依頼締切解除</a:t>
                      </a:r>
                      <a:endParaRPr lang="zh-TW"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1,874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33.5</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17.5</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158334398"/>
                  </a:ext>
                </a:extLst>
              </a:tr>
              <a:tr h="132435">
                <a:tc>
                  <a:txBody>
                    <a:bodyPr/>
                    <a:lstStyle/>
                    <a:p>
                      <a:pPr algn="l" fontAlgn="b"/>
                      <a:r>
                        <a:rPr lang="en-US" sz="800" u="none" strike="noStrike">
                          <a:effectLst/>
                        </a:rPr>
                        <a:t>SPVM00131</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発注承認</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3,298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37</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21</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15</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3</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315279707"/>
                  </a:ext>
                </a:extLst>
              </a:tr>
              <a:tr h="132435">
                <a:tc>
                  <a:txBody>
                    <a:bodyPr/>
                    <a:lstStyle/>
                    <a:p>
                      <a:pPr algn="l" fontAlgn="b"/>
                      <a:r>
                        <a:rPr lang="en-US" sz="800" u="none" strike="noStrike">
                          <a:effectLst/>
                        </a:rPr>
                        <a:t>BCC0050AC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セクション別在庫マスタ連携</a:t>
                      </a:r>
                      <a:r>
                        <a:rPr lang="en-US" altLang="ja-JP" sz="800" u="none" strike="noStrike">
                          <a:effectLst/>
                        </a:rPr>
                        <a:t>_API_</a:t>
                      </a:r>
                      <a:r>
                        <a:rPr lang="ja-JP" altLang="en-US" sz="800" u="none" strike="noStrike">
                          <a:effectLst/>
                        </a:rPr>
                        <a:t>受信</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API</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542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3590553742"/>
                  </a:ext>
                </a:extLst>
              </a:tr>
              <a:tr h="132435">
                <a:tc>
                  <a:txBody>
                    <a:bodyPr/>
                    <a:lstStyle/>
                    <a:p>
                      <a:pPr algn="l" fontAlgn="b"/>
                      <a:r>
                        <a:rPr lang="en-US" sz="800" u="none" strike="noStrike">
                          <a:effectLst/>
                        </a:rPr>
                        <a:t>BCC0050AC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セクション別在庫マスタ</a:t>
                      </a:r>
                      <a:r>
                        <a:rPr lang="en-US" altLang="ja-JP" sz="800" u="none" strike="noStrike">
                          <a:effectLst/>
                        </a:rPr>
                        <a:t>_</a:t>
                      </a:r>
                      <a:r>
                        <a:rPr lang="ja-JP" altLang="en-US" sz="800" u="none" strike="noStrike">
                          <a:effectLst/>
                        </a:rPr>
                        <a:t>受信</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542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27</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9</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2808309655"/>
                  </a:ext>
                </a:extLst>
              </a:tr>
              <a:tr h="132435">
                <a:tc>
                  <a:txBody>
                    <a:bodyPr/>
                    <a:lstStyle/>
                    <a:p>
                      <a:pPr algn="l" fontAlgn="b"/>
                      <a:r>
                        <a:rPr lang="en-US" sz="800" u="none" strike="noStrike">
                          <a:effectLst/>
                        </a:rPr>
                        <a:t>BCC0060AC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zh-TW" altLang="en-US" sz="800" u="none" strike="noStrike">
                          <a:effectLst/>
                        </a:rPr>
                        <a:t>食材使用数量報告書連携</a:t>
                      </a:r>
                      <a:r>
                        <a:rPr lang="en-US" altLang="zh-TW" sz="800" u="none" strike="noStrike">
                          <a:effectLst/>
                        </a:rPr>
                        <a:t>_API_</a:t>
                      </a:r>
                      <a:r>
                        <a:rPr lang="zh-TW" altLang="en-US" sz="800" u="none" strike="noStrike">
                          <a:effectLst/>
                        </a:rPr>
                        <a:t>受信</a:t>
                      </a:r>
                      <a:endParaRPr lang="zh-TW"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API</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1,053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7</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-3</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1179860030"/>
                  </a:ext>
                </a:extLst>
              </a:tr>
              <a:tr h="132435">
                <a:tc>
                  <a:txBody>
                    <a:bodyPr/>
                    <a:lstStyle/>
                    <a:p>
                      <a:pPr algn="l" fontAlgn="b"/>
                      <a:r>
                        <a:rPr lang="en-US" sz="800" u="none" strike="noStrike">
                          <a:effectLst/>
                        </a:rPr>
                        <a:t>BCC0060AC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zh-TW" altLang="en-US" sz="800" u="none" strike="noStrike">
                          <a:effectLst/>
                        </a:rPr>
                        <a:t>食材使用数量報告書</a:t>
                      </a:r>
                      <a:r>
                        <a:rPr lang="en-US" altLang="zh-TW" sz="800" u="none" strike="noStrike">
                          <a:effectLst/>
                        </a:rPr>
                        <a:t>_</a:t>
                      </a:r>
                      <a:r>
                        <a:rPr lang="zh-TW" altLang="en-US" sz="800" u="none" strike="noStrike">
                          <a:effectLst/>
                        </a:rPr>
                        <a:t>受信</a:t>
                      </a:r>
                      <a:endParaRPr lang="zh-TW"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1,053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85588874"/>
                  </a:ext>
                </a:extLst>
              </a:tr>
              <a:tr h="132435">
                <a:tc>
                  <a:txBody>
                    <a:bodyPr/>
                    <a:lstStyle/>
                    <a:p>
                      <a:pPr algn="l" fontAlgn="b"/>
                      <a:r>
                        <a:rPr lang="en-US" sz="800" u="none" strike="noStrike">
                          <a:effectLst/>
                        </a:rPr>
                        <a:t>BCC0060AC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zh-TW" altLang="en-US" sz="800" u="none" strike="noStrike">
                          <a:effectLst/>
                        </a:rPr>
                        <a:t>月間使用予定明細</a:t>
                      </a:r>
                      <a:r>
                        <a:rPr lang="en-US" altLang="zh-TW" sz="800" u="none" strike="noStrike">
                          <a:effectLst/>
                        </a:rPr>
                        <a:t>_</a:t>
                      </a:r>
                      <a:r>
                        <a:rPr lang="zh-TW" altLang="en-US" sz="800" u="none" strike="noStrike">
                          <a:effectLst/>
                        </a:rPr>
                        <a:t>受信</a:t>
                      </a:r>
                      <a:endParaRPr lang="zh-TW"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1,053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9</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-7</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2358231471"/>
                  </a:ext>
                </a:extLst>
              </a:tr>
              <a:tr h="132435">
                <a:tc>
                  <a:txBody>
                    <a:bodyPr/>
                    <a:lstStyle/>
                    <a:p>
                      <a:pPr algn="l" fontAlgn="b"/>
                      <a:r>
                        <a:rPr lang="en-US" sz="800" u="none" strike="noStrike">
                          <a:effectLst/>
                        </a:rPr>
                        <a:t>BCC0070AC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生産指示連携</a:t>
                      </a:r>
                      <a:r>
                        <a:rPr lang="en-US" altLang="ja-JP" sz="800" u="none" strike="noStrike">
                          <a:effectLst/>
                        </a:rPr>
                        <a:t>_</a:t>
                      </a:r>
                      <a:r>
                        <a:rPr lang="en-US" sz="800" u="none" strike="noStrike">
                          <a:effectLst/>
                        </a:rPr>
                        <a:t>API_</a:t>
                      </a:r>
                      <a:r>
                        <a:rPr lang="ja-JP" altLang="en-US" sz="800" u="none" strike="noStrike">
                          <a:effectLst/>
                        </a:rPr>
                        <a:t>受信</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API</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2,883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19</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13</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3103502855"/>
                  </a:ext>
                </a:extLst>
              </a:tr>
              <a:tr h="132435">
                <a:tc>
                  <a:txBody>
                    <a:bodyPr/>
                    <a:lstStyle/>
                    <a:p>
                      <a:pPr algn="l" fontAlgn="b"/>
                      <a:r>
                        <a:rPr lang="en-US" sz="800" u="none" strike="noStrike">
                          <a:effectLst/>
                        </a:rPr>
                        <a:t>BCC0070AC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zh-TW" altLang="en-US" sz="800" u="none" strike="noStrike" dirty="0">
                          <a:effectLst/>
                        </a:rPr>
                        <a:t>生産指示材料構成</a:t>
                      </a:r>
                      <a:r>
                        <a:rPr lang="en-US" altLang="zh-TW" sz="800" u="none" strike="noStrike" dirty="0">
                          <a:effectLst/>
                        </a:rPr>
                        <a:t>(</a:t>
                      </a:r>
                      <a:r>
                        <a:rPr lang="zh-TW" altLang="en-US" sz="800" u="none" strike="noStrike" dirty="0">
                          <a:effectLst/>
                        </a:rPr>
                        <a:t>新</a:t>
                      </a:r>
                      <a:r>
                        <a:rPr lang="en-US" altLang="zh-TW" sz="800" u="none" strike="noStrike" dirty="0">
                          <a:effectLst/>
                        </a:rPr>
                        <a:t>)_</a:t>
                      </a:r>
                      <a:r>
                        <a:rPr lang="zh-TW" altLang="en-US" sz="800" u="none" strike="noStrike" dirty="0">
                          <a:effectLst/>
                        </a:rPr>
                        <a:t>受信</a:t>
                      </a:r>
                      <a:endParaRPr lang="zh-TW" alt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2,883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2285986523"/>
                  </a:ext>
                </a:extLst>
              </a:tr>
              <a:tr h="132435">
                <a:tc>
                  <a:txBody>
                    <a:bodyPr/>
                    <a:lstStyle/>
                    <a:p>
                      <a:pPr algn="l" fontAlgn="b"/>
                      <a:r>
                        <a:rPr lang="en-US" sz="800" u="none" strike="noStrike">
                          <a:effectLst/>
                        </a:rPr>
                        <a:t>BCC0070AC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生産指示番号採番</a:t>
                      </a:r>
                      <a:r>
                        <a:rPr lang="en-US" altLang="ja-JP" sz="800" u="none" strike="noStrike">
                          <a:effectLst/>
                        </a:rPr>
                        <a:t>_</a:t>
                      </a:r>
                      <a:r>
                        <a:rPr lang="ja-JP" altLang="en-US" sz="800" u="none" strike="noStrike">
                          <a:effectLst/>
                        </a:rPr>
                        <a:t>受信</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2,883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3755584465"/>
                  </a:ext>
                </a:extLst>
              </a:tr>
              <a:tr h="132435">
                <a:tc>
                  <a:txBody>
                    <a:bodyPr/>
                    <a:lstStyle/>
                    <a:p>
                      <a:pPr algn="l" fontAlgn="b"/>
                      <a:r>
                        <a:rPr lang="en-US" sz="800" u="none" strike="noStrike">
                          <a:effectLst/>
                        </a:rPr>
                        <a:t>BCC0070AC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受注別生産ヘッダ</a:t>
                      </a:r>
                      <a:r>
                        <a:rPr lang="en-US" altLang="ja-JP" sz="800" u="none" strike="noStrike">
                          <a:effectLst/>
                        </a:rPr>
                        <a:t>_</a:t>
                      </a:r>
                      <a:r>
                        <a:rPr lang="ja-JP" altLang="en-US" sz="800" u="none" strike="noStrike">
                          <a:effectLst/>
                        </a:rPr>
                        <a:t>受信</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2,883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-12</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2022586690"/>
                  </a:ext>
                </a:extLst>
              </a:tr>
              <a:tr h="132435">
                <a:tc>
                  <a:txBody>
                    <a:bodyPr/>
                    <a:lstStyle/>
                    <a:p>
                      <a:pPr algn="l" fontAlgn="b"/>
                      <a:r>
                        <a:rPr lang="en-US" sz="800" u="none" strike="noStrike">
                          <a:effectLst/>
                        </a:rPr>
                        <a:t>BCC0070AC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zh-TW" altLang="en-US" sz="800" u="none" strike="noStrike">
                          <a:effectLst/>
                        </a:rPr>
                        <a:t>受注別生産明細</a:t>
                      </a:r>
                      <a:r>
                        <a:rPr lang="en-US" altLang="zh-TW" sz="800" u="none" strike="noStrike">
                          <a:effectLst/>
                        </a:rPr>
                        <a:t>_</a:t>
                      </a:r>
                      <a:r>
                        <a:rPr lang="zh-TW" altLang="en-US" sz="800" u="none" strike="noStrike">
                          <a:effectLst/>
                        </a:rPr>
                        <a:t>受信</a:t>
                      </a:r>
                      <a:endParaRPr lang="zh-TW"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2,883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1819690593"/>
                  </a:ext>
                </a:extLst>
              </a:tr>
              <a:tr h="132435">
                <a:tc>
                  <a:txBody>
                    <a:bodyPr/>
                    <a:lstStyle/>
                    <a:p>
                      <a:pPr algn="l" fontAlgn="b"/>
                      <a:r>
                        <a:rPr lang="en-US" sz="800" u="none" strike="noStrike">
                          <a:effectLst/>
                        </a:rPr>
                        <a:t>BCC0080AC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配合構成ヘッダ</a:t>
                      </a:r>
                      <a:r>
                        <a:rPr lang="en-US" altLang="ja-JP" sz="800" u="none" strike="noStrike">
                          <a:effectLst/>
                        </a:rPr>
                        <a:t>_</a:t>
                      </a:r>
                      <a:r>
                        <a:rPr lang="ja-JP" altLang="en-US" sz="800" u="none" strike="noStrike">
                          <a:effectLst/>
                        </a:rPr>
                        <a:t>受信</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1,448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1</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2333326693"/>
                  </a:ext>
                </a:extLst>
              </a:tr>
              <a:tr h="132435">
                <a:tc>
                  <a:txBody>
                    <a:bodyPr/>
                    <a:lstStyle/>
                    <a:p>
                      <a:pPr algn="l" fontAlgn="b"/>
                      <a:r>
                        <a:rPr lang="en-US" sz="800" u="none" strike="noStrike">
                          <a:effectLst/>
                        </a:rPr>
                        <a:t>BCC0080AC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メニュー企画・生産用材料構成</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1,448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954811799"/>
                  </a:ext>
                </a:extLst>
              </a:tr>
              <a:tr h="132435">
                <a:tc>
                  <a:txBody>
                    <a:bodyPr/>
                    <a:lstStyle/>
                    <a:p>
                      <a:pPr algn="l" fontAlgn="b"/>
                      <a:r>
                        <a:rPr lang="en-US" sz="800" u="none" strike="noStrike">
                          <a:effectLst/>
                        </a:rPr>
                        <a:t>BCC0080AC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メニュー企画</a:t>
                      </a:r>
                      <a:r>
                        <a:rPr lang="en-US" altLang="ja-JP" sz="800" u="none" strike="noStrike">
                          <a:effectLst/>
                        </a:rPr>
                        <a:t>_</a:t>
                      </a:r>
                      <a:r>
                        <a:rPr lang="ja-JP" altLang="en-US" sz="800" u="none" strike="noStrike">
                          <a:effectLst/>
                        </a:rPr>
                        <a:t>受信</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1,448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3175939992"/>
                  </a:ext>
                </a:extLst>
              </a:tr>
              <a:tr h="132435">
                <a:tc>
                  <a:txBody>
                    <a:bodyPr/>
                    <a:lstStyle/>
                    <a:p>
                      <a:pPr algn="l" fontAlgn="b"/>
                      <a:r>
                        <a:rPr lang="en-US" sz="800" u="none" strike="noStrike">
                          <a:effectLst/>
                        </a:rPr>
                        <a:t>BCC0080AC</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zh-TW" altLang="en-US" sz="800" u="none" strike="noStrike">
                          <a:effectLst/>
                        </a:rPr>
                        <a:t>生産用材料構成</a:t>
                      </a:r>
                      <a:r>
                        <a:rPr lang="en-US" altLang="zh-TW" sz="800" u="none" strike="noStrike">
                          <a:effectLst/>
                        </a:rPr>
                        <a:t>_</a:t>
                      </a:r>
                      <a:r>
                        <a:rPr lang="zh-TW" altLang="en-US" sz="800" u="none" strike="noStrike">
                          <a:effectLst/>
                        </a:rPr>
                        <a:t>受信</a:t>
                      </a:r>
                      <a:endParaRPr lang="zh-TW"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l" fontAlgn="b"/>
                      <a:r>
                        <a:rPr lang="en-US" sz="800" u="none" strike="noStrike">
                          <a:effectLst/>
                        </a:rPr>
                        <a:t>   1,448 </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20</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Meiryo UI" panose="020B0604030504040204" pitchFamily="50" charset="-128"/>
                        <a:ea typeface="Meiryo UI" panose="020B0604030504040204" pitchFamily="50" charset="-128"/>
                      </a:endParaRPr>
                    </a:p>
                  </a:txBody>
                  <a:tcPr marL="6620" marR="6620" marT="6620" marB="0" anchor="b">
                    <a:solidFill>
                      <a:schemeClr val="bg1"/>
                    </a:solidFill>
                  </a:tcPr>
                </a:tc>
                <a:extLst>
                  <a:ext uri="{0D108BD9-81ED-4DB2-BD59-A6C34878D82A}">
                    <a16:rowId xmlns:a16="http://schemas.microsoft.com/office/drawing/2014/main" val="3298001472"/>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t>5</a:t>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ja-JP" altLang="en-US"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製造</a:t>
            </a:r>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分析</a:t>
            </a:r>
            <a:endParaRPr lang="en-US" altLang="ja-JP"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sp>
        <p:nvSpPr>
          <p:cNvPr id="5" name="Rectangle 4"/>
          <p:cNvSpPr/>
          <p:nvPr/>
        </p:nvSpPr>
        <p:spPr>
          <a:xfrm>
            <a:off x="397934" y="1422400"/>
            <a:ext cx="8441266" cy="5181599"/>
          </a:xfrm>
          <a:prstGeom prst="rect">
            <a:avLst/>
          </a:prstGeom>
          <a:noFill/>
          <a:ln>
            <a:noFill/>
          </a:ln>
          <a:effectLst>
            <a:outerShdw blurRad="50800" dist="50800" dir="5400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pPr fontAlgn="ctr">
              <a:lnSpc>
                <a:spcPct val="150000"/>
              </a:lnSpc>
            </a:pPr>
            <a:r>
              <a:rPr lang="ja-JP" altLang="en-US" sz="1400" b="1" dirty="0" smtClean="0">
                <a:solidFill>
                  <a:schemeClr val="tx1"/>
                </a:solidFill>
                <a:sym typeface="+mn-ea"/>
              </a:rPr>
              <a:t>①　</a:t>
            </a:r>
            <a:r>
              <a:rPr lang="ja-JP" altLang="en-US" sz="1400" b="1" dirty="0">
                <a:solidFill>
                  <a:schemeClr val="tx1"/>
                </a:solidFill>
              </a:rPr>
              <a:t>認</a:t>
            </a:r>
            <a:r>
              <a:rPr lang="ja-JP" altLang="en-US" sz="1400" b="1" dirty="0" smtClean="0">
                <a:solidFill>
                  <a:schemeClr val="tx1"/>
                </a:solidFill>
              </a:rPr>
              <a:t>識</a:t>
            </a:r>
            <a:endParaRPr lang="en-US" altLang="ja-JP" sz="1400" b="1" dirty="0" smtClean="0">
              <a:solidFill>
                <a:schemeClr val="tx1"/>
              </a:solidFill>
            </a:endParaRPr>
          </a:p>
          <a:p>
            <a:pPr fontAlgn="ctr">
              <a:lnSpc>
                <a:spcPct val="150000"/>
              </a:lnSpc>
            </a:pPr>
            <a:r>
              <a:rPr lang="ja-JP" altLang="en-US" sz="1400" b="1" dirty="0">
                <a:solidFill>
                  <a:schemeClr val="tx1"/>
                </a:solidFill>
                <a:sym typeface="+mn-ea"/>
              </a:rPr>
              <a:t>１．</a:t>
            </a:r>
            <a:r>
              <a:rPr lang="ja-JP" altLang="en-US" sz="1400" b="1" dirty="0" smtClean="0">
                <a:solidFill>
                  <a:schemeClr val="tx1"/>
                </a:solidFill>
              </a:rPr>
              <a:t>工</a:t>
            </a:r>
            <a:r>
              <a:rPr lang="ja-JP" altLang="en-US" sz="1400" b="1" dirty="0">
                <a:solidFill>
                  <a:schemeClr val="tx1"/>
                </a:solidFill>
              </a:rPr>
              <a:t>数差分が大きい（</a:t>
            </a:r>
            <a:r>
              <a:rPr lang="en-US" altLang="ja-JP" sz="1400" b="1" dirty="0">
                <a:solidFill>
                  <a:schemeClr val="tx1"/>
                </a:solidFill>
              </a:rPr>
              <a:t>Over</a:t>
            </a:r>
            <a:r>
              <a:rPr lang="ja-JP" altLang="en-US" sz="1400" b="1" dirty="0">
                <a:solidFill>
                  <a:schemeClr val="tx1"/>
                </a:solidFill>
              </a:rPr>
              <a:t>）機能が多数発生しております。</a:t>
            </a:r>
            <a:r>
              <a:rPr lang="ja-JP" altLang="en-US" sz="1400" dirty="0" smtClean="0">
                <a:solidFill>
                  <a:schemeClr val="tx1"/>
                </a:solidFill>
                <a:sym typeface="+mn-ea"/>
              </a:rPr>
              <a:t>　</a:t>
            </a:r>
            <a:endParaRPr lang="en-US" altLang="ja-JP" sz="1400" dirty="0" smtClean="0">
              <a:solidFill>
                <a:schemeClr val="tx1"/>
              </a:solidFill>
              <a:sym typeface="+mn-ea"/>
            </a:endParaRPr>
          </a:p>
          <a:p>
            <a:pPr fontAlgn="ctr">
              <a:lnSpc>
                <a:spcPct val="150000"/>
              </a:lnSpc>
            </a:pPr>
            <a:r>
              <a:rPr lang="ja-JP" altLang="en-US" sz="1400" dirty="0" smtClean="0">
                <a:solidFill>
                  <a:schemeClr val="tx1"/>
                </a:solidFill>
                <a:sym typeface="+mn-ea"/>
              </a:rPr>
              <a:t>（</a:t>
            </a:r>
            <a:r>
              <a:rPr lang="ja-JP" altLang="en-US" sz="1400" dirty="0" smtClean="0">
                <a:solidFill>
                  <a:schemeClr val="tx1"/>
                </a:solidFill>
                <a:sym typeface="+mn-ea"/>
              </a:rPr>
              <a:t>単位：時間）</a:t>
            </a:r>
            <a:r>
              <a:rPr lang="en-US" altLang="ja-JP" sz="1400" dirty="0">
                <a:solidFill>
                  <a:schemeClr val="tx1"/>
                </a:solidFill>
                <a:sym typeface="+mn-ea"/>
              </a:rPr>
              <a:t>	</a:t>
            </a:r>
            <a:endParaRPr lang="en-US" altLang="ja-JP" sz="1400" dirty="0" smtClean="0">
              <a:solidFill>
                <a:schemeClr val="tx1"/>
              </a:solidFill>
              <a:sym typeface="+mn-ea"/>
            </a:endParaRPr>
          </a:p>
          <a:p>
            <a:pPr fontAlgn="ctr">
              <a:lnSpc>
                <a:spcPct val="150000"/>
              </a:lnSpc>
            </a:pPr>
            <a:r>
              <a:rPr lang="ja-JP" altLang="en-US" sz="1400" dirty="0" smtClean="0">
                <a:solidFill>
                  <a:schemeClr val="tx1"/>
                </a:solidFill>
                <a:sym typeface="+mn-ea"/>
              </a:rPr>
              <a:t>工</a:t>
            </a:r>
            <a:r>
              <a:rPr lang="ja-JP" altLang="en-US" sz="1400" dirty="0">
                <a:solidFill>
                  <a:schemeClr val="tx1"/>
                </a:solidFill>
                <a:sym typeface="+mn-ea"/>
              </a:rPr>
              <a:t>場マスタ：</a:t>
            </a:r>
            <a:r>
              <a:rPr lang="en-US" altLang="ja-JP" sz="1400" dirty="0">
                <a:solidFill>
                  <a:schemeClr val="tx1"/>
                </a:solidFill>
                <a:sym typeface="+mn-ea"/>
              </a:rPr>
              <a:t>20</a:t>
            </a:r>
          </a:p>
          <a:p>
            <a:pPr fontAlgn="ctr">
              <a:lnSpc>
                <a:spcPct val="150000"/>
              </a:lnSpc>
            </a:pPr>
            <a:r>
              <a:rPr lang="ja-JP" altLang="en-US" sz="1400" dirty="0">
                <a:solidFill>
                  <a:schemeClr val="tx1"/>
                </a:solidFill>
                <a:sym typeface="+mn-ea"/>
              </a:rPr>
              <a:t>調達品マスタ：</a:t>
            </a:r>
            <a:r>
              <a:rPr lang="en-US" altLang="ja-JP" sz="1400" dirty="0">
                <a:solidFill>
                  <a:schemeClr val="tx1"/>
                </a:solidFill>
                <a:sym typeface="+mn-ea"/>
              </a:rPr>
              <a:t>16</a:t>
            </a:r>
          </a:p>
          <a:p>
            <a:pPr fontAlgn="ctr">
              <a:lnSpc>
                <a:spcPct val="150000"/>
              </a:lnSpc>
            </a:pPr>
            <a:r>
              <a:rPr lang="ja-JP" altLang="en-US" sz="1400" dirty="0">
                <a:solidFill>
                  <a:schemeClr val="tx1"/>
                </a:solidFill>
                <a:sym typeface="+mn-ea"/>
              </a:rPr>
              <a:t>調達品単位換算マスタ：</a:t>
            </a:r>
            <a:r>
              <a:rPr lang="en-US" altLang="ja-JP" sz="1400" dirty="0">
                <a:solidFill>
                  <a:schemeClr val="tx1"/>
                </a:solidFill>
                <a:sym typeface="+mn-ea"/>
              </a:rPr>
              <a:t>36</a:t>
            </a:r>
          </a:p>
          <a:p>
            <a:pPr fontAlgn="ctr">
              <a:lnSpc>
                <a:spcPct val="150000"/>
              </a:lnSpc>
            </a:pPr>
            <a:r>
              <a:rPr lang="ja-JP" altLang="en-US" sz="1400" dirty="0">
                <a:solidFill>
                  <a:schemeClr val="tx1"/>
                </a:solidFill>
                <a:sym typeface="+mn-ea"/>
              </a:rPr>
              <a:t>名称マスタ：</a:t>
            </a:r>
            <a:r>
              <a:rPr lang="en-US" altLang="ja-JP" sz="1400" dirty="0">
                <a:solidFill>
                  <a:schemeClr val="tx1"/>
                </a:solidFill>
                <a:sym typeface="+mn-ea"/>
              </a:rPr>
              <a:t>24</a:t>
            </a:r>
          </a:p>
          <a:p>
            <a:pPr fontAlgn="ctr">
              <a:lnSpc>
                <a:spcPct val="150000"/>
              </a:lnSpc>
            </a:pPr>
            <a:r>
              <a:rPr lang="ja-JP" altLang="en-US" sz="1400" dirty="0">
                <a:solidFill>
                  <a:schemeClr val="tx1"/>
                </a:solidFill>
                <a:sym typeface="+mn-ea"/>
              </a:rPr>
              <a:t>祝日マスタ：</a:t>
            </a:r>
            <a:r>
              <a:rPr lang="en-US" altLang="ja-JP" sz="1400" dirty="0">
                <a:solidFill>
                  <a:schemeClr val="tx1"/>
                </a:solidFill>
                <a:sym typeface="+mn-ea"/>
              </a:rPr>
              <a:t>50</a:t>
            </a:r>
          </a:p>
          <a:p>
            <a:pPr fontAlgn="ctr">
              <a:lnSpc>
                <a:spcPct val="150000"/>
              </a:lnSpc>
            </a:pPr>
            <a:r>
              <a:rPr lang="ja-JP" altLang="en-US" sz="1400" dirty="0">
                <a:solidFill>
                  <a:schemeClr val="tx1"/>
                </a:solidFill>
                <a:sym typeface="+mn-ea"/>
              </a:rPr>
              <a:t>税マスタ：</a:t>
            </a:r>
            <a:r>
              <a:rPr lang="en-US" altLang="ja-JP" sz="1400" dirty="0">
                <a:solidFill>
                  <a:schemeClr val="tx1"/>
                </a:solidFill>
                <a:sym typeface="+mn-ea"/>
              </a:rPr>
              <a:t>26</a:t>
            </a:r>
          </a:p>
          <a:p>
            <a:pPr fontAlgn="ctr">
              <a:lnSpc>
                <a:spcPct val="150000"/>
              </a:lnSpc>
            </a:pPr>
            <a:r>
              <a:rPr lang="ja-JP" altLang="en-US" sz="1400" dirty="0">
                <a:solidFill>
                  <a:schemeClr val="tx1"/>
                </a:solidFill>
                <a:sym typeface="+mn-ea"/>
              </a:rPr>
              <a:t>発注承認：</a:t>
            </a:r>
            <a:r>
              <a:rPr lang="en-US" altLang="ja-JP" sz="1400" dirty="0" smtClean="0">
                <a:solidFill>
                  <a:schemeClr val="tx1"/>
                </a:solidFill>
                <a:sym typeface="+mn-ea"/>
              </a:rPr>
              <a:t>21</a:t>
            </a:r>
          </a:p>
          <a:p>
            <a:pPr fontAlgn="ctr">
              <a:lnSpc>
                <a:spcPct val="150000"/>
              </a:lnSpc>
            </a:pPr>
            <a:r>
              <a:rPr lang="ja-JP" altLang="en-US" sz="1400" b="1" dirty="0">
                <a:solidFill>
                  <a:schemeClr val="tx1"/>
                </a:solidFill>
                <a:sym typeface="+mn-ea"/>
              </a:rPr>
              <a:t>２．</a:t>
            </a:r>
            <a:r>
              <a:rPr lang="ja-JP" altLang="en-US" sz="1400" b="1" dirty="0" smtClean="0">
                <a:solidFill>
                  <a:schemeClr val="tx1"/>
                </a:solidFill>
              </a:rPr>
              <a:t>指</a:t>
            </a:r>
            <a:r>
              <a:rPr lang="ja-JP" altLang="en-US" sz="1400" b="1" dirty="0">
                <a:solidFill>
                  <a:schemeClr val="tx1"/>
                </a:solidFill>
              </a:rPr>
              <a:t>摘件数</a:t>
            </a:r>
            <a:r>
              <a:rPr lang="ja-JP" altLang="en-US" sz="1400" b="1" dirty="0" smtClean="0">
                <a:solidFill>
                  <a:schemeClr val="tx1"/>
                </a:solidFill>
              </a:rPr>
              <a:t>（レ</a:t>
            </a:r>
            <a:r>
              <a:rPr lang="ja-JP" altLang="en-US" sz="1400" b="1" dirty="0">
                <a:solidFill>
                  <a:schemeClr val="tx1"/>
                </a:solidFill>
              </a:rPr>
              <a:t>ビュー指摘）が非常に多い状況でした</a:t>
            </a:r>
            <a:r>
              <a:rPr lang="ja-JP" altLang="en-US" sz="1400" b="1" dirty="0" smtClean="0">
                <a:solidFill>
                  <a:schemeClr val="tx1"/>
                </a:solidFill>
              </a:rPr>
              <a:t>。</a:t>
            </a:r>
            <a:endParaRPr lang="en-US" altLang="ja-JP" sz="1400" b="1" dirty="0" smtClean="0">
              <a:solidFill>
                <a:schemeClr val="tx1"/>
              </a:solidFill>
            </a:endParaRPr>
          </a:p>
          <a:p>
            <a:pPr fontAlgn="ctr">
              <a:lnSpc>
                <a:spcPct val="150000"/>
              </a:lnSpc>
            </a:pPr>
            <a:r>
              <a:rPr lang="ja-JP" altLang="en-US" sz="1400" dirty="0">
                <a:solidFill>
                  <a:schemeClr val="tx1"/>
                </a:solidFill>
              </a:rPr>
              <a:t>（単</a:t>
            </a:r>
            <a:r>
              <a:rPr lang="ja-JP" altLang="en-US" sz="1400" dirty="0" smtClean="0">
                <a:solidFill>
                  <a:schemeClr val="tx1"/>
                </a:solidFill>
              </a:rPr>
              <a:t>位：件）</a:t>
            </a:r>
            <a:endParaRPr lang="en-US" altLang="ja-JP" sz="1400" dirty="0" smtClean="0">
              <a:solidFill>
                <a:schemeClr val="tx1"/>
              </a:solidFill>
            </a:endParaRPr>
          </a:p>
          <a:p>
            <a:pPr fontAlgn="ctr">
              <a:lnSpc>
                <a:spcPct val="150000"/>
              </a:lnSpc>
            </a:pPr>
            <a:r>
              <a:rPr lang="ja-JP" altLang="en-US" sz="1400" dirty="0" smtClean="0">
                <a:solidFill>
                  <a:schemeClr val="tx1"/>
                </a:solidFill>
                <a:sym typeface="+mn-ea"/>
              </a:rPr>
              <a:t>分</a:t>
            </a:r>
            <a:r>
              <a:rPr lang="ja-JP" altLang="en-US" sz="1400" dirty="0">
                <a:solidFill>
                  <a:schemeClr val="tx1"/>
                </a:solidFill>
                <a:sym typeface="+mn-ea"/>
              </a:rPr>
              <a:t>類マスタ	</a:t>
            </a:r>
            <a:r>
              <a:rPr lang="en-US" altLang="ja-JP" sz="1400" dirty="0">
                <a:solidFill>
                  <a:schemeClr val="tx1"/>
                </a:solidFill>
                <a:sym typeface="+mn-ea"/>
              </a:rPr>
              <a:t>:</a:t>
            </a:r>
            <a:r>
              <a:rPr lang="en-US" altLang="ja-JP" sz="1400" dirty="0" smtClean="0">
                <a:solidFill>
                  <a:schemeClr val="tx1"/>
                </a:solidFill>
                <a:sym typeface="+mn-ea"/>
              </a:rPr>
              <a:t>26</a:t>
            </a:r>
          </a:p>
          <a:p>
            <a:pPr fontAlgn="ctr">
              <a:lnSpc>
                <a:spcPct val="150000"/>
              </a:lnSpc>
            </a:pPr>
            <a:r>
              <a:rPr lang="ja-JP" altLang="en-US" sz="1400" dirty="0" smtClean="0">
                <a:solidFill>
                  <a:schemeClr val="tx1"/>
                </a:solidFill>
                <a:sym typeface="+mn-ea"/>
              </a:rPr>
              <a:t>調</a:t>
            </a:r>
            <a:r>
              <a:rPr lang="ja-JP" altLang="en-US" sz="1400" dirty="0">
                <a:solidFill>
                  <a:schemeClr val="tx1"/>
                </a:solidFill>
                <a:sym typeface="+mn-ea"/>
              </a:rPr>
              <a:t>達品マスタ</a:t>
            </a:r>
            <a:r>
              <a:rPr lang="en-US" altLang="ja-JP" sz="1400" dirty="0">
                <a:solidFill>
                  <a:schemeClr val="tx1"/>
                </a:solidFill>
                <a:sym typeface="+mn-ea"/>
              </a:rPr>
              <a:t>:</a:t>
            </a:r>
            <a:r>
              <a:rPr lang="en-US" altLang="ja-JP" sz="1400" dirty="0" smtClean="0">
                <a:solidFill>
                  <a:schemeClr val="tx1"/>
                </a:solidFill>
                <a:sym typeface="+mn-ea"/>
              </a:rPr>
              <a:t>25</a:t>
            </a:r>
            <a:endParaRPr lang="en-US" altLang="ja-JP" sz="1400" dirty="0">
              <a:solidFill>
                <a:schemeClr val="tx1"/>
              </a:solidFill>
              <a:sym typeface="+mn-ea"/>
            </a:endParaRPr>
          </a:p>
          <a:p>
            <a:pPr fontAlgn="ctr">
              <a:lnSpc>
                <a:spcPct val="150000"/>
              </a:lnSpc>
            </a:pPr>
            <a:r>
              <a:rPr lang="ja-JP" altLang="en-US" sz="1400" dirty="0">
                <a:solidFill>
                  <a:schemeClr val="tx1"/>
                </a:solidFill>
                <a:sym typeface="+mn-ea"/>
              </a:rPr>
              <a:t>名称マスタ	</a:t>
            </a:r>
            <a:r>
              <a:rPr lang="en-US" altLang="ja-JP" sz="1400" dirty="0">
                <a:solidFill>
                  <a:schemeClr val="tx1"/>
                </a:solidFill>
                <a:sym typeface="+mn-ea"/>
              </a:rPr>
              <a:t>:18</a:t>
            </a:r>
          </a:p>
          <a:p>
            <a:pPr fontAlgn="ctr">
              <a:lnSpc>
                <a:spcPct val="150000"/>
              </a:lnSpc>
            </a:pPr>
            <a:r>
              <a:rPr lang="ja-JP" altLang="en-US" sz="1400" dirty="0">
                <a:solidFill>
                  <a:schemeClr val="tx1"/>
                </a:solidFill>
                <a:sym typeface="+mn-ea"/>
              </a:rPr>
              <a:t>発注承認	</a:t>
            </a:r>
            <a:r>
              <a:rPr lang="en-US" altLang="ja-JP" sz="1400" dirty="0">
                <a:solidFill>
                  <a:schemeClr val="tx1"/>
                </a:solidFill>
                <a:sym typeface="+mn-ea"/>
              </a:rPr>
              <a:t>:15</a:t>
            </a:r>
          </a:p>
          <a:p>
            <a:pPr fontAlgn="ctr">
              <a:lnSpc>
                <a:spcPct val="150000"/>
              </a:lnSpc>
            </a:pPr>
            <a:r>
              <a:rPr lang="ja-JP" altLang="en-US" sz="1400" dirty="0">
                <a:solidFill>
                  <a:schemeClr val="tx1"/>
                </a:solidFill>
                <a:sym typeface="+mn-ea"/>
              </a:rPr>
              <a:t>仕入先マスタ</a:t>
            </a:r>
            <a:r>
              <a:rPr lang="en-US" altLang="ja-JP" sz="1400" dirty="0">
                <a:solidFill>
                  <a:schemeClr val="tx1"/>
                </a:solidFill>
                <a:sym typeface="+mn-ea"/>
              </a:rPr>
              <a:t>:12	</a:t>
            </a:r>
          </a:p>
          <a:p>
            <a:pPr fontAlgn="ctr">
              <a:lnSpc>
                <a:spcPct val="150000"/>
              </a:lnSpc>
            </a:pPr>
            <a:endParaRPr lang="en-US" altLang="ja-JP" sz="1400" dirty="0">
              <a:solidFill>
                <a:schemeClr val="tx1"/>
              </a:solidFill>
              <a:sym typeface="+mn-ea"/>
            </a:endParaRPr>
          </a:p>
          <a:p>
            <a:pPr fontAlgn="ctr">
              <a:lnSpc>
                <a:spcPct val="150000"/>
              </a:lnSpc>
            </a:pPr>
            <a:r>
              <a:rPr lang="en-US" altLang="ja-JP" sz="1400" dirty="0">
                <a:solidFill>
                  <a:schemeClr val="tx1"/>
                </a:solidFill>
                <a:sym typeface="+mn-ea"/>
              </a:rPr>
              <a:t>		</a:t>
            </a:r>
          </a:p>
        </p:txBody>
      </p:sp>
      <p:graphicFrame>
        <p:nvGraphicFramePr>
          <p:cNvPr id="9" name="Chart 8"/>
          <p:cNvGraphicFramePr>
            <a:graphicFrameLocks/>
          </p:cNvGraphicFramePr>
          <p:nvPr>
            <p:extLst>
              <p:ext uri="{D42A27DB-BD31-4B8C-83A1-F6EECF244321}">
                <p14:modId xmlns:p14="http://schemas.microsoft.com/office/powerpoint/2010/main" val="3852846055"/>
              </p:ext>
            </p:extLst>
          </p:nvPr>
        </p:nvGraphicFramePr>
        <p:xfrm>
          <a:off x="4942086" y="910047"/>
          <a:ext cx="5393267" cy="254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p:cNvGraphicFramePr>
            <a:graphicFrameLocks/>
          </p:cNvGraphicFramePr>
          <p:nvPr>
            <p:extLst>
              <p:ext uri="{D42A27DB-BD31-4B8C-83A1-F6EECF244321}">
                <p14:modId xmlns:p14="http://schemas.microsoft.com/office/powerpoint/2010/main" val="2485854438"/>
              </p:ext>
            </p:extLst>
          </p:nvPr>
        </p:nvGraphicFramePr>
        <p:xfrm>
          <a:off x="4950553" y="3474269"/>
          <a:ext cx="5384800" cy="275907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97127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t>6</a:t>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ja-JP" altLang="en-US"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製造</a:t>
            </a:r>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分析</a:t>
            </a:r>
            <a:endParaRPr lang="en-US" altLang="ja-JP"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sp>
        <p:nvSpPr>
          <p:cNvPr id="5" name="Rectangle 4"/>
          <p:cNvSpPr/>
          <p:nvPr/>
        </p:nvSpPr>
        <p:spPr>
          <a:xfrm>
            <a:off x="753533" y="956734"/>
            <a:ext cx="9811808" cy="4792133"/>
          </a:xfrm>
          <a:prstGeom prst="rect">
            <a:avLst/>
          </a:prstGeom>
          <a:noFill/>
          <a:ln>
            <a:noFill/>
          </a:ln>
          <a:effectLst>
            <a:outerShdw blurRad="50800" dist="50800" dir="5400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400" b="1" dirty="0" smtClean="0">
                <a:solidFill>
                  <a:schemeClr val="tx1"/>
                </a:solidFill>
              </a:rPr>
              <a:t>② </a:t>
            </a:r>
            <a:r>
              <a:rPr lang="ja-JP" altLang="en-US" sz="1400" b="1" dirty="0">
                <a:solidFill>
                  <a:schemeClr val="tx1"/>
                </a:solidFill>
              </a:rPr>
              <a:t>原</a:t>
            </a:r>
            <a:r>
              <a:rPr lang="ja-JP" altLang="en-US" sz="1400" b="1" dirty="0" smtClean="0">
                <a:solidFill>
                  <a:schemeClr val="tx1"/>
                </a:solidFill>
              </a:rPr>
              <a:t>因</a:t>
            </a:r>
            <a:endParaRPr lang="en-US" altLang="ja-JP" sz="1400" b="1" dirty="0" smtClean="0">
              <a:solidFill>
                <a:schemeClr val="tx1"/>
              </a:solidFill>
            </a:endParaRPr>
          </a:p>
          <a:p>
            <a:endParaRPr lang="ja-JP" altLang="en-US" sz="1400" dirty="0">
              <a:solidFill>
                <a:schemeClr val="tx1"/>
              </a:solidFill>
            </a:endParaRPr>
          </a:p>
          <a:p>
            <a:r>
              <a:rPr lang="ja-JP" altLang="en-US" sz="1400" dirty="0">
                <a:solidFill>
                  <a:schemeClr val="tx1"/>
                </a:solidFill>
              </a:rPr>
              <a:t>主な原因は以下のとおりです</a:t>
            </a:r>
            <a:r>
              <a:rPr lang="ja-JP" altLang="en-US" sz="1400" dirty="0" smtClean="0">
                <a:solidFill>
                  <a:schemeClr val="tx1"/>
                </a:solidFill>
              </a:rPr>
              <a:t>。</a:t>
            </a:r>
            <a:endParaRPr lang="en-US" altLang="ja-JP" sz="1400" dirty="0" smtClean="0">
              <a:solidFill>
                <a:schemeClr val="tx1"/>
              </a:solidFill>
            </a:endParaRPr>
          </a:p>
          <a:p>
            <a:endParaRPr lang="ja-JP" altLang="en-US" sz="1400" dirty="0">
              <a:solidFill>
                <a:schemeClr val="tx1"/>
              </a:solidFill>
            </a:endParaRPr>
          </a:p>
          <a:p>
            <a:r>
              <a:rPr lang="ja-JP" altLang="en-US" sz="1400" dirty="0" smtClean="0">
                <a:solidFill>
                  <a:schemeClr val="tx1"/>
                </a:solidFill>
              </a:rPr>
              <a:t>１．プ</a:t>
            </a:r>
            <a:r>
              <a:rPr lang="ja-JP" altLang="en-US" sz="1400" dirty="0">
                <a:solidFill>
                  <a:schemeClr val="tx1"/>
                </a:solidFill>
              </a:rPr>
              <a:t>ロジェクト初</a:t>
            </a:r>
            <a:r>
              <a:rPr lang="ja-JP" altLang="en-US" sz="1400" dirty="0" smtClean="0">
                <a:solidFill>
                  <a:schemeClr val="tx1"/>
                </a:solidFill>
              </a:rPr>
              <a:t>期の</a:t>
            </a:r>
            <a:r>
              <a:rPr lang="ja-JP" altLang="en-US" sz="1400" dirty="0">
                <a:solidFill>
                  <a:schemeClr val="tx1"/>
                </a:solidFill>
              </a:rPr>
              <a:t>特性</a:t>
            </a:r>
            <a:br>
              <a:rPr lang="ja-JP" altLang="en-US" sz="1400" dirty="0">
                <a:solidFill>
                  <a:schemeClr val="tx1"/>
                </a:solidFill>
              </a:rPr>
            </a:br>
            <a:r>
              <a:rPr lang="ja-JP" altLang="en-US" sz="1400" dirty="0">
                <a:solidFill>
                  <a:schemeClr val="tx1"/>
                </a:solidFill>
              </a:rPr>
              <a:t>工数差分が大きい機能は、主にプロジェクトの初</a:t>
            </a:r>
            <a:r>
              <a:rPr lang="ja-JP" altLang="en-US" sz="1400" dirty="0" smtClean="0">
                <a:solidFill>
                  <a:schemeClr val="tx1"/>
                </a:solidFill>
              </a:rPr>
              <a:t>期で</a:t>
            </a:r>
            <a:r>
              <a:rPr lang="ja-JP" altLang="en-US" sz="1400" dirty="0">
                <a:solidFill>
                  <a:schemeClr val="tx1"/>
                </a:solidFill>
              </a:rPr>
              <a:t>実装されております。</a:t>
            </a:r>
            <a:br>
              <a:rPr lang="ja-JP" altLang="en-US" sz="1400" dirty="0">
                <a:solidFill>
                  <a:schemeClr val="tx1"/>
                </a:solidFill>
              </a:rPr>
            </a:br>
            <a:r>
              <a:rPr lang="ja-JP" altLang="en-US" sz="1400" dirty="0">
                <a:solidFill>
                  <a:schemeClr val="tx1"/>
                </a:solidFill>
              </a:rPr>
              <a:t>当該時点では、</a:t>
            </a:r>
            <a:br>
              <a:rPr lang="ja-JP" altLang="en-US" sz="1400" dirty="0">
                <a:solidFill>
                  <a:schemeClr val="tx1"/>
                </a:solidFill>
              </a:rPr>
            </a:br>
            <a:r>
              <a:rPr lang="ja-JP" altLang="en-US" sz="1400" dirty="0">
                <a:solidFill>
                  <a:schemeClr val="tx1"/>
                </a:solidFill>
              </a:rPr>
              <a:t>・開発メンバーがコーディングルール、ベースソース、システムアーキテクチャに十分習熟していなかったこと</a:t>
            </a:r>
            <a:br>
              <a:rPr lang="ja-JP" altLang="en-US" sz="1400" dirty="0">
                <a:solidFill>
                  <a:schemeClr val="tx1"/>
                </a:solidFill>
              </a:rPr>
            </a:br>
            <a:r>
              <a:rPr lang="ja-JP" altLang="en-US" sz="1400" dirty="0">
                <a:solidFill>
                  <a:schemeClr val="tx1"/>
                </a:solidFill>
              </a:rPr>
              <a:t>・業務上の注意点や実</a:t>
            </a:r>
            <a:r>
              <a:rPr lang="ja-JP" altLang="en-US" sz="1400" dirty="0" smtClean="0">
                <a:solidFill>
                  <a:schemeClr val="tx1"/>
                </a:solidFill>
              </a:rPr>
              <a:t>装に</a:t>
            </a:r>
            <a:r>
              <a:rPr lang="ja-JP" altLang="en-US" sz="1400" dirty="0">
                <a:solidFill>
                  <a:schemeClr val="tx1"/>
                </a:solidFill>
              </a:rPr>
              <a:t>対する理解が不十分であったこと</a:t>
            </a:r>
            <a:br>
              <a:rPr lang="ja-JP" altLang="en-US" sz="1400" dirty="0">
                <a:solidFill>
                  <a:schemeClr val="tx1"/>
                </a:solidFill>
              </a:rPr>
            </a:br>
            <a:r>
              <a:rPr lang="ja-JP" altLang="en-US" sz="1400" dirty="0">
                <a:solidFill>
                  <a:schemeClr val="tx1"/>
                </a:solidFill>
              </a:rPr>
              <a:t>が要因となっております</a:t>
            </a:r>
            <a:r>
              <a:rPr lang="ja-JP" altLang="en-US" sz="1400" dirty="0" smtClean="0">
                <a:solidFill>
                  <a:schemeClr val="tx1"/>
                </a:solidFill>
              </a:rPr>
              <a:t>。</a:t>
            </a:r>
            <a:endParaRPr lang="en-US" altLang="ja-JP" sz="1400" dirty="0" smtClean="0">
              <a:solidFill>
                <a:schemeClr val="tx1"/>
              </a:solidFill>
            </a:endParaRPr>
          </a:p>
          <a:p>
            <a:endParaRPr lang="en-US" altLang="ja-JP" sz="1400" dirty="0" smtClean="0">
              <a:solidFill>
                <a:schemeClr val="tx1"/>
              </a:solidFill>
            </a:endParaRPr>
          </a:p>
          <a:p>
            <a:endParaRPr lang="ja-JP" altLang="en-US" sz="1400" dirty="0">
              <a:solidFill>
                <a:schemeClr val="tx1"/>
              </a:solidFill>
            </a:endParaRPr>
          </a:p>
          <a:p>
            <a:r>
              <a:rPr lang="ja-JP" altLang="en-US" sz="1400" dirty="0" smtClean="0">
                <a:solidFill>
                  <a:schemeClr val="tx1"/>
                </a:solidFill>
              </a:rPr>
              <a:t>２．設</a:t>
            </a:r>
            <a:r>
              <a:rPr lang="ja-JP" altLang="en-US" sz="1400" dirty="0">
                <a:solidFill>
                  <a:schemeClr val="tx1"/>
                </a:solidFill>
              </a:rPr>
              <a:t>計および </a:t>
            </a:r>
            <a:r>
              <a:rPr lang="en-US" altLang="ja-JP" sz="1400" dirty="0">
                <a:solidFill>
                  <a:schemeClr val="tx1"/>
                </a:solidFill>
              </a:rPr>
              <a:t>QA </a:t>
            </a:r>
            <a:r>
              <a:rPr lang="ja-JP" altLang="en-US" sz="1400" dirty="0">
                <a:solidFill>
                  <a:schemeClr val="tx1"/>
                </a:solidFill>
              </a:rPr>
              <a:t>による修正対応の発生</a:t>
            </a:r>
            <a:br>
              <a:rPr lang="ja-JP" altLang="en-US" sz="1400" dirty="0">
                <a:solidFill>
                  <a:schemeClr val="tx1"/>
                </a:solidFill>
              </a:rPr>
            </a:br>
            <a:r>
              <a:rPr lang="ja-JP" altLang="en-US" sz="1400" dirty="0">
                <a:solidFill>
                  <a:schemeClr val="tx1"/>
                </a:solidFill>
              </a:rPr>
              <a:t>実装の過程において、</a:t>
            </a:r>
            <a:br>
              <a:rPr lang="ja-JP" altLang="en-US" sz="1400" dirty="0">
                <a:solidFill>
                  <a:schemeClr val="tx1"/>
                </a:solidFill>
              </a:rPr>
            </a:br>
            <a:r>
              <a:rPr lang="ja-JP" altLang="en-US" sz="1400" dirty="0" smtClean="0">
                <a:solidFill>
                  <a:schemeClr val="tx1"/>
                </a:solidFill>
              </a:rPr>
              <a:t>・</a:t>
            </a:r>
            <a:r>
              <a:rPr lang="ja-JP" altLang="en-US" sz="1400" dirty="0">
                <a:solidFill>
                  <a:schemeClr val="tx1"/>
                </a:solidFill>
              </a:rPr>
              <a:t>基本</a:t>
            </a:r>
            <a:r>
              <a:rPr lang="ja-JP" altLang="en-US" sz="1400" dirty="0" smtClean="0">
                <a:solidFill>
                  <a:schemeClr val="tx1"/>
                </a:solidFill>
              </a:rPr>
              <a:t>設</a:t>
            </a:r>
            <a:r>
              <a:rPr lang="ja-JP" altLang="en-US" sz="1400" dirty="0">
                <a:solidFill>
                  <a:schemeClr val="tx1"/>
                </a:solidFill>
              </a:rPr>
              <a:t>計や処理フローの更新・修正が発生したこと</a:t>
            </a:r>
            <a:br>
              <a:rPr lang="ja-JP" altLang="en-US" sz="1400" dirty="0">
                <a:solidFill>
                  <a:schemeClr val="tx1"/>
                </a:solidFill>
              </a:rPr>
            </a:br>
            <a:r>
              <a:rPr lang="ja-JP" altLang="en-US" sz="1400" dirty="0">
                <a:solidFill>
                  <a:schemeClr val="tx1"/>
                </a:solidFill>
              </a:rPr>
              <a:t>・</a:t>
            </a:r>
            <a:r>
              <a:rPr lang="en-US" altLang="ja-JP" sz="1400" dirty="0">
                <a:solidFill>
                  <a:schemeClr val="tx1"/>
                </a:solidFill>
              </a:rPr>
              <a:t>QA </a:t>
            </a:r>
            <a:r>
              <a:rPr lang="ja-JP" altLang="en-US" sz="1400" dirty="0">
                <a:solidFill>
                  <a:schemeClr val="tx1"/>
                </a:solidFill>
              </a:rPr>
              <a:t>により、業務観</a:t>
            </a:r>
            <a:r>
              <a:rPr lang="ja-JP" altLang="en-US" sz="1400" dirty="0" smtClean="0">
                <a:solidFill>
                  <a:schemeClr val="tx1"/>
                </a:solidFill>
              </a:rPr>
              <a:t>点に</a:t>
            </a:r>
            <a:r>
              <a:rPr lang="ja-JP" altLang="en-US" sz="1400" dirty="0">
                <a:solidFill>
                  <a:schemeClr val="tx1"/>
                </a:solidFill>
              </a:rPr>
              <a:t>関する追加指摘が発生したこと</a:t>
            </a:r>
            <a:br>
              <a:rPr lang="ja-JP" altLang="en-US" sz="1400" dirty="0">
                <a:solidFill>
                  <a:schemeClr val="tx1"/>
                </a:solidFill>
              </a:rPr>
            </a:br>
            <a:r>
              <a:rPr lang="ja-JP" altLang="en-US" sz="1400" dirty="0">
                <a:solidFill>
                  <a:schemeClr val="tx1"/>
                </a:solidFill>
              </a:rPr>
              <a:t>により、</a:t>
            </a:r>
            <a:br>
              <a:rPr lang="ja-JP" altLang="en-US" sz="1400" dirty="0">
                <a:solidFill>
                  <a:schemeClr val="tx1"/>
                </a:solidFill>
              </a:rPr>
            </a:br>
            <a:r>
              <a:rPr lang="ja-JP" altLang="en-US" sz="1400" dirty="0">
                <a:solidFill>
                  <a:schemeClr val="tx1"/>
                </a:solidFill>
              </a:rPr>
              <a:t>コーディング工程での手戻りが発生し、当初計画外の工数が発生しております。</a:t>
            </a:r>
          </a:p>
          <a:p>
            <a:pPr fontAlgn="ctr">
              <a:lnSpc>
                <a:spcPct val="150000"/>
              </a:lnSpc>
            </a:pPr>
            <a:r>
              <a:rPr lang="vi-VN" altLang="ja-JP" sz="1400" dirty="0">
                <a:solidFill>
                  <a:schemeClr val="tx1"/>
                </a:solidFill>
                <a:sym typeface="+mn-ea"/>
              </a:rPr>
              <a:t>	</a:t>
            </a:r>
          </a:p>
        </p:txBody>
      </p:sp>
    </p:spTree>
    <p:extLst>
      <p:ext uri="{BB962C8B-B14F-4D97-AF65-F5344CB8AC3E}">
        <p14:creationId xmlns:p14="http://schemas.microsoft.com/office/powerpoint/2010/main" val="208337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t>7</a:t>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ja-JP" altLang="en-US"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製造</a:t>
            </a:r>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分析</a:t>
            </a:r>
            <a:endParaRPr lang="en-US" altLang="ja-JP"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sp>
        <p:nvSpPr>
          <p:cNvPr id="5" name="Rectangle 4"/>
          <p:cNvSpPr/>
          <p:nvPr/>
        </p:nvSpPr>
        <p:spPr>
          <a:xfrm>
            <a:off x="706966" y="1320797"/>
            <a:ext cx="10071101" cy="3776136"/>
          </a:xfrm>
          <a:prstGeom prst="rect">
            <a:avLst/>
          </a:prstGeom>
          <a:noFill/>
          <a:ln>
            <a:noFill/>
          </a:ln>
          <a:effectLst>
            <a:outerShdw blurRad="50800" dist="50800" dir="5400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400" b="1" dirty="0">
                <a:solidFill>
                  <a:schemeClr val="tx1"/>
                </a:solidFill>
              </a:rPr>
              <a:t>③ 対策・効</a:t>
            </a:r>
            <a:r>
              <a:rPr lang="ja-JP" altLang="en-US" sz="1400" b="1" dirty="0" smtClean="0">
                <a:solidFill>
                  <a:schemeClr val="tx1"/>
                </a:solidFill>
              </a:rPr>
              <a:t>果</a:t>
            </a:r>
            <a:endParaRPr lang="en-US" altLang="ja-JP" sz="1400" b="1" dirty="0" smtClean="0">
              <a:solidFill>
                <a:schemeClr val="tx1"/>
              </a:solidFill>
            </a:endParaRPr>
          </a:p>
          <a:p>
            <a:endParaRPr lang="en-US" altLang="ja-JP" sz="1400" dirty="0" smtClean="0">
              <a:solidFill>
                <a:schemeClr val="tx1"/>
              </a:solidFill>
            </a:endParaRPr>
          </a:p>
          <a:p>
            <a:r>
              <a:rPr lang="en-US" altLang="ja-JP" sz="1400" dirty="0" smtClean="0">
                <a:solidFill>
                  <a:schemeClr val="tx1"/>
                </a:solidFill>
              </a:rPr>
              <a:t>【</a:t>
            </a:r>
            <a:r>
              <a:rPr lang="ja-JP" altLang="en-US" sz="1400" dirty="0">
                <a:solidFill>
                  <a:schemeClr val="tx1"/>
                </a:solidFill>
              </a:rPr>
              <a:t>対策</a:t>
            </a:r>
            <a:r>
              <a:rPr lang="en-US" altLang="ja-JP" sz="1400" dirty="0" smtClean="0">
                <a:solidFill>
                  <a:schemeClr val="tx1"/>
                </a:solidFill>
              </a:rPr>
              <a:t>】</a:t>
            </a:r>
            <a:endParaRPr lang="ja-JP" altLang="en-US" sz="1400" dirty="0">
              <a:solidFill>
                <a:schemeClr val="tx1"/>
              </a:solidFill>
            </a:endParaRPr>
          </a:p>
          <a:p>
            <a:r>
              <a:rPr lang="ja-JP" altLang="en-US" sz="1400" dirty="0">
                <a:solidFill>
                  <a:schemeClr val="tx1"/>
                </a:solidFill>
              </a:rPr>
              <a:t>本プロジェクトでは、以下の対策を実施しております。</a:t>
            </a:r>
          </a:p>
          <a:p>
            <a:r>
              <a:rPr lang="ja-JP" altLang="en-US" sz="1400" dirty="0">
                <a:solidFill>
                  <a:schemeClr val="tx1"/>
                </a:solidFill>
              </a:rPr>
              <a:t>・コーディングルールの標準化</a:t>
            </a:r>
            <a:br>
              <a:rPr lang="ja-JP" altLang="en-US" sz="1400" dirty="0">
                <a:solidFill>
                  <a:schemeClr val="tx1"/>
                </a:solidFill>
              </a:rPr>
            </a:br>
            <a:r>
              <a:rPr lang="ja-JP" altLang="en-US" sz="1400" dirty="0">
                <a:solidFill>
                  <a:schemeClr val="tx1"/>
                </a:solidFill>
              </a:rPr>
              <a:t>・コーディングチェックリストの適用</a:t>
            </a:r>
            <a:br>
              <a:rPr lang="ja-JP" altLang="en-US" sz="1400" dirty="0">
                <a:solidFill>
                  <a:schemeClr val="tx1"/>
                </a:solidFill>
              </a:rPr>
            </a:br>
            <a:r>
              <a:rPr lang="ja-JP" altLang="en-US" sz="1400" dirty="0">
                <a:solidFill>
                  <a:schemeClr val="tx1"/>
                </a:solidFill>
              </a:rPr>
              <a:t>・実装フローの統</a:t>
            </a:r>
            <a:r>
              <a:rPr lang="ja-JP" altLang="en-US" sz="1400" dirty="0" smtClean="0">
                <a:solidFill>
                  <a:schemeClr val="tx1"/>
                </a:solidFill>
              </a:rPr>
              <a:t>一</a:t>
            </a:r>
            <a:endParaRPr lang="en-US" altLang="ja-JP" sz="1400" dirty="0" smtClean="0">
              <a:solidFill>
                <a:schemeClr val="tx1"/>
              </a:solidFill>
            </a:endParaRPr>
          </a:p>
          <a:p>
            <a:endParaRPr lang="en-US" altLang="ja-JP" sz="1400" dirty="0">
              <a:solidFill>
                <a:schemeClr val="tx1"/>
              </a:solidFill>
            </a:endParaRPr>
          </a:p>
          <a:p>
            <a:endParaRPr lang="ja-JP" altLang="en-US" sz="1400" dirty="0">
              <a:solidFill>
                <a:schemeClr val="tx1"/>
              </a:solidFill>
            </a:endParaRPr>
          </a:p>
          <a:p>
            <a:r>
              <a:rPr lang="en-US" altLang="ja-JP" sz="1400" dirty="0">
                <a:solidFill>
                  <a:schemeClr val="tx1"/>
                </a:solidFill>
              </a:rPr>
              <a:t>【</a:t>
            </a:r>
            <a:r>
              <a:rPr lang="ja-JP" altLang="en-US" sz="1400" dirty="0">
                <a:solidFill>
                  <a:schemeClr val="tx1"/>
                </a:solidFill>
              </a:rPr>
              <a:t>効果</a:t>
            </a:r>
            <a:r>
              <a:rPr lang="en-US" altLang="ja-JP" sz="1400" dirty="0">
                <a:solidFill>
                  <a:schemeClr val="tx1"/>
                </a:solidFill>
              </a:rPr>
              <a:t>】</a:t>
            </a:r>
            <a:r>
              <a:rPr lang="ja-JP" altLang="en-US" sz="1400" dirty="0">
                <a:solidFill>
                  <a:schemeClr val="tx1"/>
                </a:solidFill>
              </a:rPr>
              <a:t/>
            </a:r>
            <a:br>
              <a:rPr lang="ja-JP" altLang="en-US" sz="1400" dirty="0">
                <a:solidFill>
                  <a:schemeClr val="tx1"/>
                </a:solidFill>
              </a:rPr>
            </a:br>
            <a:r>
              <a:rPr lang="ja-JP" altLang="en-US" sz="1400" dirty="0">
                <a:solidFill>
                  <a:schemeClr val="tx1"/>
                </a:solidFill>
              </a:rPr>
              <a:t>これらの対策により</a:t>
            </a:r>
            <a:r>
              <a:rPr lang="ja-JP" altLang="en-US" sz="1400" dirty="0" smtClean="0">
                <a:solidFill>
                  <a:schemeClr val="tx1"/>
                </a:solidFill>
              </a:rPr>
              <a:t>、</a:t>
            </a:r>
            <a:r>
              <a:rPr lang="ja-JP" altLang="en-US" sz="1400" dirty="0">
                <a:solidFill>
                  <a:schemeClr val="tx1"/>
                </a:solidFill>
              </a:rPr>
              <a:t>指摘</a:t>
            </a:r>
            <a:r>
              <a:rPr lang="ja-JP" altLang="en-US" sz="1400" dirty="0" smtClean="0">
                <a:solidFill>
                  <a:schemeClr val="tx1"/>
                </a:solidFill>
              </a:rPr>
              <a:t>件</a:t>
            </a:r>
            <a:r>
              <a:rPr lang="ja-JP" altLang="en-US" sz="1400" dirty="0">
                <a:solidFill>
                  <a:schemeClr val="tx1"/>
                </a:solidFill>
              </a:rPr>
              <a:t>数は大きく減少し、工数も徐々に安定しております。</a:t>
            </a:r>
            <a:br>
              <a:rPr lang="ja-JP" altLang="en-US" sz="1400" dirty="0">
                <a:solidFill>
                  <a:schemeClr val="tx1"/>
                </a:solidFill>
              </a:rPr>
            </a:br>
            <a:r>
              <a:rPr lang="ja-JP" altLang="en-US" sz="1400" dirty="0">
                <a:solidFill>
                  <a:schemeClr val="tx1"/>
                </a:solidFill>
              </a:rPr>
              <a:t>また、後続で実装した機能（</a:t>
            </a:r>
            <a:r>
              <a:rPr lang="en-US" altLang="ja-JP" sz="1400" dirty="0">
                <a:solidFill>
                  <a:schemeClr val="tx1"/>
                </a:solidFill>
              </a:rPr>
              <a:t>API</a:t>
            </a:r>
            <a:r>
              <a:rPr lang="ja-JP" altLang="en-US" sz="1400" dirty="0">
                <a:solidFill>
                  <a:schemeClr val="tx1"/>
                </a:solidFill>
              </a:rPr>
              <a:t>、</a:t>
            </a:r>
            <a:r>
              <a:rPr lang="en-US" altLang="ja-JP" sz="1400" dirty="0">
                <a:solidFill>
                  <a:schemeClr val="tx1"/>
                </a:solidFill>
              </a:rPr>
              <a:t>Batch </a:t>
            </a:r>
            <a:r>
              <a:rPr lang="ja-JP" altLang="en-US" sz="1400" dirty="0">
                <a:solidFill>
                  <a:schemeClr val="tx1"/>
                </a:solidFill>
              </a:rPr>
              <a:t>等）においては、工数差分の縮小が確認されております。</a:t>
            </a:r>
          </a:p>
          <a:p>
            <a:pPr fontAlgn="ctr">
              <a:lnSpc>
                <a:spcPct val="150000"/>
              </a:lnSpc>
            </a:pPr>
            <a:r>
              <a:rPr lang="vi-VN" altLang="ja-JP" sz="1400" dirty="0">
                <a:solidFill>
                  <a:schemeClr val="tx1"/>
                </a:solidFill>
                <a:sym typeface="+mn-ea"/>
              </a:rPr>
              <a:t>		</a:t>
            </a:r>
            <a:endParaRPr lang="en-US" altLang="ja-JP" sz="1400" dirty="0">
              <a:solidFill>
                <a:schemeClr val="tx1"/>
              </a:solidFill>
              <a:sym typeface="+mn-ea"/>
            </a:endParaRPr>
          </a:p>
        </p:txBody>
      </p:sp>
    </p:spTree>
    <p:extLst>
      <p:ext uri="{BB962C8B-B14F-4D97-AF65-F5344CB8AC3E}">
        <p14:creationId xmlns:p14="http://schemas.microsoft.com/office/powerpoint/2010/main" val="18946953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t>8</a:t>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単体テスト仕様書分析</a:t>
            </a:r>
            <a:endParaRPr lang="en-US" altLang="ja-JP"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graphicFrame>
        <p:nvGraphicFramePr>
          <p:cNvPr id="2" name="Table 1"/>
          <p:cNvGraphicFramePr>
            <a:graphicFrameLocks noGrp="1"/>
          </p:cNvGraphicFramePr>
          <p:nvPr>
            <p:extLst>
              <p:ext uri="{D42A27DB-BD31-4B8C-83A1-F6EECF244321}">
                <p14:modId xmlns:p14="http://schemas.microsoft.com/office/powerpoint/2010/main" val="3100307370"/>
              </p:ext>
            </p:extLst>
          </p:nvPr>
        </p:nvGraphicFramePr>
        <p:xfrm>
          <a:off x="533399" y="973673"/>
          <a:ext cx="9592736" cy="4834701"/>
        </p:xfrm>
        <a:graphic>
          <a:graphicData uri="http://schemas.openxmlformats.org/drawingml/2006/table">
            <a:tbl>
              <a:tblPr>
                <a:tableStyleId>{5C22544A-7EE6-4342-B048-85BDC9FD1C3A}</a:tableStyleId>
              </a:tblPr>
              <a:tblGrid>
                <a:gridCol w="1054075">
                  <a:extLst>
                    <a:ext uri="{9D8B030D-6E8A-4147-A177-3AD203B41FA5}">
                      <a16:colId xmlns:a16="http://schemas.microsoft.com/office/drawing/2014/main" val="487983024"/>
                    </a:ext>
                  </a:extLst>
                </a:gridCol>
                <a:gridCol w="4186793">
                  <a:extLst>
                    <a:ext uri="{9D8B030D-6E8A-4147-A177-3AD203B41FA5}">
                      <a16:colId xmlns:a16="http://schemas.microsoft.com/office/drawing/2014/main" val="881027625"/>
                    </a:ext>
                  </a:extLst>
                </a:gridCol>
                <a:gridCol w="807487">
                  <a:extLst>
                    <a:ext uri="{9D8B030D-6E8A-4147-A177-3AD203B41FA5}">
                      <a16:colId xmlns:a16="http://schemas.microsoft.com/office/drawing/2014/main" val="2647703333"/>
                    </a:ext>
                  </a:extLst>
                </a:gridCol>
                <a:gridCol w="966648">
                  <a:extLst>
                    <a:ext uri="{9D8B030D-6E8A-4147-A177-3AD203B41FA5}">
                      <a16:colId xmlns:a16="http://schemas.microsoft.com/office/drawing/2014/main" val="3478221748"/>
                    </a:ext>
                  </a:extLst>
                </a:gridCol>
                <a:gridCol w="1086995">
                  <a:extLst>
                    <a:ext uri="{9D8B030D-6E8A-4147-A177-3AD203B41FA5}">
                      <a16:colId xmlns:a16="http://schemas.microsoft.com/office/drawing/2014/main" val="2553913087"/>
                    </a:ext>
                  </a:extLst>
                </a:gridCol>
                <a:gridCol w="745369">
                  <a:extLst>
                    <a:ext uri="{9D8B030D-6E8A-4147-A177-3AD203B41FA5}">
                      <a16:colId xmlns:a16="http://schemas.microsoft.com/office/drawing/2014/main" val="1312774274"/>
                    </a:ext>
                  </a:extLst>
                </a:gridCol>
                <a:gridCol w="745369">
                  <a:extLst>
                    <a:ext uri="{9D8B030D-6E8A-4147-A177-3AD203B41FA5}">
                      <a16:colId xmlns:a16="http://schemas.microsoft.com/office/drawing/2014/main" val="3164997358"/>
                    </a:ext>
                  </a:extLst>
                </a:gridCol>
              </a:tblGrid>
              <a:tr h="296327">
                <a:tc>
                  <a:txBody>
                    <a:bodyPr/>
                    <a:lstStyle/>
                    <a:p>
                      <a:pPr algn="ctr" fontAlgn="ctr"/>
                      <a:r>
                        <a:rPr lang="en-US" sz="700" u="none" strike="noStrike" dirty="0">
                          <a:effectLst/>
                        </a:rPr>
                        <a:t>ID</a:t>
                      </a:r>
                      <a:endParaRPr lang="en-US" sz="700" b="1"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ctr">
                    <a:solidFill>
                      <a:srgbClr val="92D050"/>
                    </a:solidFill>
                  </a:tcPr>
                </a:tc>
                <a:tc>
                  <a:txBody>
                    <a:bodyPr/>
                    <a:lstStyle/>
                    <a:p>
                      <a:pPr algn="ctr" fontAlgn="ctr"/>
                      <a:r>
                        <a:rPr lang="ja-JP" altLang="en-US" sz="700" u="none" strike="noStrike" dirty="0">
                          <a:effectLst/>
                        </a:rPr>
                        <a:t>機能名</a:t>
                      </a:r>
                      <a:endParaRPr lang="ja-JP" altLang="en-US" sz="700" b="1"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ctr">
                    <a:solidFill>
                      <a:srgbClr val="92D050"/>
                    </a:solidFill>
                  </a:tcPr>
                </a:tc>
                <a:tc>
                  <a:txBody>
                    <a:bodyPr/>
                    <a:lstStyle/>
                    <a:p>
                      <a:pPr algn="ctr" fontAlgn="ctr"/>
                      <a:r>
                        <a:rPr lang="ja-JP" altLang="en-US" sz="700" u="none" strike="noStrike">
                          <a:effectLst/>
                        </a:rPr>
                        <a:t>区分</a:t>
                      </a:r>
                      <a:endParaRPr lang="ja-JP" altLang="en-US" sz="700" b="1"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ctr">
                    <a:solidFill>
                      <a:srgbClr val="92D050"/>
                    </a:solidFill>
                  </a:tcPr>
                </a:tc>
                <a:tc>
                  <a:txBody>
                    <a:bodyPr/>
                    <a:lstStyle/>
                    <a:p>
                      <a:pPr algn="ctr" fontAlgn="ctr"/>
                      <a:r>
                        <a:rPr lang="ja-JP" altLang="en-US" sz="700" u="none" strike="noStrike">
                          <a:effectLst/>
                        </a:rPr>
                        <a:t>予定工数</a:t>
                      </a:r>
                      <a:br>
                        <a:rPr lang="ja-JP" altLang="en-US" sz="700" u="none" strike="noStrike">
                          <a:effectLst/>
                        </a:rPr>
                      </a:br>
                      <a:r>
                        <a:rPr lang="en-US" altLang="ja-JP" sz="700" u="none" strike="noStrike">
                          <a:effectLst/>
                        </a:rPr>
                        <a:t>(</a:t>
                      </a:r>
                      <a:r>
                        <a:rPr lang="en-US" sz="700" u="none" strike="noStrike">
                          <a:effectLst/>
                        </a:rPr>
                        <a:t>H)</a:t>
                      </a:r>
                      <a:endParaRPr lang="en-US" sz="700" b="1"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ctr">
                    <a:solidFill>
                      <a:srgbClr val="92D050"/>
                    </a:solidFill>
                  </a:tcPr>
                </a:tc>
                <a:tc>
                  <a:txBody>
                    <a:bodyPr/>
                    <a:lstStyle/>
                    <a:p>
                      <a:pPr algn="ctr" fontAlgn="ctr"/>
                      <a:r>
                        <a:rPr lang="ja-JP" altLang="en-US" sz="700" u="none" strike="noStrike" dirty="0">
                          <a:effectLst/>
                        </a:rPr>
                        <a:t>実績工数</a:t>
                      </a:r>
                      <a:br>
                        <a:rPr lang="ja-JP" altLang="en-US" sz="700" u="none" strike="noStrike" dirty="0">
                          <a:effectLst/>
                        </a:rPr>
                      </a:br>
                      <a:r>
                        <a:rPr lang="en-US" altLang="ja-JP" sz="700" u="none" strike="noStrike" dirty="0">
                          <a:effectLst/>
                        </a:rPr>
                        <a:t>(</a:t>
                      </a:r>
                      <a:r>
                        <a:rPr lang="en-US" sz="700" u="none" strike="noStrike" dirty="0">
                          <a:effectLst/>
                        </a:rPr>
                        <a:t>H)</a:t>
                      </a:r>
                      <a:endParaRPr lang="en-US" sz="700" b="1"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ctr">
                    <a:solidFill>
                      <a:srgbClr val="92D050"/>
                    </a:solidFill>
                  </a:tcPr>
                </a:tc>
                <a:tc>
                  <a:txBody>
                    <a:bodyPr/>
                    <a:lstStyle/>
                    <a:p>
                      <a:pPr algn="ctr" fontAlgn="ctr"/>
                      <a:r>
                        <a:rPr lang="ja-JP" altLang="en-US" sz="700" u="none" strike="noStrike">
                          <a:effectLst/>
                        </a:rPr>
                        <a:t>差分工数</a:t>
                      </a:r>
                      <a:endParaRPr lang="ja-JP" altLang="en-US" sz="700" b="1"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ctr">
                    <a:solidFill>
                      <a:srgbClr val="92D050"/>
                    </a:solidFill>
                  </a:tcPr>
                </a:tc>
                <a:tc>
                  <a:txBody>
                    <a:bodyPr/>
                    <a:lstStyle/>
                    <a:p>
                      <a:pPr algn="ctr" fontAlgn="ctr"/>
                      <a:r>
                        <a:rPr lang="ja-JP" altLang="en-US" sz="700" u="none" strike="noStrike" dirty="0">
                          <a:effectLst/>
                        </a:rPr>
                        <a:t>指摘数</a:t>
                      </a:r>
                      <a:endParaRPr lang="ja-JP" altLang="en-US" sz="700" b="1"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ctr">
                    <a:solidFill>
                      <a:srgbClr val="92D050"/>
                    </a:solidFill>
                  </a:tcPr>
                </a:tc>
                <a:extLst>
                  <a:ext uri="{0D108BD9-81ED-4DB2-BD59-A6C34878D82A}">
                    <a16:rowId xmlns:a16="http://schemas.microsoft.com/office/drawing/2014/main" val="2254883041"/>
                  </a:ext>
                </a:extLst>
              </a:tr>
              <a:tr h="128966">
                <a:tc>
                  <a:txBody>
                    <a:bodyPr/>
                    <a:lstStyle/>
                    <a:p>
                      <a:pPr algn="l" fontAlgn="b"/>
                      <a:r>
                        <a:rPr lang="en-US" sz="700" u="none" strike="noStrike">
                          <a:effectLst/>
                        </a:rPr>
                        <a:t>SPCM00101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ログイン</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dirty="0">
                          <a:effectLst/>
                        </a:rPr>
                        <a:t>画面</a:t>
                      </a:r>
                      <a:endParaRPr lang="ja-JP" alt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9</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893183218"/>
                  </a:ext>
                </a:extLst>
              </a:tr>
              <a:tr h="128966">
                <a:tc>
                  <a:txBody>
                    <a:bodyPr/>
                    <a:lstStyle/>
                    <a:p>
                      <a:pPr algn="l" fontAlgn="b"/>
                      <a:r>
                        <a:rPr lang="en-US" sz="700" u="none" strike="noStrike">
                          <a:effectLst/>
                        </a:rPr>
                        <a:t>SPMT0021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工場マスタ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5</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3</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1990476210"/>
                  </a:ext>
                </a:extLst>
              </a:tr>
              <a:tr h="128966">
                <a:tc>
                  <a:txBody>
                    <a:bodyPr/>
                    <a:lstStyle/>
                    <a:p>
                      <a:pPr algn="l" fontAlgn="b"/>
                      <a:r>
                        <a:rPr lang="en-US" sz="700" u="none" strike="noStrike">
                          <a:effectLst/>
                        </a:rPr>
                        <a:t>SPMT00101AC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セクションマスタ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5</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6.5</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1.5</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326019943"/>
                  </a:ext>
                </a:extLst>
              </a:tr>
              <a:tr h="128966">
                <a:tc>
                  <a:txBody>
                    <a:bodyPr/>
                    <a:lstStyle/>
                    <a:p>
                      <a:pPr algn="l" fontAlgn="b"/>
                      <a:r>
                        <a:rPr lang="en-US" sz="700" u="none" strike="noStrike">
                          <a:effectLst/>
                        </a:rPr>
                        <a:t>SPMT00111AC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セクションマスタ検索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9</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5</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-4</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197838066"/>
                  </a:ext>
                </a:extLst>
              </a:tr>
              <a:tr h="128966">
                <a:tc>
                  <a:txBody>
                    <a:bodyPr/>
                    <a:lstStyle/>
                    <a:p>
                      <a:pPr algn="l" fontAlgn="b"/>
                      <a:r>
                        <a:rPr lang="en-US" sz="700" u="none" strike="noStrike">
                          <a:effectLst/>
                        </a:rPr>
                        <a:t>SPMT00201AC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グループマスタ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9</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6.8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-2.2</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239118104"/>
                  </a:ext>
                </a:extLst>
              </a:tr>
              <a:tr h="128966">
                <a:tc>
                  <a:txBody>
                    <a:bodyPr/>
                    <a:lstStyle/>
                    <a:p>
                      <a:pPr algn="l" fontAlgn="b"/>
                      <a:r>
                        <a:rPr lang="en-US" sz="700" u="none" strike="noStrike">
                          <a:effectLst/>
                        </a:rPr>
                        <a:t>SPMT00211AC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グループマスタ検索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dirty="0">
                          <a:effectLst/>
                        </a:rPr>
                        <a:t>画面</a:t>
                      </a:r>
                      <a:endParaRPr lang="ja-JP" alt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9</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9</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484667977"/>
                  </a:ext>
                </a:extLst>
              </a:tr>
              <a:tr h="128966">
                <a:tc>
                  <a:txBody>
                    <a:bodyPr/>
                    <a:lstStyle/>
                    <a:p>
                      <a:pPr algn="l" fontAlgn="b"/>
                      <a:r>
                        <a:rPr lang="en-US" sz="700" u="none" strike="noStrike">
                          <a:effectLst/>
                        </a:rPr>
                        <a:t>SPMT00101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仕入先マスタ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9</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3222313409"/>
                  </a:ext>
                </a:extLst>
              </a:tr>
              <a:tr h="128966">
                <a:tc>
                  <a:txBody>
                    <a:bodyPr/>
                    <a:lstStyle/>
                    <a:p>
                      <a:pPr algn="l" fontAlgn="b"/>
                      <a:r>
                        <a:rPr lang="en-US" sz="700" u="none" strike="noStrike">
                          <a:effectLst/>
                        </a:rPr>
                        <a:t>SPMT00141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調達品マスタ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3</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2</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3238373532"/>
                  </a:ext>
                </a:extLst>
              </a:tr>
              <a:tr h="128966">
                <a:tc>
                  <a:txBody>
                    <a:bodyPr/>
                    <a:lstStyle/>
                    <a:p>
                      <a:pPr algn="l" fontAlgn="b"/>
                      <a:r>
                        <a:rPr lang="en-US" sz="700" u="none" strike="noStrike">
                          <a:effectLst/>
                        </a:rPr>
                        <a:t>SPMT00151AC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調達品契約マスタ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2</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3676447673"/>
                  </a:ext>
                </a:extLst>
              </a:tr>
              <a:tr h="128966">
                <a:tc>
                  <a:txBody>
                    <a:bodyPr/>
                    <a:lstStyle/>
                    <a:p>
                      <a:pPr algn="l" fontAlgn="b"/>
                      <a:r>
                        <a:rPr lang="en-US" sz="700" u="none" strike="noStrike">
                          <a:effectLst/>
                        </a:rPr>
                        <a:t>SPMT00161AC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調達品単位換算マスタ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1807556355"/>
                  </a:ext>
                </a:extLst>
              </a:tr>
              <a:tr h="128966">
                <a:tc>
                  <a:txBody>
                    <a:bodyPr/>
                    <a:lstStyle/>
                    <a:p>
                      <a:pPr algn="l" fontAlgn="b"/>
                      <a:r>
                        <a:rPr lang="en-US" sz="700" u="none" strike="noStrike">
                          <a:effectLst/>
                        </a:rPr>
                        <a:t>SPMT00301AC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レシピ作成用調達品検索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6</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-2</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1</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407758447"/>
                  </a:ext>
                </a:extLst>
              </a:tr>
              <a:tr h="128966">
                <a:tc>
                  <a:txBody>
                    <a:bodyPr/>
                    <a:lstStyle/>
                    <a:p>
                      <a:pPr algn="l" fontAlgn="b"/>
                      <a:r>
                        <a:rPr lang="en-US" sz="700" u="none" strike="noStrike">
                          <a:effectLst/>
                        </a:rPr>
                        <a:t> </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レシピ作成用調達品検索</a:t>
                      </a:r>
                      <a:r>
                        <a:rPr lang="en-US" altLang="ja-JP" sz="700" u="none" strike="noStrike">
                          <a:effectLst/>
                        </a:rPr>
                        <a:t>CSV</a:t>
                      </a:r>
                      <a:r>
                        <a:rPr lang="ja-JP" altLang="en-US" sz="700" u="none" strike="noStrike">
                          <a:effectLst/>
                        </a:rPr>
                        <a:t>出力</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2</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1</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3874600043"/>
                  </a:ext>
                </a:extLst>
              </a:tr>
              <a:tr h="153530">
                <a:tc>
                  <a:txBody>
                    <a:bodyPr/>
                    <a:lstStyle/>
                    <a:p>
                      <a:pPr algn="l" fontAlgn="b"/>
                      <a:r>
                        <a:rPr lang="en-US" sz="700" u="none" strike="noStrike">
                          <a:effectLst/>
                        </a:rPr>
                        <a:t>SPMT00401AC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産地エリアマスタ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7.5</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-0.5</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151763062"/>
                  </a:ext>
                </a:extLst>
              </a:tr>
              <a:tr h="128966">
                <a:tc>
                  <a:txBody>
                    <a:bodyPr/>
                    <a:lstStyle/>
                    <a:p>
                      <a:pPr algn="l" fontAlgn="b"/>
                      <a:r>
                        <a:rPr lang="en-US" sz="700" u="none" strike="noStrike">
                          <a:effectLst/>
                        </a:rPr>
                        <a:t>SPMT00501AC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産地マスタ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6</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-2</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1</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1274275083"/>
                  </a:ext>
                </a:extLst>
              </a:tr>
              <a:tr h="128966">
                <a:tc>
                  <a:txBody>
                    <a:bodyPr/>
                    <a:lstStyle/>
                    <a:p>
                      <a:pPr algn="l" fontAlgn="b"/>
                      <a:r>
                        <a:rPr lang="en-US" sz="700" u="none" strike="noStrike">
                          <a:effectLst/>
                        </a:rPr>
                        <a:t>SPMT00701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分類マスタ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3</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3</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3908638218"/>
                  </a:ext>
                </a:extLst>
              </a:tr>
              <a:tr h="128966">
                <a:tc>
                  <a:txBody>
                    <a:bodyPr/>
                    <a:lstStyle/>
                    <a:p>
                      <a:pPr algn="l" fontAlgn="b"/>
                      <a:r>
                        <a:rPr lang="en-US" sz="700" u="none" strike="noStrike">
                          <a:effectLst/>
                        </a:rPr>
                        <a:t>SPMT00601AC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名称マスタ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9</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3773269362"/>
                  </a:ext>
                </a:extLst>
              </a:tr>
              <a:tr h="128966">
                <a:tc>
                  <a:txBody>
                    <a:bodyPr/>
                    <a:lstStyle/>
                    <a:p>
                      <a:pPr algn="l" fontAlgn="b"/>
                      <a:r>
                        <a:rPr lang="en-US" sz="700" u="none" strike="noStrike">
                          <a:effectLst/>
                        </a:rPr>
                        <a:t>SPMT00181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祝日マスタ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3</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2230727953"/>
                  </a:ext>
                </a:extLst>
              </a:tr>
              <a:tr h="128966">
                <a:tc>
                  <a:txBody>
                    <a:bodyPr/>
                    <a:lstStyle/>
                    <a:p>
                      <a:pPr algn="l" fontAlgn="b"/>
                      <a:r>
                        <a:rPr lang="en-US" sz="700" u="none" strike="noStrike">
                          <a:effectLst/>
                        </a:rPr>
                        <a:t>SPMT00231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税マスタ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6</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-2</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817697192"/>
                  </a:ext>
                </a:extLst>
              </a:tr>
              <a:tr h="128966">
                <a:tc>
                  <a:txBody>
                    <a:bodyPr/>
                    <a:lstStyle/>
                    <a:p>
                      <a:pPr algn="l" fontAlgn="b"/>
                      <a:r>
                        <a:rPr lang="en-US" sz="700" u="none" strike="noStrike">
                          <a:effectLst/>
                        </a:rPr>
                        <a:t>SPMT00801AC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組織権限紐づけマスタ</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7</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936169288"/>
                  </a:ext>
                </a:extLst>
              </a:tr>
              <a:tr h="128966">
                <a:tc>
                  <a:txBody>
                    <a:bodyPr/>
                    <a:lstStyle/>
                    <a:p>
                      <a:pPr algn="l" fontAlgn="b"/>
                      <a:r>
                        <a:rPr lang="en-US" sz="700" u="none" strike="noStrike">
                          <a:effectLst/>
                        </a:rPr>
                        <a:t>SPOR00901AC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zh-TW" altLang="en-US" sz="700" u="none" strike="noStrike">
                          <a:effectLst/>
                        </a:rPr>
                        <a:t>発注依頼締切解除</a:t>
                      </a:r>
                      <a:endParaRPr lang="zh-TW"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17</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9</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2</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3463655390"/>
                  </a:ext>
                </a:extLst>
              </a:tr>
              <a:tr h="128966">
                <a:tc>
                  <a:txBody>
                    <a:bodyPr/>
                    <a:lstStyle/>
                    <a:p>
                      <a:pPr algn="l" fontAlgn="b"/>
                      <a:r>
                        <a:rPr lang="en-US" sz="700" u="none" strike="noStrike">
                          <a:effectLst/>
                        </a:rPr>
                        <a:t>SPVM00131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発注承認</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画面</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3</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2</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1283245485"/>
                  </a:ext>
                </a:extLst>
              </a:tr>
              <a:tr h="128966">
                <a:tc>
                  <a:txBody>
                    <a:bodyPr/>
                    <a:lstStyle/>
                    <a:p>
                      <a:pPr algn="l" fontAlgn="b"/>
                      <a:r>
                        <a:rPr lang="en-US" sz="700" u="none" strike="noStrike">
                          <a:effectLst/>
                        </a:rPr>
                        <a:t>BCC0050AC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セクション別在庫マスタ連携</a:t>
                      </a:r>
                      <a:r>
                        <a:rPr lang="en-US" altLang="ja-JP" sz="700" u="none" strike="noStrike">
                          <a:effectLst/>
                        </a:rPr>
                        <a:t>_API_</a:t>
                      </a:r>
                      <a:r>
                        <a:rPr lang="ja-JP" altLang="en-US" sz="700" u="none" strike="noStrike">
                          <a:effectLst/>
                        </a:rPr>
                        <a:t>受信</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en-US" sz="700" u="none" strike="noStrike">
                          <a:effectLst/>
                        </a:rPr>
                        <a:t>API</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16</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2</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3666526803"/>
                  </a:ext>
                </a:extLst>
              </a:tr>
              <a:tr h="128966">
                <a:tc>
                  <a:txBody>
                    <a:bodyPr/>
                    <a:lstStyle/>
                    <a:p>
                      <a:pPr algn="l" fontAlgn="b"/>
                      <a:r>
                        <a:rPr lang="en-US" sz="700" u="none" strike="noStrike">
                          <a:effectLst/>
                        </a:rPr>
                        <a:t>BCC0050AC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セクション別在庫マスタ</a:t>
                      </a:r>
                      <a:r>
                        <a:rPr lang="en-US" altLang="ja-JP" sz="700" u="none" strike="noStrike">
                          <a:effectLst/>
                        </a:rPr>
                        <a:t>_</a:t>
                      </a:r>
                      <a:r>
                        <a:rPr lang="ja-JP" altLang="en-US" sz="700" u="none" strike="noStrike">
                          <a:effectLst/>
                        </a:rPr>
                        <a:t>受信</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バッチ</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14</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6</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1</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2553411246"/>
                  </a:ext>
                </a:extLst>
              </a:tr>
              <a:tr h="128966">
                <a:tc>
                  <a:txBody>
                    <a:bodyPr/>
                    <a:lstStyle/>
                    <a:p>
                      <a:pPr algn="l" fontAlgn="b"/>
                      <a:r>
                        <a:rPr lang="en-US" sz="700" u="none" strike="noStrike">
                          <a:effectLst/>
                        </a:rPr>
                        <a:t>BCC0060AC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zh-TW" altLang="en-US" sz="700" u="none" strike="noStrike">
                          <a:effectLst/>
                        </a:rPr>
                        <a:t>食材使用数量報告書連携</a:t>
                      </a:r>
                      <a:r>
                        <a:rPr lang="en-US" altLang="zh-TW" sz="700" u="none" strike="noStrike">
                          <a:effectLst/>
                        </a:rPr>
                        <a:t>_API_</a:t>
                      </a:r>
                      <a:r>
                        <a:rPr lang="zh-TW" altLang="en-US" sz="700" u="none" strike="noStrike">
                          <a:effectLst/>
                        </a:rPr>
                        <a:t>受信</a:t>
                      </a:r>
                      <a:endParaRPr lang="zh-TW"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en-US" sz="700" u="none" strike="noStrike">
                          <a:effectLst/>
                        </a:rPr>
                        <a:t>API</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3107289968"/>
                  </a:ext>
                </a:extLst>
              </a:tr>
              <a:tr h="128966">
                <a:tc>
                  <a:txBody>
                    <a:bodyPr/>
                    <a:lstStyle/>
                    <a:p>
                      <a:pPr algn="l" fontAlgn="b"/>
                      <a:r>
                        <a:rPr lang="en-US" sz="700" u="none" strike="noStrike">
                          <a:effectLst/>
                        </a:rPr>
                        <a:t>BCC0060AC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zh-TW" altLang="en-US" sz="700" u="none" strike="noStrike">
                          <a:effectLst/>
                        </a:rPr>
                        <a:t>食材使用数量報告書</a:t>
                      </a:r>
                      <a:r>
                        <a:rPr lang="en-US" altLang="zh-TW" sz="700" u="none" strike="noStrike">
                          <a:effectLst/>
                        </a:rPr>
                        <a:t>_</a:t>
                      </a:r>
                      <a:r>
                        <a:rPr lang="zh-TW" altLang="en-US" sz="700" u="none" strike="noStrike">
                          <a:effectLst/>
                        </a:rPr>
                        <a:t>受信</a:t>
                      </a:r>
                      <a:endParaRPr lang="zh-TW"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バッチ</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3074928138"/>
                  </a:ext>
                </a:extLst>
              </a:tr>
              <a:tr h="128966">
                <a:tc>
                  <a:txBody>
                    <a:bodyPr/>
                    <a:lstStyle/>
                    <a:p>
                      <a:pPr algn="l" fontAlgn="b"/>
                      <a:r>
                        <a:rPr lang="en-US" sz="700" u="none" strike="noStrike">
                          <a:effectLst/>
                        </a:rPr>
                        <a:t>BCC0060AC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zh-TW" altLang="en-US" sz="700" u="none" strike="noStrike">
                          <a:effectLst/>
                        </a:rPr>
                        <a:t>月間使用予定明細</a:t>
                      </a:r>
                      <a:r>
                        <a:rPr lang="en-US" altLang="zh-TW" sz="700" u="none" strike="noStrike">
                          <a:effectLst/>
                        </a:rPr>
                        <a:t>_</a:t>
                      </a:r>
                      <a:r>
                        <a:rPr lang="zh-TW" altLang="en-US" sz="700" u="none" strike="noStrike">
                          <a:effectLst/>
                        </a:rPr>
                        <a:t>受信</a:t>
                      </a:r>
                      <a:endParaRPr lang="zh-TW"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バッチ</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2820550147"/>
                  </a:ext>
                </a:extLst>
              </a:tr>
              <a:tr h="128966">
                <a:tc>
                  <a:txBody>
                    <a:bodyPr/>
                    <a:lstStyle/>
                    <a:p>
                      <a:pPr algn="l" fontAlgn="b"/>
                      <a:r>
                        <a:rPr lang="en-US" sz="700" u="none" strike="noStrike">
                          <a:effectLst/>
                        </a:rPr>
                        <a:t>BCC0070AC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生産指示連携</a:t>
                      </a:r>
                      <a:r>
                        <a:rPr lang="en-US" altLang="ja-JP" sz="700" u="none" strike="noStrike">
                          <a:effectLst/>
                        </a:rPr>
                        <a:t>_</a:t>
                      </a:r>
                      <a:r>
                        <a:rPr lang="en-US" sz="700" u="none" strike="noStrike">
                          <a:effectLst/>
                        </a:rPr>
                        <a:t>API_</a:t>
                      </a:r>
                      <a:r>
                        <a:rPr lang="ja-JP" altLang="en-US" sz="700" u="none" strike="noStrike">
                          <a:effectLst/>
                        </a:rPr>
                        <a:t>受信</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en-US" sz="700" u="none" strike="noStrike">
                          <a:effectLst/>
                        </a:rPr>
                        <a:t>API</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3.6</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5.6</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2</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417082880"/>
                  </a:ext>
                </a:extLst>
              </a:tr>
              <a:tr h="128966">
                <a:tc>
                  <a:txBody>
                    <a:bodyPr/>
                    <a:lstStyle/>
                    <a:p>
                      <a:pPr algn="l" fontAlgn="b"/>
                      <a:r>
                        <a:rPr lang="en-US" sz="700" u="none" strike="noStrike">
                          <a:effectLst/>
                        </a:rPr>
                        <a:t>BCC0070AC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zh-TW" altLang="en-US" sz="700" u="none" strike="noStrike">
                          <a:effectLst/>
                        </a:rPr>
                        <a:t>生産指示材料構成</a:t>
                      </a:r>
                      <a:r>
                        <a:rPr lang="en-US" altLang="zh-TW" sz="700" u="none" strike="noStrike">
                          <a:effectLst/>
                        </a:rPr>
                        <a:t>(</a:t>
                      </a:r>
                      <a:r>
                        <a:rPr lang="zh-TW" altLang="en-US" sz="700" u="none" strike="noStrike">
                          <a:effectLst/>
                        </a:rPr>
                        <a:t>新</a:t>
                      </a:r>
                      <a:r>
                        <a:rPr lang="en-US" altLang="zh-TW" sz="700" u="none" strike="noStrike">
                          <a:effectLst/>
                        </a:rPr>
                        <a:t>)_</a:t>
                      </a:r>
                      <a:r>
                        <a:rPr lang="zh-TW" altLang="en-US" sz="700" u="none" strike="noStrike">
                          <a:effectLst/>
                        </a:rPr>
                        <a:t>受信</a:t>
                      </a:r>
                      <a:endParaRPr lang="zh-TW"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バッチ</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2672317621"/>
                  </a:ext>
                </a:extLst>
              </a:tr>
              <a:tr h="128966">
                <a:tc>
                  <a:txBody>
                    <a:bodyPr/>
                    <a:lstStyle/>
                    <a:p>
                      <a:pPr algn="l" fontAlgn="b"/>
                      <a:r>
                        <a:rPr lang="en-US" sz="700" u="none" strike="noStrike">
                          <a:effectLst/>
                        </a:rPr>
                        <a:t>BCC0070AC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生産指示番号採番</a:t>
                      </a:r>
                      <a:r>
                        <a:rPr lang="en-US" altLang="ja-JP" sz="700" u="none" strike="noStrike">
                          <a:effectLst/>
                        </a:rPr>
                        <a:t>_</a:t>
                      </a:r>
                      <a:r>
                        <a:rPr lang="ja-JP" altLang="en-US" sz="700" u="none" strike="noStrike">
                          <a:effectLst/>
                        </a:rPr>
                        <a:t>受信</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バッチ</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378285893"/>
                  </a:ext>
                </a:extLst>
              </a:tr>
              <a:tr h="128966">
                <a:tc>
                  <a:txBody>
                    <a:bodyPr/>
                    <a:lstStyle/>
                    <a:p>
                      <a:pPr algn="l" fontAlgn="b"/>
                      <a:r>
                        <a:rPr lang="en-US" sz="700" u="none" strike="noStrike">
                          <a:effectLst/>
                        </a:rPr>
                        <a:t>BCC0070AC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受注別生産ヘッダ</a:t>
                      </a:r>
                      <a:r>
                        <a:rPr lang="en-US" altLang="ja-JP" sz="700" u="none" strike="noStrike">
                          <a:effectLst/>
                        </a:rPr>
                        <a:t>_</a:t>
                      </a:r>
                      <a:r>
                        <a:rPr lang="ja-JP" altLang="en-US" sz="700" u="none" strike="noStrike">
                          <a:effectLst/>
                        </a:rPr>
                        <a:t>受信</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バッチ</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1</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4239551284"/>
                  </a:ext>
                </a:extLst>
              </a:tr>
              <a:tr h="128966">
                <a:tc>
                  <a:txBody>
                    <a:bodyPr/>
                    <a:lstStyle/>
                    <a:p>
                      <a:pPr algn="l" fontAlgn="b"/>
                      <a:r>
                        <a:rPr lang="en-US" sz="700" u="none" strike="noStrike">
                          <a:effectLst/>
                        </a:rPr>
                        <a:t>BCC0070AC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zh-TW" altLang="en-US" sz="700" u="none" strike="noStrike">
                          <a:effectLst/>
                        </a:rPr>
                        <a:t>受注別生産明細</a:t>
                      </a:r>
                      <a:r>
                        <a:rPr lang="en-US" altLang="zh-TW" sz="700" u="none" strike="noStrike">
                          <a:effectLst/>
                        </a:rPr>
                        <a:t>_</a:t>
                      </a:r>
                      <a:r>
                        <a:rPr lang="zh-TW" altLang="en-US" sz="700" u="none" strike="noStrike">
                          <a:effectLst/>
                        </a:rPr>
                        <a:t>受信</a:t>
                      </a:r>
                      <a:endParaRPr lang="zh-TW"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バッチ</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1</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1946717583"/>
                  </a:ext>
                </a:extLst>
              </a:tr>
              <a:tr h="128966">
                <a:tc>
                  <a:txBody>
                    <a:bodyPr/>
                    <a:lstStyle/>
                    <a:p>
                      <a:pPr algn="l" fontAlgn="b"/>
                      <a:r>
                        <a:rPr lang="en-US" sz="700" u="none" strike="noStrike">
                          <a:effectLst/>
                        </a:rPr>
                        <a:t>BCC0080AC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配合構成ヘッダ</a:t>
                      </a:r>
                      <a:r>
                        <a:rPr lang="en-US" altLang="ja-JP" sz="700" u="none" strike="noStrike">
                          <a:effectLst/>
                        </a:rPr>
                        <a:t>_</a:t>
                      </a:r>
                      <a:r>
                        <a:rPr lang="ja-JP" altLang="en-US" sz="700" u="none" strike="noStrike">
                          <a:effectLst/>
                        </a:rPr>
                        <a:t>受信</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バッチ</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20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19.5</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-0.5</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1</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584242409"/>
                  </a:ext>
                </a:extLst>
              </a:tr>
              <a:tr h="128966">
                <a:tc>
                  <a:txBody>
                    <a:bodyPr/>
                    <a:lstStyle/>
                    <a:p>
                      <a:pPr algn="l" fontAlgn="b"/>
                      <a:r>
                        <a:rPr lang="en-US" sz="700" u="none" strike="noStrike">
                          <a:effectLst/>
                        </a:rPr>
                        <a:t>BCC0080AC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メニュー企画・生産用材料構成</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バッチ</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7.2</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7.1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-0.1</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1</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2256424763"/>
                  </a:ext>
                </a:extLst>
              </a:tr>
              <a:tr h="128966">
                <a:tc>
                  <a:txBody>
                    <a:bodyPr/>
                    <a:lstStyle/>
                    <a:p>
                      <a:pPr algn="l" fontAlgn="b"/>
                      <a:r>
                        <a:rPr lang="en-US" sz="700" u="none" strike="noStrike">
                          <a:effectLst/>
                        </a:rPr>
                        <a:t>BCC0080AC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メニュー企画</a:t>
                      </a:r>
                      <a:r>
                        <a:rPr lang="en-US" altLang="ja-JP" sz="700" u="none" strike="noStrike">
                          <a:effectLst/>
                        </a:rPr>
                        <a:t>_</a:t>
                      </a:r>
                      <a:r>
                        <a:rPr lang="ja-JP" altLang="en-US" sz="700" u="none" strike="noStrike">
                          <a:effectLst/>
                        </a:rPr>
                        <a:t>受信</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バッチ</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0</a:t>
                      </a:r>
                      <a:endParaRPr lang="en-US" sz="700" b="0" i="0" u="none" strike="noStrike" dirty="0">
                        <a:solidFill>
                          <a:srgbClr val="000000"/>
                        </a:solidFill>
                        <a:effectLst/>
                        <a:latin typeface="Calibri" panose="020F0502020204030204" pitchFamily="34" charset="0"/>
                      </a:endParaRPr>
                    </a:p>
                  </a:txBody>
                  <a:tcPr marL="6280" marR="6280" marT="6280" marB="0" anchor="b">
                    <a:solidFill>
                      <a:schemeClr val="bg1"/>
                    </a:solidFill>
                  </a:tcPr>
                </a:tc>
                <a:extLst>
                  <a:ext uri="{0D108BD9-81ED-4DB2-BD59-A6C34878D82A}">
                    <a16:rowId xmlns:a16="http://schemas.microsoft.com/office/drawing/2014/main" val="3176281960"/>
                  </a:ext>
                </a:extLst>
              </a:tr>
              <a:tr h="128966">
                <a:tc>
                  <a:txBody>
                    <a:bodyPr/>
                    <a:lstStyle/>
                    <a:p>
                      <a:pPr algn="l" fontAlgn="b"/>
                      <a:r>
                        <a:rPr lang="en-US" sz="700" u="none" strike="noStrike">
                          <a:effectLst/>
                        </a:rPr>
                        <a:t>BCC0080AC</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zh-TW" altLang="en-US" sz="700" u="none" strike="noStrike">
                          <a:effectLst/>
                        </a:rPr>
                        <a:t>生産用材料構成</a:t>
                      </a:r>
                      <a:r>
                        <a:rPr lang="en-US" altLang="zh-TW" sz="700" u="none" strike="noStrike">
                          <a:effectLst/>
                        </a:rPr>
                        <a:t>_</a:t>
                      </a:r>
                      <a:r>
                        <a:rPr lang="zh-TW" altLang="en-US" sz="700" u="none" strike="noStrike">
                          <a:effectLst/>
                        </a:rPr>
                        <a:t>受信</a:t>
                      </a:r>
                      <a:endParaRPr lang="zh-TW"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l" fontAlgn="b"/>
                      <a:r>
                        <a:rPr lang="ja-JP" altLang="en-US" sz="700" u="none" strike="noStrike">
                          <a:effectLst/>
                        </a:rPr>
                        <a:t>バッチ</a:t>
                      </a: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8</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a:effectLst/>
                        </a:rPr>
                        <a:t>0</a:t>
                      </a:r>
                      <a:endParaRPr lang="en-US" sz="700" b="0" i="0" u="none" strike="noStrike">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tc>
                  <a:txBody>
                    <a:bodyPr/>
                    <a:lstStyle/>
                    <a:p>
                      <a:pPr algn="r" fontAlgn="b"/>
                      <a:r>
                        <a:rPr lang="en-US" sz="700" u="none" strike="noStrike" dirty="0">
                          <a:effectLst/>
                        </a:rPr>
                        <a:t>1</a:t>
                      </a:r>
                      <a:endParaRPr lang="en-US" sz="700" b="0" i="0" u="none" strike="noStrike" dirty="0">
                        <a:solidFill>
                          <a:srgbClr val="000000"/>
                        </a:solidFill>
                        <a:effectLst/>
                        <a:latin typeface="Meiryo UI" panose="020B0604030504040204" pitchFamily="50" charset="-128"/>
                        <a:ea typeface="Meiryo UI" panose="020B0604030504040204" pitchFamily="50" charset="-128"/>
                      </a:endParaRPr>
                    </a:p>
                  </a:txBody>
                  <a:tcPr marL="6280" marR="6280" marT="6280" marB="0" anchor="b">
                    <a:solidFill>
                      <a:schemeClr val="bg1"/>
                    </a:solidFill>
                  </a:tcPr>
                </a:tc>
                <a:extLst>
                  <a:ext uri="{0D108BD9-81ED-4DB2-BD59-A6C34878D82A}">
                    <a16:rowId xmlns:a16="http://schemas.microsoft.com/office/drawing/2014/main" val="604956152"/>
                  </a:ext>
                </a:extLst>
              </a:tr>
            </a:tbl>
          </a:graphicData>
        </a:graphic>
      </p:graphicFrame>
    </p:spTree>
    <p:extLst>
      <p:ext uri="{BB962C8B-B14F-4D97-AF65-F5344CB8AC3E}">
        <p14:creationId xmlns:p14="http://schemas.microsoft.com/office/powerpoint/2010/main" val="36233427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t>9</a:t>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単体テスト仕様書分析</a:t>
            </a:r>
            <a:endParaRPr lang="en-US" altLang="ja-JP"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sp>
        <p:nvSpPr>
          <p:cNvPr id="5" name="Rectangle 4"/>
          <p:cNvSpPr/>
          <p:nvPr/>
        </p:nvSpPr>
        <p:spPr>
          <a:xfrm>
            <a:off x="620912" y="1049867"/>
            <a:ext cx="9883775" cy="5096934"/>
          </a:xfrm>
          <a:prstGeom prst="rect">
            <a:avLst/>
          </a:prstGeom>
          <a:noFill/>
          <a:ln>
            <a:noFill/>
          </a:ln>
          <a:effectLst>
            <a:outerShdw blurRad="50800" dist="50800" dir="5400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pPr fontAlgn="ctr">
              <a:lnSpc>
                <a:spcPct val="150000"/>
              </a:lnSpc>
            </a:pPr>
            <a:endParaRPr lang="en-US" altLang="ja-JP" sz="1000" dirty="0">
              <a:solidFill>
                <a:schemeClr val="tx1"/>
              </a:solidFill>
              <a:sym typeface="+mn-ea"/>
            </a:endParaRPr>
          </a:p>
        </p:txBody>
      </p:sp>
      <p:sp>
        <p:nvSpPr>
          <p:cNvPr id="8" name="Rectangle 7"/>
          <p:cNvSpPr/>
          <p:nvPr/>
        </p:nvSpPr>
        <p:spPr>
          <a:xfrm>
            <a:off x="876300" y="1194435"/>
            <a:ext cx="9883775" cy="4004098"/>
          </a:xfrm>
          <a:prstGeom prst="rect">
            <a:avLst/>
          </a:prstGeom>
          <a:noFill/>
          <a:ln>
            <a:noFill/>
          </a:ln>
          <a:effectLst>
            <a:outerShdw blurRad="50800" dist="50800" dir="5400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400" b="1" dirty="0" smtClean="0">
                <a:solidFill>
                  <a:schemeClr val="tx1"/>
                </a:solidFill>
              </a:rPr>
              <a:t>単体テ</a:t>
            </a:r>
            <a:r>
              <a:rPr lang="ja-JP" altLang="en-US" sz="1400" b="1" dirty="0">
                <a:solidFill>
                  <a:schemeClr val="tx1"/>
                </a:solidFill>
              </a:rPr>
              <a:t>ス</a:t>
            </a:r>
            <a:r>
              <a:rPr lang="ja-JP" altLang="en-US" sz="1400" b="1" dirty="0" smtClean="0">
                <a:solidFill>
                  <a:schemeClr val="tx1"/>
                </a:solidFill>
              </a:rPr>
              <a:t>ト仕様書作成の</a:t>
            </a:r>
            <a:r>
              <a:rPr lang="ja-JP" altLang="en-US" sz="1400" b="1" dirty="0">
                <a:solidFill>
                  <a:schemeClr val="tx1"/>
                </a:solidFill>
              </a:rPr>
              <a:t>品質</a:t>
            </a:r>
            <a:r>
              <a:rPr lang="ja-JP" altLang="en-US" sz="1400" b="1" dirty="0" smtClean="0">
                <a:solidFill>
                  <a:schemeClr val="tx1"/>
                </a:solidFill>
              </a:rPr>
              <a:t>は安</a:t>
            </a:r>
            <a:r>
              <a:rPr lang="ja-JP" altLang="en-US" sz="1400" b="1" dirty="0">
                <a:solidFill>
                  <a:schemeClr val="tx1"/>
                </a:solidFill>
              </a:rPr>
              <a:t>定しております</a:t>
            </a:r>
            <a:r>
              <a:rPr lang="ja-JP" altLang="en-US" sz="1400" b="1" dirty="0" smtClean="0">
                <a:solidFill>
                  <a:schemeClr val="tx1"/>
                </a:solidFill>
              </a:rPr>
              <a:t>。</a:t>
            </a:r>
            <a:endParaRPr lang="en-US" altLang="ja-JP" sz="1400" b="1" dirty="0" smtClean="0">
              <a:solidFill>
                <a:schemeClr val="tx1"/>
              </a:solidFill>
            </a:endParaRPr>
          </a:p>
          <a:p>
            <a:endParaRPr lang="en-US" altLang="ja-JP" sz="1400" b="1" dirty="0" smtClean="0">
              <a:solidFill>
                <a:schemeClr val="tx1"/>
              </a:solidFill>
            </a:endParaRPr>
          </a:p>
          <a:p>
            <a:endParaRPr lang="ja-JP" altLang="en-US" sz="1400" dirty="0">
              <a:solidFill>
                <a:schemeClr val="tx1"/>
              </a:solidFill>
            </a:endParaRPr>
          </a:p>
          <a:p>
            <a:r>
              <a:rPr lang="ja-JP" altLang="en-US" sz="1400" dirty="0">
                <a:solidFill>
                  <a:schemeClr val="tx1"/>
                </a:solidFill>
              </a:rPr>
              <a:t>単体テスト仕様書</a:t>
            </a:r>
            <a:r>
              <a:rPr lang="ja-JP" altLang="en-US" sz="1400" dirty="0" smtClean="0">
                <a:solidFill>
                  <a:schemeClr val="tx1"/>
                </a:solidFill>
              </a:rPr>
              <a:t>作</a:t>
            </a:r>
            <a:r>
              <a:rPr lang="ja-JP" altLang="en-US" sz="1400" dirty="0">
                <a:solidFill>
                  <a:schemeClr val="tx1"/>
                </a:solidFill>
              </a:rPr>
              <a:t>成における工数につきましては</a:t>
            </a:r>
            <a:r>
              <a:rPr lang="ja-JP" altLang="en-US" sz="1400" dirty="0" smtClean="0">
                <a:solidFill>
                  <a:schemeClr val="tx1"/>
                </a:solidFill>
              </a:rPr>
              <a:t>、</a:t>
            </a:r>
            <a:endParaRPr lang="en-US" altLang="ja-JP" sz="1400" dirty="0" smtClean="0">
              <a:solidFill>
                <a:schemeClr val="tx1"/>
              </a:solidFill>
            </a:endParaRPr>
          </a:p>
          <a:p>
            <a:r>
              <a:rPr lang="ja-JP" altLang="en-US" sz="1400" dirty="0">
                <a:solidFill>
                  <a:schemeClr val="tx1"/>
                </a:solidFill>
              </a:rPr>
              <a:t/>
            </a:r>
            <a:br>
              <a:rPr lang="ja-JP" altLang="en-US" sz="1400" dirty="0">
                <a:solidFill>
                  <a:schemeClr val="tx1"/>
                </a:solidFill>
              </a:rPr>
            </a:br>
            <a:r>
              <a:rPr lang="ja-JP" altLang="en-US" sz="1400" dirty="0">
                <a:solidFill>
                  <a:schemeClr val="tx1"/>
                </a:solidFill>
              </a:rPr>
              <a:t>・工数のばらつきは小さい状況です。</a:t>
            </a:r>
            <a:br>
              <a:rPr lang="ja-JP" altLang="en-US" sz="1400" dirty="0">
                <a:solidFill>
                  <a:schemeClr val="tx1"/>
                </a:solidFill>
              </a:rPr>
            </a:br>
            <a:r>
              <a:rPr lang="ja-JP" altLang="en-US" sz="1400" dirty="0">
                <a:solidFill>
                  <a:schemeClr val="tx1"/>
                </a:solidFill>
              </a:rPr>
              <a:t>・異常な工数超過は発生しておりません。</a:t>
            </a:r>
            <a:br>
              <a:rPr lang="ja-JP" altLang="en-US" sz="1400" dirty="0">
                <a:solidFill>
                  <a:schemeClr val="tx1"/>
                </a:solidFill>
              </a:rPr>
            </a:br>
            <a:r>
              <a:rPr lang="ja-JP" altLang="en-US" sz="1400" dirty="0">
                <a:solidFill>
                  <a:schemeClr val="tx1"/>
                </a:solidFill>
              </a:rPr>
              <a:t>・テスト設計工程において、大きな不備</a:t>
            </a:r>
            <a:r>
              <a:rPr lang="ja-JP" altLang="en-US" sz="1400" dirty="0" smtClean="0">
                <a:solidFill>
                  <a:schemeClr val="tx1"/>
                </a:solidFill>
              </a:rPr>
              <a:t>（レビュー指</a:t>
            </a:r>
            <a:r>
              <a:rPr lang="ja-JP" altLang="en-US" sz="1400" dirty="0">
                <a:solidFill>
                  <a:schemeClr val="tx1"/>
                </a:solidFill>
              </a:rPr>
              <a:t>摘</a:t>
            </a:r>
            <a:r>
              <a:rPr lang="ja-JP" altLang="en-US" sz="1400" dirty="0" smtClean="0">
                <a:solidFill>
                  <a:schemeClr val="tx1"/>
                </a:solidFill>
              </a:rPr>
              <a:t>）は</a:t>
            </a:r>
            <a:r>
              <a:rPr lang="ja-JP" altLang="en-US" sz="1400" dirty="0">
                <a:solidFill>
                  <a:schemeClr val="tx1"/>
                </a:solidFill>
              </a:rPr>
              <a:t>あまり</a:t>
            </a:r>
            <a:r>
              <a:rPr lang="ja-JP" altLang="en-US" sz="1400" dirty="0" smtClean="0">
                <a:solidFill>
                  <a:schemeClr val="tx1"/>
                </a:solidFill>
              </a:rPr>
              <a:t>発</a:t>
            </a:r>
            <a:r>
              <a:rPr lang="ja-JP" altLang="en-US" sz="1400" dirty="0">
                <a:solidFill>
                  <a:schemeClr val="tx1"/>
                </a:solidFill>
              </a:rPr>
              <a:t>生しておりません。</a:t>
            </a:r>
          </a:p>
          <a:p>
            <a:pPr fontAlgn="ctr">
              <a:lnSpc>
                <a:spcPct val="150000"/>
              </a:lnSpc>
            </a:pPr>
            <a:endParaRPr lang="en-US" altLang="en-US" sz="1400" dirty="0" smtClean="0">
              <a:solidFill>
                <a:schemeClr val="tx1"/>
              </a:solidFill>
              <a:latin typeface="Arial (Body)"/>
            </a:endParaRPr>
          </a:p>
        </p:txBody>
      </p:sp>
    </p:spTree>
    <p:extLst>
      <p:ext uri="{BB962C8B-B14F-4D97-AF65-F5344CB8AC3E}">
        <p14:creationId xmlns:p14="http://schemas.microsoft.com/office/powerpoint/2010/main" val="12152628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t>10</a:t>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単体テスト実施結果分析</a:t>
            </a:r>
            <a:endParaRPr lang="en-US" altLang="ja-JP"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graphicFrame>
        <p:nvGraphicFramePr>
          <p:cNvPr id="2" name="Table 1"/>
          <p:cNvGraphicFramePr>
            <a:graphicFrameLocks noGrp="1"/>
          </p:cNvGraphicFramePr>
          <p:nvPr>
            <p:extLst>
              <p:ext uri="{D42A27DB-BD31-4B8C-83A1-F6EECF244321}">
                <p14:modId xmlns:p14="http://schemas.microsoft.com/office/powerpoint/2010/main" val="802656225"/>
              </p:ext>
            </p:extLst>
          </p:nvPr>
        </p:nvGraphicFramePr>
        <p:xfrm>
          <a:off x="778934" y="1066806"/>
          <a:ext cx="10049932" cy="4933950"/>
        </p:xfrm>
        <a:graphic>
          <a:graphicData uri="http://schemas.openxmlformats.org/drawingml/2006/table">
            <a:tbl>
              <a:tblPr>
                <a:tableStyleId>{5C22544A-7EE6-4342-B048-85BDC9FD1C3A}</a:tableStyleId>
              </a:tblPr>
              <a:tblGrid>
                <a:gridCol w="1175528">
                  <a:extLst>
                    <a:ext uri="{9D8B030D-6E8A-4147-A177-3AD203B41FA5}">
                      <a16:colId xmlns:a16="http://schemas.microsoft.com/office/drawing/2014/main" val="1849683706"/>
                    </a:ext>
                  </a:extLst>
                </a:gridCol>
                <a:gridCol w="3907389">
                  <a:extLst>
                    <a:ext uri="{9D8B030D-6E8A-4147-A177-3AD203B41FA5}">
                      <a16:colId xmlns:a16="http://schemas.microsoft.com/office/drawing/2014/main" val="2980452580"/>
                    </a:ext>
                  </a:extLst>
                </a:gridCol>
                <a:gridCol w="993405">
                  <a:extLst>
                    <a:ext uri="{9D8B030D-6E8A-4147-A177-3AD203B41FA5}">
                      <a16:colId xmlns:a16="http://schemas.microsoft.com/office/drawing/2014/main" val="863527168"/>
                    </a:ext>
                  </a:extLst>
                </a:gridCol>
                <a:gridCol w="794722">
                  <a:extLst>
                    <a:ext uri="{9D8B030D-6E8A-4147-A177-3AD203B41FA5}">
                      <a16:colId xmlns:a16="http://schemas.microsoft.com/office/drawing/2014/main" val="2532037892"/>
                    </a:ext>
                  </a:extLst>
                </a:gridCol>
                <a:gridCol w="794722">
                  <a:extLst>
                    <a:ext uri="{9D8B030D-6E8A-4147-A177-3AD203B41FA5}">
                      <a16:colId xmlns:a16="http://schemas.microsoft.com/office/drawing/2014/main" val="2545506209"/>
                    </a:ext>
                  </a:extLst>
                </a:gridCol>
                <a:gridCol w="794722">
                  <a:extLst>
                    <a:ext uri="{9D8B030D-6E8A-4147-A177-3AD203B41FA5}">
                      <a16:colId xmlns:a16="http://schemas.microsoft.com/office/drawing/2014/main" val="1639906698"/>
                    </a:ext>
                  </a:extLst>
                </a:gridCol>
                <a:gridCol w="794722">
                  <a:extLst>
                    <a:ext uri="{9D8B030D-6E8A-4147-A177-3AD203B41FA5}">
                      <a16:colId xmlns:a16="http://schemas.microsoft.com/office/drawing/2014/main" val="3859388369"/>
                    </a:ext>
                  </a:extLst>
                </a:gridCol>
                <a:gridCol w="794722">
                  <a:extLst>
                    <a:ext uri="{9D8B030D-6E8A-4147-A177-3AD203B41FA5}">
                      <a16:colId xmlns:a16="http://schemas.microsoft.com/office/drawing/2014/main" val="1447624170"/>
                    </a:ext>
                  </a:extLst>
                </a:gridCol>
              </a:tblGrid>
              <a:tr h="349650">
                <a:tc>
                  <a:txBody>
                    <a:bodyPr/>
                    <a:lstStyle/>
                    <a:p>
                      <a:pPr algn="ctr" fontAlgn="ctr"/>
                      <a:r>
                        <a:rPr lang="en-US" sz="800" u="none" strike="noStrike" dirty="0">
                          <a:effectLst/>
                        </a:rPr>
                        <a:t>ID</a:t>
                      </a:r>
                      <a:endParaRPr lang="en-US" sz="800" b="1" i="0" u="none" strike="noStrike" dirty="0">
                        <a:solidFill>
                          <a:srgbClr val="000000"/>
                        </a:solidFill>
                        <a:effectLst/>
                        <a:latin typeface="Calibri" panose="020F0502020204030204" pitchFamily="34" charset="0"/>
                      </a:endParaRPr>
                    </a:p>
                  </a:txBody>
                  <a:tcPr marL="6750" marR="6750" marT="6750" marB="0" anchor="ctr">
                    <a:solidFill>
                      <a:srgbClr val="92D050"/>
                    </a:solidFill>
                  </a:tcPr>
                </a:tc>
                <a:tc>
                  <a:txBody>
                    <a:bodyPr/>
                    <a:lstStyle/>
                    <a:p>
                      <a:pPr algn="ctr" fontAlgn="ctr"/>
                      <a:r>
                        <a:rPr lang="ja-JP" altLang="en-US" sz="800" u="none" strike="noStrike">
                          <a:effectLst/>
                        </a:rPr>
                        <a:t>機能名</a:t>
                      </a:r>
                      <a:endParaRPr lang="ja-JP" altLang="en-US" sz="800" b="1" i="0" u="none" strike="noStrike">
                        <a:solidFill>
                          <a:srgbClr val="000000"/>
                        </a:solidFill>
                        <a:effectLst/>
                        <a:latin typeface="Calibri" panose="020F0502020204030204" pitchFamily="34" charset="0"/>
                      </a:endParaRPr>
                    </a:p>
                  </a:txBody>
                  <a:tcPr marL="6750" marR="6750" marT="6750" marB="0" anchor="ctr">
                    <a:solidFill>
                      <a:srgbClr val="92D050"/>
                    </a:solidFill>
                  </a:tcPr>
                </a:tc>
                <a:tc>
                  <a:txBody>
                    <a:bodyPr/>
                    <a:lstStyle/>
                    <a:p>
                      <a:pPr algn="ctr" fontAlgn="ctr"/>
                      <a:r>
                        <a:rPr lang="ja-JP" altLang="en-US" sz="800" u="none" strike="noStrike">
                          <a:effectLst/>
                        </a:rPr>
                        <a:t>区分</a:t>
                      </a:r>
                      <a:endParaRPr lang="ja-JP" altLang="en-US" sz="800" b="1" i="0" u="none" strike="noStrike">
                        <a:solidFill>
                          <a:srgbClr val="000000"/>
                        </a:solidFill>
                        <a:effectLst/>
                        <a:latin typeface="Calibri" panose="020F0502020204030204" pitchFamily="34" charset="0"/>
                      </a:endParaRPr>
                    </a:p>
                  </a:txBody>
                  <a:tcPr marL="6750" marR="6750" marT="6750" marB="0" anchor="ctr">
                    <a:solidFill>
                      <a:srgbClr val="92D050"/>
                    </a:solidFill>
                  </a:tcPr>
                </a:tc>
                <a:tc>
                  <a:txBody>
                    <a:bodyPr/>
                    <a:lstStyle/>
                    <a:p>
                      <a:pPr algn="ctr" fontAlgn="ctr"/>
                      <a:r>
                        <a:rPr lang="ja-JP" altLang="en-US" sz="800" u="none" strike="noStrike">
                          <a:effectLst/>
                        </a:rPr>
                        <a:t>予定工数</a:t>
                      </a:r>
                      <a:br>
                        <a:rPr lang="ja-JP" altLang="en-US" sz="800" u="none" strike="noStrike">
                          <a:effectLst/>
                        </a:rPr>
                      </a:br>
                      <a:r>
                        <a:rPr lang="en-US" altLang="ja-JP" sz="800" u="none" strike="noStrike">
                          <a:effectLst/>
                        </a:rPr>
                        <a:t>(</a:t>
                      </a:r>
                      <a:r>
                        <a:rPr lang="en-US" sz="800" u="none" strike="noStrike">
                          <a:effectLst/>
                        </a:rPr>
                        <a:t>H)</a:t>
                      </a:r>
                      <a:endParaRPr lang="en-US" sz="800" b="1" i="0" u="none" strike="noStrike">
                        <a:solidFill>
                          <a:srgbClr val="000000"/>
                        </a:solidFill>
                        <a:effectLst/>
                        <a:latin typeface="Calibri" panose="020F0502020204030204" pitchFamily="34" charset="0"/>
                      </a:endParaRPr>
                    </a:p>
                  </a:txBody>
                  <a:tcPr marL="6750" marR="6750" marT="6750" marB="0" anchor="ctr">
                    <a:solidFill>
                      <a:srgbClr val="92D050"/>
                    </a:solidFill>
                  </a:tcPr>
                </a:tc>
                <a:tc>
                  <a:txBody>
                    <a:bodyPr/>
                    <a:lstStyle/>
                    <a:p>
                      <a:pPr algn="ctr" fontAlgn="ctr"/>
                      <a:r>
                        <a:rPr lang="ja-JP" altLang="en-US" sz="800" u="none" strike="noStrike">
                          <a:effectLst/>
                        </a:rPr>
                        <a:t>実績工数</a:t>
                      </a:r>
                      <a:br>
                        <a:rPr lang="ja-JP" altLang="en-US" sz="800" u="none" strike="noStrike">
                          <a:effectLst/>
                        </a:rPr>
                      </a:br>
                      <a:r>
                        <a:rPr lang="en-US" altLang="ja-JP" sz="800" u="none" strike="noStrike">
                          <a:effectLst/>
                        </a:rPr>
                        <a:t>(</a:t>
                      </a:r>
                      <a:r>
                        <a:rPr lang="en-US" sz="800" u="none" strike="noStrike">
                          <a:effectLst/>
                        </a:rPr>
                        <a:t>H)</a:t>
                      </a:r>
                      <a:endParaRPr lang="en-US" sz="800" b="1" i="0" u="none" strike="noStrike">
                        <a:solidFill>
                          <a:srgbClr val="000000"/>
                        </a:solidFill>
                        <a:effectLst/>
                        <a:latin typeface="Calibri" panose="020F0502020204030204" pitchFamily="34" charset="0"/>
                      </a:endParaRPr>
                    </a:p>
                  </a:txBody>
                  <a:tcPr marL="6750" marR="6750" marT="6750" marB="0" anchor="ctr">
                    <a:solidFill>
                      <a:srgbClr val="92D050"/>
                    </a:solidFill>
                  </a:tcPr>
                </a:tc>
                <a:tc>
                  <a:txBody>
                    <a:bodyPr/>
                    <a:lstStyle/>
                    <a:p>
                      <a:pPr algn="ctr" fontAlgn="ctr"/>
                      <a:r>
                        <a:rPr lang="ja-JP" altLang="en-US" sz="800" u="none" strike="noStrike">
                          <a:effectLst/>
                        </a:rPr>
                        <a:t>差分工数</a:t>
                      </a:r>
                      <a:endParaRPr lang="ja-JP" altLang="en-US" sz="800" b="1" i="0" u="none" strike="noStrike">
                        <a:solidFill>
                          <a:srgbClr val="000000"/>
                        </a:solidFill>
                        <a:effectLst/>
                        <a:latin typeface="Calibri" panose="020F0502020204030204" pitchFamily="34" charset="0"/>
                      </a:endParaRPr>
                    </a:p>
                  </a:txBody>
                  <a:tcPr marL="6750" marR="6750" marT="6750" marB="0" anchor="ctr">
                    <a:solidFill>
                      <a:srgbClr val="92D050"/>
                    </a:solidFill>
                  </a:tcPr>
                </a:tc>
                <a:tc>
                  <a:txBody>
                    <a:bodyPr/>
                    <a:lstStyle/>
                    <a:p>
                      <a:pPr algn="ctr" fontAlgn="ctr"/>
                      <a:r>
                        <a:rPr lang="ja-JP" altLang="en-US" sz="800" u="none" strike="noStrike">
                          <a:effectLst/>
                        </a:rPr>
                        <a:t>指摘数</a:t>
                      </a:r>
                      <a:endParaRPr lang="ja-JP" altLang="en-US" sz="800" b="1" i="0" u="none" strike="noStrike">
                        <a:solidFill>
                          <a:srgbClr val="000000"/>
                        </a:solidFill>
                        <a:effectLst/>
                        <a:latin typeface="Meiryo UI" panose="020B0604030504040204" pitchFamily="50" charset="-128"/>
                        <a:ea typeface="Meiryo UI" panose="020B0604030504040204" pitchFamily="50" charset="-128"/>
                      </a:endParaRPr>
                    </a:p>
                  </a:txBody>
                  <a:tcPr marL="6750" marR="6750" marT="6750" marB="0" anchor="ctr">
                    <a:solidFill>
                      <a:srgbClr val="92D050"/>
                    </a:solidFill>
                  </a:tcPr>
                </a:tc>
                <a:tc>
                  <a:txBody>
                    <a:bodyPr/>
                    <a:lstStyle/>
                    <a:p>
                      <a:pPr algn="ctr" fontAlgn="ctr"/>
                      <a:r>
                        <a:rPr lang="ja-JP" altLang="en-US" sz="800" u="none" strike="noStrike" dirty="0">
                          <a:effectLst/>
                        </a:rPr>
                        <a:t>バグ件数</a:t>
                      </a:r>
                      <a:endParaRPr lang="ja-JP" altLang="en-US" sz="800" b="1" i="0" u="none" strike="noStrike" dirty="0">
                        <a:solidFill>
                          <a:srgbClr val="000000"/>
                        </a:solidFill>
                        <a:effectLst/>
                        <a:latin typeface="Meiryo UI" panose="020B0604030504040204" pitchFamily="50" charset="-128"/>
                        <a:ea typeface="Meiryo UI" panose="020B0604030504040204" pitchFamily="50" charset="-128"/>
                      </a:endParaRPr>
                    </a:p>
                  </a:txBody>
                  <a:tcPr marL="6750" marR="6750" marT="6750" marB="0" anchor="ctr">
                    <a:solidFill>
                      <a:srgbClr val="92D050"/>
                    </a:solidFill>
                  </a:tcPr>
                </a:tc>
                <a:extLst>
                  <a:ext uri="{0D108BD9-81ED-4DB2-BD59-A6C34878D82A}">
                    <a16:rowId xmlns:a16="http://schemas.microsoft.com/office/drawing/2014/main" val="2717006715"/>
                  </a:ext>
                </a:extLst>
              </a:tr>
              <a:tr h="129500">
                <a:tc>
                  <a:txBody>
                    <a:bodyPr/>
                    <a:lstStyle/>
                    <a:p>
                      <a:pPr algn="l" fontAlgn="b"/>
                      <a:r>
                        <a:rPr lang="en-US" sz="800" u="none" strike="noStrike">
                          <a:effectLst/>
                        </a:rPr>
                        <a:t>SPCM00101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ログイン</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9</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6</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2206316450"/>
                  </a:ext>
                </a:extLst>
              </a:tr>
              <a:tr h="129500">
                <a:tc>
                  <a:txBody>
                    <a:bodyPr/>
                    <a:lstStyle/>
                    <a:p>
                      <a:pPr algn="l" fontAlgn="b"/>
                      <a:r>
                        <a:rPr lang="en-US" sz="800" u="none" strike="noStrike">
                          <a:effectLst/>
                        </a:rPr>
                        <a:t>SPMT0021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工場マスタ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5</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2137433739"/>
                  </a:ext>
                </a:extLst>
              </a:tr>
              <a:tr h="129500">
                <a:tc>
                  <a:txBody>
                    <a:bodyPr/>
                    <a:lstStyle/>
                    <a:p>
                      <a:pPr algn="l" fontAlgn="b"/>
                      <a:r>
                        <a:rPr lang="en-US" sz="800" u="none" strike="noStrike">
                          <a:effectLst/>
                        </a:rPr>
                        <a:t>SPMT00101AC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セクションマスタ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5</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7</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3748269155"/>
                  </a:ext>
                </a:extLst>
              </a:tr>
              <a:tr h="129500">
                <a:tc>
                  <a:txBody>
                    <a:bodyPr/>
                    <a:lstStyle/>
                    <a:p>
                      <a:pPr algn="l" fontAlgn="b"/>
                      <a:r>
                        <a:rPr lang="en-US" sz="800" u="none" strike="noStrike">
                          <a:effectLst/>
                        </a:rPr>
                        <a:t>SPMT00111AC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セクションマスタ検索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9</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5.5</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-3.5</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1574134413"/>
                  </a:ext>
                </a:extLst>
              </a:tr>
              <a:tr h="129500">
                <a:tc>
                  <a:txBody>
                    <a:bodyPr/>
                    <a:lstStyle/>
                    <a:p>
                      <a:pPr algn="l" fontAlgn="b"/>
                      <a:r>
                        <a:rPr lang="en-US" sz="800" u="none" strike="noStrike">
                          <a:effectLst/>
                        </a:rPr>
                        <a:t>SPMT00201AC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グループマスタ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9</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9.8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2756470240"/>
                  </a:ext>
                </a:extLst>
              </a:tr>
              <a:tr h="129500">
                <a:tc>
                  <a:txBody>
                    <a:bodyPr/>
                    <a:lstStyle/>
                    <a:p>
                      <a:pPr algn="l" fontAlgn="b"/>
                      <a:r>
                        <a:rPr lang="en-US" sz="800" u="none" strike="noStrike">
                          <a:effectLst/>
                        </a:rPr>
                        <a:t>SPMT00211AC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グループマスタ検索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9</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8.3</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-0.7</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3420466757"/>
                  </a:ext>
                </a:extLst>
              </a:tr>
              <a:tr h="129500">
                <a:tc>
                  <a:txBody>
                    <a:bodyPr/>
                    <a:lstStyle/>
                    <a:p>
                      <a:pPr algn="l" fontAlgn="b"/>
                      <a:r>
                        <a:rPr lang="en-US" sz="800" u="none" strike="noStrike">
                          <a:effectLst/>
                        </a:rPr>
                        <a:t>SPMT00101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仕入先マスタ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3718586935"/>
                  </a:ext>
                </a:extLst>
              </a:tr>
              <a:tr h="129500">
                <a:tc>
                  <a:txBody>
                    <a:bodyPr/>
                    <a:lstStyle/>
                    <a:p>
                      <a:pPr algn="l" fontAlgn="b"/>
                      <a:r>
                        <a:rPr lang="en-US" sz="800" u="none" strike="noStrike">
                          <a:effectLst/>
                        </a:rPr>
                        <a:t>SPMT00141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dirty="0">
                          <a:effectLst/>
                        </a:rPr>
                        <a:t>調達品マスタ</a:t>
                      </a:r>
                      <a:endParaRPr lang="ja-JP" alt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8</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40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32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4</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472191883"/>
                  </a:ext>
                </a:extLst>
              </a:tr>
              <a:tr h="129500">
                <a:tc>
                  <a:txBody>
                    <a:bodyPr/>
                    <a:lstStyle/>
                    <a:p>
                      <a:pPr algn="l" fontAlgn="b"/>
                      <a:r>
                        <a:rPr lang="en-US" sz="800" u="none" strike="noStrike">
                          <a:effectLst/>
                        </a:rPr>
                        <a:t>SPMT00151AC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調達品契約マスタ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1342903728"/>
                  </a:ext>
                </a:extLst>
              </a:tr>
              <a:tr h="129500">
                <a:tc>
                  <a:txBody>
                    <a:bodyPr/>
                    <a:lstStyle/>
                    <a:p>
                      <a:pPr algn="l" fontAlgn="b"/>
                      <a:r>
                        <a:rPr lang="en-US" sz="800" u="none" strike="noStrike">
                          <a:effectLst/>
                        </a:rPr>
                        <a:t>SPMT00161AC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調達品単位換算マスタ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7</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2207659511"/>
                  </a:ext>
                </a:extLst>
              </a:tr>
              <a:tr h="129500">
                <a:tc>
                  <a:txBody>
                    <a:bodyPr/>
                    <a:lstStyle/>
                    <a:p>
                      <a:pPr algn="l" fontAlgn="b"/>
                      <a:r>
                        <a:rPr lang="en-US" sz="800" u="none" strike="noStrike">
                          <a:effectLst/>
                        </a:rPr>
                        <a:t>SPMT00301AC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レシピ作成用調達品検索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9</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3428400911"/>
                  </a:ext>
                </a:extLst>
              </a:tr>
              <a:tr h="129500">
                <a:tc>
                  <a:txBody>
                    <a:bodyPr/>
                    <a:lstStyle/>
                    <a:p>
                      <a:pPr algn="l" fontAlgn="b"/>
                      <a:r>
                        <a:rPr lang="en-US" sz="800" u="none" strike="noStrike">
                          <a:effectLst/>
                        </a:rPr>
                        <a:t> </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レシピ作成用調達品検索</a:t>
                      </a:r>
                      <a:r>
                        <a:rPr lang="en-US" altLang="ja-JP" sz="800" u="none" strike="noStrike">
                          <a:effectLst/>
                        </a:rPr>
                        <a:t>CSV</a:t>
                      </a:r>
                      <a:r>
                        <a:rPr lang="ja-JP" altLang="en-US" sz="800" u="none" strike="noStrike">
                          <a:effectLst/>
                        </a:rPr>
                        <a:t>出力</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4054097490"/>
                  </a:ext>
                </a:extLst>
              </a:tr>
              <a:tr h="129500">
                <a:tc>
                  <a:txBody>
                    <a:bodyPr/>
                    <a:lstStyle/>
                    <a:p>
                      <a:pPr algn="l" fontAlgn="b"/>
                      <a:r>
                        <a:rPr lang="en-US" sz="800" u="none" strike="noStrike">
                          <a:effectLst/>
                        </a:rPr>
                        <a:t>SPMT00401AC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産地エリアマスタ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7.5</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-0.5</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3956759285"/>
                  </a:ext>
                </a:extLst>
              </a:tr>
              <a:tr h="129500">
                <a:tc>
                  <a:txBody>
                    <a:bodyPr/>
                    <a:lstStyle/>
                    <a:p>
                      <a:pPr algn="l" fontAlgn="b"/>
                      <a:r>
                        <a:rPr lang="en-US" sz="800" u="none" strike="noStrike">
                          <a:effectLst/>
                        </a:rPr>
                        <a:t>SPMT00501AC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産地マスタ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7.5</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-0.5</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2503028013"/>
                  </a:ext>
                </a:extLst>
              </a:tr>
              <a:tr h="129500">
                <a:tc>
                  <a:txBody>
                    <a:bodyPr/>
                    <a:lstStyle/>
                    <a:p>
                      <a:pPr algn="l" fontAlgn="b"/>
                      <a:r>
                        <a:rPr lang="en-US" sz="800" u="none" strike="noStrike">
                          <a:effectLst/>
                        </a:rPr>
                        <a:t>SPMT00701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分類マスタ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5</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1138777616"/>
                  </a:ext>
                </a:extLst>
              </a:tr>
              <a:tr h="155400">
                <a:tc>
                  <a:txBody>
                    <a:bodyPr/>
                    <a:lstStyle/>
                    <a:p>
                      <a:pPr algn="l" fontAlgn="b"/>
                      <a:r>
                        <a:rPr lang="en-US" sz="800" u="none" strike="noStrike">
                          <a:effectLst/>
                        </a:rPr>
                        <a:t>SPMT00601AC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名称マスタ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711521747"/>
                  </a:ext>
                </a:extLst>
              </a:tr>
              <a:tr h="155400">
                <a:tc>
                  <a:txBody>
                    <a:bodyPr/>
                    <a:lstStyle/>
                    <a:p>
                      <a:pPr algn="l" fontAlgn="b"/>
                      <a:r>
                        <a:rPr lang="en-US" sz="800" u="none" strike="noStrike">
                          <a:effectLst/>
                        </a:rPr>
                        <a:t>SPMT00181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祝日マスタ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8.5</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0.5</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1</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2863558115"/>
                  </a:ext>
                </a:extLst>
              </a:tr>
              <a:tr h="129500">
                <a:tc>
                  <a:txBody>
                    <a:bodyPr/>
                    <a:lstStyle/>
                    <a:p>
                      <a:pPr algn="l" fontAlgn="b"/>
                      <a:r>
                        <a:rPr lang="en-US" sz="800" u="none" strike="noStrike">
                          <a:effectLst/>
                        </a:rPr>
                        <a:t>SPMT00231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税マスタ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3065216377"/>
                  </a:ext>
                </a:extLst>
              </a:tr>
              <a:tr h="129500">
                <a:tc>
                  <a:txBody>
                    <a:bodyPr/>
                    <a:lstStyle/>
                    <a:p>
                      <a:pPr algn="l" fontAlgn="b"/>
                      <a:r>
                        <a:rPr lang="en-US" sz="800" u="none" strike="noStrike">
                          <a:effectLst/>
                        </a:rPr>
                        <a:t>SPMT00801AC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組織権限紐づけマスタ</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603152925"/>
                  </a:ext>
                </a:extLst>
              </a:tr>
              <a:tr h="129500">
                <a:tc>
                  <a:txBody>
                    <a:bodyPr/>
                    <a:lstStyle/>
                    <a:p>
                      <a:pPr algn="l" fontAlgn="b"/>
                      <a:r>
                        <a:rPr lang="en-US" sz="800" u="none" strike="noStrike">
                          <a:effectLst/>
                        </a:rPr>
                        <a:t>SPOR00901AC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zh-TW" altLang="en-US" sz="800" u="none" strike="noStrike">
                          <a:effectLst/>
                        </a:rPr>
                        <a:t>発注依頼締切解除</a:t>
                      </a:r>
                      <a:endParaRPr lang="zh-TW"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7</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3219198814"/>
                  </a:ext>
                </a:extLst>
              </a:tr>
              <a:tr h="129500">
                <a:tc>
                  <a:txBody>
                    <a:bodyPr/>
                    <a:lstStyle/>
                    <a:p>
                      <a:pPr algn="l" fontAlgn="b"/>
                      <a:r>
                        <a:rPr lang="en-US" sz="800" u="none" strike="noStrike">
                          <a:effectLst/>
                        </a:rPr>
                        <a:t>SPVM00131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発注承認</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画面</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4</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2147970606"/>
                  </a:ext>
                </a:extLst>
              </a:tr>
              <a:tr h="129500">
                <a:tc>
                  <a:txBody>
                    <a:bodyPr/>
                    <a:lstStyle/>
                    <a:p>
                      <a:pPr algn="l" fontAlgn="b"/>
                      <a:r>
                        <a:rPr lang="en-US" sz="800" u="none" strike="noStrike">
                          <a:effectLst/>
                        </a:rPr>
                        <a:t>BCC0050AC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セクション別在庫マスタ連携</a:t>
                      </a:r>
                      <a:r>
                        <a:rPr lang="en-US" altLang="ja-JP" sz="800" u="none" strike="noStrike">
                          <a:effectLst/>
                        </a:rPr>
                        <a:t>_API_</a:t>
                      </a:r>
                      <a:r>
                        <a:rPr lang="ja-JP" altLang="en-US" sz="800" u="none" strike="noStrike">
                          <a:effectLst/>
                        </a:rPr>
                        <a:t>受信</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en-US" sz="800" u="none" strike="noStrike">
                          <a:effectLst/>
                        </a:rPr>
                        <a:t>API</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26</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12959287"/>
                  </a:ext>
                </a:extLst>
              </a:tr>
              <a:tr h="129500">
                <a:tc>
                  <a:txBody>
                    <a:bodyPr/>
                    <a:lstStyle/>
                    <a:p>
                      <a:pPr algn="l" fontAlgn="b"/>
                      <a:r>
                        <a:rPr lang="en-US" sz="800" u="none" strike="noStrike">
                          <a:effectLst/>
                        </a:rPr>
                        <a:t>BCC0050AC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セクション別在庫マスタ</a:t>
                      </a:r>
                      <a:r>
                        <a:rPr lang="en-US" altLang="ja-JP" sz="800" u="none" strike="noStrike">
                          <a:effectLst/>
                        </a:rPr>
                        <a:t>_</a:t>
                      </a:r>
                      <a:r>
                        <a:rPr lang="ja-JP" altLang="en-US" sz="800" u="none" strike="noStrike">
                          <a:effectLst/>
                        </a:rPr>
                        <a:t>受信</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9</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4155339904"/>
                  </a:ext>
                </a:extLst>
              </a:tr>
              <a:tr h="129500">
                <a:tc>
                  <a:txBody>
                    <a:bodyPr/>
                    <a:lstStyle/>
                    <a:p>
                      <a:pPr algn="l" fontAlgn="b"/>
                      <a:r>
                        <a:rPr lang="en-US" sz="800" u="none" strike="noStrike">
                          <a:effectLst/>
                        </a:rPr>
                        <a:t>BCC0060AC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zh-TW" altLang="en-US" sz="800" u="none" strike="noStrike">
                          <a:effectLst/>
                        </a:rPr>
                        <a:t>食材使用数量報告書連携</a:t>
                      </a:r>
                      <a:r>
                        <a:rPr lang="en-US" altLang="zh-TW" sz="800" u="none" strike="noStrike">
                          <a:effectLst/>
                        </a:rPr>
                        <a:t>_API_</a:t>
                      </a:r>
                      <a:r>
                        <a:rPr lang="zh-TW" altLang="en-US" sz="800" u="none" strike="noStrike">
                          <a:effectLst/>
                        </a:rPr>
                        <a:t>受信</a:t>
                      </a:r>
                      <a:endParaRPr lang="zh-TW"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en-US" sz="800" u="none" strike="noStrike">
                          <a:effectLst/>
                        </a:rPr>
                        <a:t>API</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3</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2</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1138383578"/>
                  </a:ext>
                </a:extLst>
              </a:tr>
              <a:tr h="129500">
                <a:tc>
                  <a:txBody>
                    <a:bodyPr/>
                    <a:lstStyle/>
                    <a:p>
                      <a:pPr algn="l" fontAlgn="b"/>
                      <a:r>
                        <a:rPr lang="en-US" sz="800" u="none" strike="noStrike">
                          <a:effectLst/>
                        </a:rPr>
                        <a:t>BCC0060AC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zh-TW" altLang="en-US" sz="800" u="none" strike="noStrike">
                          <a:effectLst/>
                        </a:rPr>
                        <a:t>食材使用数量報告書</a:t>
                      </a:r>
                      <a:r>
                        <a:rPr lang="en-US" altLang="zh-TW" sz="800" u="none" strike="noStrike">
                          <a:effectLst/>
                        </a:rPr>
                        <a:t>_</a:t>
                      </a:r>
                      <a:r>
                        <a:rPr lang="zh-TW" altLang="en-US" sz="800" u="none" strike="noStrike">
                          <a:effectLst/>
                        </a:rPr>
                        <a:t>受信</a:t>
                      </a:r>
                      <a:endParaRPr lang="zh-TW"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934943583"/>
                  </a:ext>
                </a:extLst>
              </a:tr>
              <a:tr h="129500">
                <a:tc>
                  <a:txBody>
                    <a:bodyPr/>
                    <a:lstStyle/>
                    <a:p>
                      <a:pPr algn="l" fontAlgn="b"/>
                      <a:r>
                        <a:rPr lang="en-US" sz="800" u="none" strike="noStrike">
                          <a:effectLst/>
                        </a:rPr>
                        <a:t>BCC0060AC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zh-TW" altLang="en-US" sz="800" u="none" strike="noStrike">
                          <a:effectLst/>
                        </a:rPr>
                        <a:t>月間使用予定明細</a:t>
                      </a:r>
                      <a:r>
                        <a:rPr lang="en-US" altLang="zh-TW" sz="800" u="none" strike="noStrike">
                          <a:effectLst/>
                        </a:rPr>
                        <a:t>_</a:t>
                      </a:r>
                      <a:r>
                        <a:rPr lang="zh-TW" altLang="en-US" sz="800" u="none" strike="noStrike">
                          <a:effectLst/>
                        </a:rPr>
                        <a:t>受信</a:t>
                      </a:r>
                      <a:endParaRPr lang="zh-TW"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17293967"/>
                  </a:ext>
                </a:extLst>
              </a:tr>
              <a:tr h="129500">
                <a:tc>
                  <a:txBody>
                    <a:bodyPr/>
                    <a:lstStyle/>
                    <a:p>
                      <a:pPr algn="l" fontAlgn="b"/>
                      <a:r>
                        <a:rPr lang="en-US" sz="800" u="none" strike="noStrike">
                          <a:effectLst/>
                        </a:rPr>
                        <a:t>BCC0070AC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生産指示連携</a:t>
                      </a:r>
                      <a:r>
                        <a:rPr lang="en-US" altLang="ja-JP" sz="800" u="none" strike="noStrike">
                          <a:effectLst/>
                        </a:rPr>
                        <a:t>_</a:t>
                      </a:r>
                      <a:r>
                        <a:rPr lang="en-US" sz="800" u="none" strike="noStrike">
                          <a:effectLst/>
                        </a:rPr>
                        <a:t>API_</a:t>
                      </a:r>
                      <a:r>
                        <a:rPr lang="ja-JP" altLang="en-US" sz="800" u="none" strike="noStrike">
                          <a:effectLst/>
                        </a:rPr>
                        <a:t>受信</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en-US" sz="800" u="none" strike="noStrike">
                          <a:effectLst/>
                        </a:rPr>
                        <a:t>API</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7.2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18.1</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10.9</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1</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1285063220"/>
                  </a:ext>
                </a:extLst>
              </a:tr>
              <a:tr h="129500">
                <a:tc>
                  <a:txBody>
                    <a:bodyPr/>
                    <a:lstStyle/>
                    <a:p>
                      <a:pPr algn="l" fontAlgn="b"/>
                      <a:r>
                        <a:rPr lang="en-US" sz="800" u="none" strike="noStrike">
                          <a:effectLst/>
                        </a:rPr>
                        <a:t>BCC0070AC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zh-TW" altLang="en-US" sz="800" u="none" strike="noStrike">
                          <a:effectLst/>
                        </a:rPr>
                        <a:t>生産指示材料構成</a:t>
                      </a:r>
                      <a:r>
                        <a:rPr lang="en-US" altLang="zh-TW" sz="800" u="none" strike="noStrike">
                          <a:effectLst/>
                        </a:rPr>
                        <a:t>(</a:t>
                      </a:r>
                      <a:r>
                        <a:rPr lang="zh-TW" altLang="en-US" sz="800" u="none" strike="noStrike">
                          <a:effectLst/>
                        </a:rPr>
                        <a:t>新</a:t>
                      </a:r>
                      <a:r>
                        <a:rPr lang="en-US" altLang="zh-TW" sz="800" u="none" strike="noStrike">
                          <a:effectLst/>
                        </a:rPr>
                        <a:t>)_</a:t>
                      </a:r>
                      <a:r>
                        <a:rPr lang="zh-TW" altLang="en-US" sz="800" u="none" strike="noStrike">
                          <a:effectLst/>
                        </a:rPr>
                        <a:t>受信</a:t>
                      </a:r>
                      <a:endParaRPr lang="zh-TW"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3468738306"/>
                  </a:ext>
                </a:extLst>
              </a:tr>
              <a:tr h="129500">
                <a:tc>
                  <a:txBody>
                    <a:bodyPr/>
                    <a:lstStyle/>
                    <a:p>
                      <a:pPr algn="l" fontAlgn="b"/>
                      <a:r>
                        <a:rPr lang="en-US" sz="800" u="none" strike="noStrike">
                          <a:effectLst/>
                        </a:rPr>
                        <a:t>BCC0070AC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生産指示番号採番</a:t>
                      </a:r>
                      <a:r>
                        <a:rPr lang="en-US" altLang="ja-JP" sz="800" u="none" strike="noStrike">
                          <a:effectLst/>
                        </a:rPr>
                        <a:t>_</a:t>
                      </a:r>
                      <a:r>
                        <a:rPr lang="ja-JP" altLang="en-US" sz="800" u="none" strike="noStrike">
                          <a:effectLst/>
                        </a:rPr>
                        <a:t>受信</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3783891048"/>
                  </a:ext>
                </a:extLst>
              </a:tr>
              <a:tr h="129500">
                <a:tc>
                  <a:txBody>
                    <a:bodyPr/>
                    <a:lstStyle/>
                    <a:p>
                      <a:pPr algn="l" fontAlgn="b"/>
                      <a:r>
                        <a:rPr lang="en-US" sz="800" u="none" strike="noStrike">
                          <a:effectLst/>
                        </a:rPr>
                        <a:t>BCC0070AC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受注別生産ヘッダ</a:t>
                      </a:r>
                      <a:r>
                        <a:rPr lang="en-US" altLang="ja-JP" sz="800" u="none" strike="noStrike">
                          <a:effectLst/>
                        </a:rPr>
                        <a:t>_</a:t>
                      </a:r>
                      <a:r>
                        <a:rPr lang="ja-JP" altLang="en-US" sz="800" u="none" strike="noStrike">
                          <a:effectLst/>
                        </a:rPr>
                        <a:t>受信</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2</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3283428387"/>
                  </a:ext>
                </a:extLst>
              </a:tr>
              <a:tr h="129500">
                <a:tc>
                  <a:txBody>
                    <a:bodyPr/>
                    <a:lstStyle/>
                    <a:p>
                      <a:pPr algn="l" fontAlgn="b"/>
                      <a:r>
                        <a:rPr lang="en-US" sz="800" u="none" strike="noStrike">
                          <a:effectLst/>
                        </a:rPr>
                        <a:t>BCC0070AC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zh-TW" altLang="en-US" sz="800" u="none" strike="noStrike">
                          <a:effectLst/>
                        </a:rPr>
                        <a:t>受注別生産明細</a:t>
                      </a:r>
                      <a:r>
                        <a:rPr lang="en-US" altLang="zh-TW" sz="800" u="none" strike="noStrike">
                          <a:effectLst/>
                        </a:rPr>
                        <a:t>_</a:t>
                      </a:r>
                      <a:r>
                        <a:rPr lang="zh-TW" altLang="en-US" sz="800" u="none" strike="noStrike">
                          <a:effectLst/>
                        </a:rPr>
                        <a:t>受信</a:t>
                      </a:r>
                      <a:endParaRPr lang="zh-TW"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1348735009"/>
                  </a:ext>
                </a:extLst>
              </a:tr>
              <a:tr h="129500">
                <a:tc>
                  <a:txBody>
                    <a:bodyPr/>
                    <a:lstStyle/>
                    <a:p>
                      <a:pPr algn="l" fontAlgn="b"/>
                      <a:r>
                        <a:rPr lang="en-US" sz="800" u="none" strike="noStrike">
                          <a:effectLst/>
                        </a:rPr>
                        <a:t>BCC0080AC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配合構成ヘッダ</a:t>
                      </a:r>
                      <a:r>
                        <a:rPr lang="en-US" altLang="ja-JP" sz="800" u="none" strike="noStrike">
                          <a:effectLst/>
                        </a:rPr>
                        <a:t>_</a:t>
                      </a:r>
                      <a:r>
                        <a:rPr lang="ja-JP" altLang="en-US" sz="800" u="none" strike="noStrike">
                          <a:effectLst/>
                        </a:rPr>
                        <a:t>受信</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16</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18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998660387"/>
                  </a:ext>
                </a:extLst>
              </a:tr>
              <a:tr h="129500">
                <a:tc>
                  <a:txBody>
                    <a:bodyPr/>
                    <a:lstStyle/>
                    <a:p>
                      <a:pPr algn="l" fontAlgn="b"/>
                      <a:r>
                        <a:rPr lang="en-US" sz="800" u="none" strike="noStrike">
                          <a:effectLst/>
                        </a:rPr>
                        <a:t>BCC0080AC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メニュー企画・生産用材料構成</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7.2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7.2</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2065102584"/>
                  </a:ext>
                </a:extLst>
              </a:tr>
              <a:tr h="129500">
                <a:tc>
                  <a:txBody>
                    <a:bodyPr/>
                    <a:lstStyle/>
                    <a:p>
                      <a:pPr algn="l" fontAlgn="b"/>
                      <a:r>
                        <a:rPr lang="en-US" sz="800" u="none" strike="noStrike">
                          <a:effectLst/>
                        </a:rPr>
                        <a:t>BCC0080AC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メニュー企画</a:t>
                      </a:r>
                      <a:r>
                        <a:rPr lang="en-US" altLang="ja-JP" sz="800" u="none" strike="noStrike">
                          <a:effectLst/>
                        </a:rPr>
                        <a:t>_</a:t>
                      </a:r>
                      <a:r>
                        <a:rPr lang="ja-JP" altLang="en-US" sz="800" u="none" strike="noStrike">
                          <a:effectLst/>
                        </a:rPr>
                        <a:t>受信</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2942602254"/>
                  </a:ext>
                </a:extLst>
              </a:tr>
              <a:tr h="129500">
                <a:tc>
                  <a:txBody>
                    <a:bodyPr/>
                    <a:lstStyle/>
                    <a:p>
                      <a:pPr algn="l" fontAlgn="b"/>
                      <a:r>
                        <a:rPr lang="en-US" sz="800" u="none" strike="noStrike">
                          <a:effectLst/>
                        </a:rPr>
                        <a:t>BCC0080AC</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zh-TW" altLang="en-US" sz="800" u="none" strike="noStrike">
                          <a:effectLst/>
                        </a:rPr>
                        <a:t>生産用材料構成</a:t>
                      </a:r>
                      <a:r>
                        <a:rPr lang="en-US" altLang="zh-TW" sz="800" u="none" strike="noStrike">
                          <a:effectLst/>
                        </a:rPr>
                        <a:t>_</a:t>
                      </a:r>
                      <a:r>
                        <a:rPr lang="zh-TW" altLang="en-US" sz="800" u="none" strike="noStrike">
                          <a:effectLst/>
                        </a:rPr>
                        <a:t>受信</a:t>
                      </a:r>
                      <a:endParaRPr lang="zh-TW"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l" fontAlgn="b"/>
                      <a:r>
                        <a:rPr lang="ja-JP" altLang="en-US" sz="800" u="none" strike="noStrike">
                          <a:effectLst/>
                        </a:rPr>
                        <a:t>バッチ</a:t>
                      </a:r>
                      <a:endParaRPr lang="ja-JP" alt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8</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a:effectLst/>
                        </a:rPr>
                        <a:t>0</a:t>
                      </a:r>
                      <a:endParaRPr lang="en-US" sz="800" b="0" i="0" u="none" strike="noStrike">
                        <a:solidFill>
                          <a:srgbClr val="000000"/>
                        </a:solidFill>
                        <a:effectLst/>
                        <a:latin typeface="Calibri" panose="020F0502020204030204" pitchFamily="34" charset="0"/>
                      </a:endParaRPr>
                    </a:p>
                  </a:txBody>
                  <a:tcPr marL="6750" marR="6750" marT="6750" marB="0" anchor="b">
                    <a:solidFill>
                      <a:schemeClr val="bg1"/>
                    </a:solidFill>
                  </a:tcPr>
                </a:tc>
                <a:tc>
                  <a:txBody>
                    <a:bodyPr/>
                    <a:lstStyle/>
                    <a:p>
                      <a:pPr algn="r" fontAlgn="b"/>
                      <a:r>
                        <a:rPr lang="en-US" sz="800" u="none" strike="noStrike" dirty="0">
                          <a:effectLst/>
                        </a:rPr>
                        <a:t>0</a:t>
                      </a:r>
                      <a:endParaRPr lang="en-US" sz="800" b="0" i="0" u="none" strike="noStrike" dirty="0">
                        <a:solidFill>
                          <a:srgbClr val="000000"/>
                        </a:solidFill>
                        <a:effectLst/>
                        <a:latin typeface="Calibri" panose="020F0502020204030204" pitchFamily="34" charset="0"/>
                      </a:endParaRPr>
                    </a:p>
                  </a:txBody>
                  <a:tcPr marL="6750" marR="6750" marT="6750" marB="0" anchor="b">
                    <a:solidFill>
                      <a:schemeClr val="bg1"/>
                    </a:solidFill>
                  </a:tcPr>
                </a:tc>
                <a:extLst>
                  <a:ext uri="{0D108BD9-81ED-4DB2-BD59-A6C34878D82A}">
                    <a16:rowId xmlns:a16="http://schemas.microsoft.com/office/drawing/2014/main" val="998300638"/>
                  </a:ext>
                </a:extLst>
              </a:tr>
            </a:tbl>
          </a:graphicData>
        </a:graphic>
      </p:graphicFrame>
    </p:spTree>
    <p:extLst>
      <p:ext uri="{BB962C8B-B14F-4D97-AF65-F5344CB8AC3E}">
        <p14:creationId xmlns:p14="http://schemas.microsoft.com/office/powerpoint/2010/main" val="3323941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t>11</a:t>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単体テスト実施結果分析</a:t>
            </a:r>
            <a:endParaRPr lang="en-US" altLang="ja-JP"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sp>
        <p:nvSpPr>
          <p:cNvPr id="8" name="Rectangle 7"/>
          <p:cNvSpPr/>
          <p:nvPr/>
        </p:nvSpPr>
        <p:spPr>
          <a:xfrm>
            <a:off x="550334" y="1168399"/>
            <a:ext cx="3843866" cy="4233334"/>
          </a:xfrm>
          <a:prstGeom prst="rect">
            <a:avLst/>
          </a:prstGeom>
          <a:noFill/>
          <a:ln>
            <a:noFill/>
          </a:ln>
          <a:effectLst>
            <a:outerShdw blurRad="50800" dist="50800" dir="5400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400" b="1" dirty="0">
                <a:solidFill>
                  <a:schemeClr val="tx1"/>
                </a:solidFill>
              </a:rPr>
              <a:t>① 認</a:t>
            </a:r>
            <a:r>
              <a:rPr lang="ja-JP" altLang="en-US" sz="1400" b="1" dirty="0" smtClean="0">
                <a:solidFill>
                  <a:schemeClr val="tx1"/>
                </a:solidFill>
              </a:rPr>
              <a:t>識</a:t>
            </a:r>
            <a:endParaRPr lang="en-US" altLang="ja-JP" sz="1400" b="1" dirty="0" smtClean="0">
              <a:solidFill>
                <a:schemeClr val="tx1"/>
              </a:solidFill>
            </a:endParaRPr>
          </a:p>
          <a:p>
            <a:endParaRPr lang="ja-JP" altLang="en-US" sz="1400" b="1" dirty="0">
              <a:solidFill>
                <a:schemeClr val="tx1"/>
              </a:solidFill>
            </a:endParaRPr>
          </a:p>
          <a:p>
            <a:r>
              <a:rPr lang="ja-JP" altLang="en-US" sz="1400" b="1" dirty="0" smtClean="0">
                <a:solidFill>
                  <a:schemeClr val="tx1"/>
                </a:solidFill>
              </a:rPr>
              <a:t>一</a:t>
            </a:r>
            <a:r>
              <a:rPr lang="ja-JP" altLang="en-US" sz="1400" b="1" dirty="0">
                <a:solidFill>
                  <a:schemeClr val="tx1"/>
                </a:solidFill>
              </a:rPr>
              <a:t>部の機能において、工</a:t>
            </a:r>
            <a:r>
              <a:rPr lang="ja-JP" altLang="en-US" sz="1400" b="1" dirty="0" smtClean="0">
                <a:solidFill>
                  <a:schemeClr val="tx1"/>
                </a:solidFill>
              </a:rPr>
              <a:t>数オーバーし</a:t>
            </a:r>
            <a:r>
              <a:rPr lang="ja-JP" altLang="en-US" sz="1400" b="1" dirty="0">
                <a:solidFill>
                  <a:schemeClr val="tx1"/>
                </a:solidFill>
              </a:rPr>
              <a:t>ている状況が見受けられました。</a:t>
            </a:r>
            <a:endParaRPr lang="ja-JP" altLang="en-US" sz="1400" dirty="0">
              <a:solidFill>
                <a:schemeClr val="tx1"/>
              </a:solidFill>
            </a:endParaRPr>
          </a:p>
          <a:p>
            <a:pPr fontAlgn="ctr">
              <a:lnSpc>
                <a:spcPct val="150000"/>
              </a:lnSpc>
            </a:pPr>
            <a:r>
              <a:rPr lang="ja-JP" altLang="en-US" sz="1400" dirty="0" smtClean="0">
                <a:solidFill>
                  <a:schemeClr val="tx1"/>
                </a:solidFill>
                <a:latin typeface="Arial (Body)"/>
                <a:ea typeface="Meiryo UI" panose="020B0604030504040204" pitchFamily="50" charset="-128"/>
              </a:rPr>
              <a:t>（</a:t>
            </a:r>
            <a:r>
              <a:rPr lang="ja-JP" altLang="en-US" sz="1400" dirty="0" smtClean="0">
                <a:solidFill>
                  <a:schemeClr val="tx1"/>
                </a:solidFill>
                <a:latin typeface="Arial (Body)"/>
                <a:ea typeface="Meiryo UI" panose="020B0604030504040204" pitchFamily="50" charset="-128"/>
              </a:rPr>
              <a:t>単位：時間）</a:t>
            </a:r>
            <a:endParaRPr lang="en-US" altLang="en-US" sz="1400" dirty="0" smtClean="0">
              <a:solidFill>
                <a:schemeClr val="tx1"/>
              </a:solidFill>
              <a:latin typeface="Arial (Body)"/>
              <a:ea typeface="Meiryo UI" panose="020B0604030504040204" pitchFamily="50" charset="-128"/>
            </a:endParaRPr>
          </a:p>
          <a:p>
            <a:pPr fontAlgn="ctr">
              <a:lnSpc>
                <a:spcPct val="150000"/>
              </a:lnSpc>
            </a:pPr>
            <a:r>
              <a:rPr lang="ja-JP" altLang="en-US" sz="1400" dirty="0">
                <a:solidFill>
                  <a:schemeClr val="tx1"/>
                </a:solidFill>
                <a:latin typeface="Arial (Body)"/>
                <a:ea typeface="Meiryo UI" panose="020B0604030504040204" pitchFamily="50" charset="-128"/>
              </a:rPr>
              <a:t>調達品マスタ：</a:t>
            </a:r>
            <a:r>
              <a:rPr lang="en-US" altLang="ja-JP" sz="1400" dirty="0">
                <a:solidFill>
                  <a:schemeClr val="tx1"/>
                </a:solidFill>
                <a:latin typeface="Arial (Body)"/>
                <a:ea typeface="Meiryo UI" panose="020B0604030504040204" pitchFamily="50" charset="-128"/>
              </a:rPr>
              <a:t>32</a:t>
            </a:r>
          </a:p>
          <a:p>
            <a:pPr fontAlgn="ctr">
              <a:lnSpc>
                <a:spcPct val="150000"/>
              </a:lnSpc>
            </a:pPr>
            <a:r>
              <a:rPr lang="ja-JP" altLang="en-US" sz="1400" dirty="0">
                <a:solidFill>
                  <a:schemeClr val="tx1"/>
                </a:solidFill>
                <a:latin typeface="Arial (Body)"/>
                <a:ea typeface="Meiryo UI" panose="020B0604030504040204" pitchFamily="50" charset="-128"/>
              </a:rPr>
              <a:t>分類マスタ：</a:t>
            </a:r>
            <a:r>
              <a:rPr lang="en-US" altLang="ja-JP" sz="1400" dirty="0">
                <a:solidFill>
                  <a:schemeClr val="tx1"/>
                </a:solidFill>
                <a:latin typeface="Arial (Body)"/>
                <a:ea typeface="Meiryo UI" panose="020B0604030504040204" pitchFamily="50" charset="-128"/>
              </a:rPr>
              <a:t>8</a:t>
            </a:r>
          </a:p>
          <a:p>
            <a:pPr fontAlgn="ctr">
              <a:lnSpc>
                <a:spcPct val="150000"/>
              </a:lnSpc>
            </a:pPr>
            <a:r>
              <a:rPr lang="ja-JP" altLang="en-US" sz="1400" dirty="0">
                <a:solidFill>
                  <a:schemeClr val="tx1"/>
                </a:solidFill>
                <a:latin typeface="Arial (Body)"/>
                <a:ea typeface="Meiryo UI" panose="020B0604030504040204" pitchFamily="50" charset="-128"/>
              </a:rPr>
              <a:t>セクション別在庫マスタ連携</a:t>
            </a:r>
            <a:r>
              <a:rPr lang="en-US" altLang="ja-JP" sz="1400" dirty="0">
                <a:solidFill>
                  <a:schemeClr val="tx1"/>
                </a:solidFill>
                <a:latin typeface="Arial (Body)"/>
                <a:ea typeface="Meiryo UI" panose="020B0604030504040204" pitchFamily="50" charset="-128"/>
              </a:rPr>
              <a:t>_API</a:t>
            </a:r>
            <a:r>
              <a:rPr lang="ja-JP" altLang="en-US" sz="1400" dirty="0">
                <a:solidFill>
                  <a:schemeClr val="tx1"/>
                </a:solidFill>
                <a:latin typeface="Arial (Body)"/>
                <a:ea typeface="Meiryo UI" panose="020B0604030504040204" pitchFamily="50" charset="-128"/>
              </a:rPr>
              <a:t>：</a:t>
            </a:r>
            <a:r>
              <a:rPr lang="en-US" altLang="ja-JP" sz="1400" dirty="0">
                <a:solidFill>
                  <a:schemeClr val="tx1"/>
                </a:solidFill>
                <a:latin typeface="Arial (Body)"/>
                <a:ea typeface="Meiryo UI" panose="020B0604030504040204" pitchFamily="50" charset="-128"/>
              </a:rPr>
              <a:t>10</a:t>
            </a:r>
          </a:p>
          <a:p>
            <a:pPr fontAlgn="ctr">
              <a:lnSpc>
                <a:spcPct val="150000"/>
              </a:lnSpc>
            </a:pPr>
            <a:r>
              <a:rPr lang="ja-JP" altLang="en-US" sz="1400" dirty="0">
                <a:solidFill>
                  <a:schemeClr val="tx1"/>
                </a:solidFill>
                <a:latin typeface="Arial (Body)"/>
                <a:ea typeface="Meiryo UI" panose="020B0604030504040204" pitchFamily="50" charset="-128"/>
              </a:rPr>
              <a:t>生産指示連携</a:t>
            </a:r>
            <a:r>
              <a:rPr lang="en-US" altLang="ja-JP" sz="1400" dirty="0">
                <a:solidFill>
                  <a:schemeClr val="tx1"/>
                </a:solidFill>
                <a:latin typeface="Arial (Body)"/>
                <a:ea typeface="Meiryo UI" panose="020B0604030504040204" pitchFamily="50" charset="-128"/>
              </a:rPr>
              <a:t>_API</a:t>
            </a:r>
            <a:r>
              <a:rPr lang="ja-JP" altLang="en-US" sz="1400" dirty="0">
                <a:solidFill>
                  <a:schemeClr val="tx1"/>
                </a:solidFill>
                <a:latin typeface="Arial (Body)"/>
                <a:ea typeface="Meiryo UI" panose="020B0604030504040204" pitchFamily="50" charset="-128"/>
              </a:rPr>
              <a:t>：</a:t>
            </a:r>
            <a:r>
              <a:rPr lang="en-US" altLang="ja-JP" sz="1400" dirty="0" smtClean="0">
                <a:solidFill>
                  <a:schemeClr val="tx1"/>
                </a:solidFill>
                <a:latin typeface="Arial (Body)"/>
                <a:ea typeface="Meiryo UI" panose="020B0604030504040204" pitchFamily="50" charset="-128"/>
              </a:rPr>
              <a:t>10.9</a:t>
            </a:r>
            <a:endParaRPr lang="vi-VN" altLang="en-US" sz="1400" dirty="0">
              <a:solidFill>
                <a:schemeClr val="tx1"/>
              </a:solidFill>
              <a:latin typeface="Arial (Body)"/>
              <a:ea typeface="Meiryo UI" panose="020B0604030504040204" pitchFamily="50" charset="-128"/>
            </a:endParaRPr>
          </a:p>
        </p:txBody>
      </p:sp>
      <p:graphicFrame>
        <p:nvGraphicFramePr>
          <p:cNvPr id="9" name="Chart 8"/>
          <p:cNvGraphicFramePr>
            <a:graphicFrameLocks/>
          </p:cNvGraphicFramePr>
          <p:nvPr>
            <p:extLst>
              <p:ext uri="{D42A27DB-BD31-4B8C-83A1-F6EECF244321}">
                <p14:modId xmlns:p14="http://schemas.microsoft.com/office/powerpoint/2010/main" val="1572927897"/>
              </p:ext>
            </p:extLst>
          </p:nvPr>
        </p:nvGraphicFramePr>
        <p:xfrm>
          <a:off x="4504267" y="1608667"/>
          <a:ext cx="6316133" cy="379306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62125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t>12</a:t>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sym typeface="+mn-ea"/>
              </a:rPr>
              <a:t>単体テスト実施結果分析</a:t>
            </a:r>
            <a:endParaRPr lang="en-US" altLang="ja-JP"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sp>
        <p:nvSpPr>
          <p:cNvPr id="8" name="Rectangle 7"/>
          <p:cNvSpPr/>
          <p:nvPr/>
        </p:nvSpPr>
        <p:spPr>
          <a:xfrm>
            <a:off x="740833" y="1109131"/>
            <a:ext cx="10964333" cy="4877019"/>
          </a:xfrm>
          <a:prstGeom prst="rect">
            <a:avLst/>
          </a:prstGeom>
          <a:noFill/>
          <a:ln>
            <a:noFill/>
          </a:ln>
          <a:effectLst>
            <a:outerShdw blurRad="50800" dist="50800" dir="5400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400" dirty="0">
                <a:solidFill>
                  <a:schemeClr val="tx1"/>
                </a:solidFill>
              </a:rPr>
              <a:t>② 原</a:t>
            </a:r>
            <a:r>
              <a:rPr lang="ja-JP" altLang="en-US" sz="1400" dirty="0" smtClean="0">
                <a:solidFill>
                  <a:schemeClr val="tx1"/>
                </a:solidFill>
              </a:rPr>
              <a:t>因</a:t>
            </a:r>
            <a:endParaRPr lang="en-US" altLang="ja-JP" sz="1400" dirty="0" smtClean="0">
              <a:solidFill>
                <a:schemeClr val="tx1"/>
              </a:solidFill>
            </a:endParaRPr>
          </a:p>
          <a:p>
            <a:endParaRPr lang="ja-JP" altLang="en-US" sz="1400" dirty="0">
              <a:solidFill>
                <a:schemeClr val="tx1"/>
              </a:solidFill>
            </a:endParaRPr>
          </a:p>
          <a:p>
            <a:r>
              <a:rPr lang="ja-JP" altLang="en-US" sz="1400" dirty="0" smtClean="0">
                <a:solidFill>
                  <a:schemeClr val="tx1"/>
                </a:solidFill>
              </a:rPr>
              <a:t>１．プ</a:t>
            </a:r>
            <a:r>
              <a:rPr lang="ja-JP" altLang="en-US" sz="1400" dirty="0">
                <a:solidFill>
                  <a:schemeClr val="tx1"/>
                </a:solidFill>
              </a:rPr>
              <a:t>ロジェクト立ち上げ初期におい</a:t>
            </a:r>
            <a:r>
              <a:rPr lang="ja-JP" altLang="en-US" sz="1400" dirty="0" smtClean="0">
                <a:solidFill>
                  <a:schemeClr val="tx1"/>
                </a:solidFill>
              </a:rPr>
              <a:t>て </a:t>
            </a:r>
            <a:r>
              <a:rPr lang="en-US" altLang="ja-JP" sz="1400" dirty="0" smtClean="0">
                <a:solidFill>
                  <a:schemeClr val="tx1"/>
                </a:solidFill>
              </a:rPr>
              <a:t>API</a:t>
            </a:r>
            <a:r>
              <a:rPr lang="ja-JP" altLang="en-US" sz="1400" dirty="0" smtClean="0">
                <a:solidFill>
                  <a:schemeClr val="tx1"/>
                </a:solidFill>
              </a:rPr>
              <a:t>基盤</a:t>
            </a:r>
            <a:r>
              <a:rPr lang="en-US" altLang="ja-JP" sz="1400" dirty="0" smtClean="0">
                <a:solidFill>
                  <a:schemeClr val="tx1"/>
                </a:solidFill>
              </a:rPr>
              <a:t> </a:t>
            </a:r>
            <a:r>
              <a:rPr lang="ja-JP" altLang="en-US" sz="1400" dirty="0">
                <a:solidFill>
                  <a:schemeClr val="tx1"/>
                </a:solidFill>
              </a:rPr>
              <a:t>が未整備であったため、</a:t>
            </a:r>
            <a:br>
              <a:rPr lang="ja-JP" altLang="en-US" sz="1400" dirty="0">
                <a:solidFill>
                  <a:schemeClr val="tx1"/>
                </a:solidFill>
              </a:rPr>
            </a:br>
            <a:r>
              <a:rPr lang="ja-JP" altLang="en-US" sz="1400" dirty="0" smtClean="0">
                <a:solidFill>
                  <a:schemeClr val="tx1"/>
                </a:solidFill>
              </a:rPr>
              <a:t>本</a:t>
            </a:r>
            <a:r>
              <a:rPr lang="ja-JP" altLang="en-US" sz="1400" dirty="0">
                <a:solidFill>
                  <a:schemeClr val="tx1"/>
                </a:solidFill>
              </a:rPr>
              <a:t>プロジェクトにて </a:t>
            </a:r>
            <a:r>
              <a:rPr lang="en-US" altLang="ja-JP" sz="1400" dirty="0">
                <a:solidFill>
                  <a:schemeClr val="tx1"/>
                </a:solidFill>
              </a:rPr>
              <a:t>API</a:t>
            </a:r>
            <a:r>
              <a:rPr lang="ja-JP" altLang="en-US" sz="1400" dirty="0">
                <a:solidFill>
                  <a:schemeClr val="tx1"/>
                </a:solidFill>
              </a:rPr>
              <a:t>基盤</a:t>
            </a:r>
            <a:r>
              <a:rPr lang="ja-JP" altLang="en-US" sz="1400" dirty="0" smtClean="0">
                <a:solidFill>
                  <a:schemeClr val="tx1"/>
                </a:solidFill>
              </a:rPr>
              <a:t>の</a:t>
            </a:r>
            <a:r>
              <a:rPr lang="ja-JP" altLang="en-US" sz="1400" dirty="0">
                <a:solidFill>
                  <a:schemeClr val="tx1"/>
                </a:solidFill>
              </a:rPr>
              <a:t>構築</a:t>
            </a:r>
            <a:r>
              <a:rPr lang="ja-JP" altLang="en-US" sz="1400" dirty="0" smtClean="0">
                <a:solidFill>
                  <a:schemeClr val="tx1"/>
                </a:solidFill>
              </a:rPr>
              <a:t>を新規実</a:t>
            </a:r>
            <a:r>
              <a:rPr lang="ja-JP" altLang="en-US" sz="1400" dirty="0">
                <a:solidFill>
                  <a:schemeClr val="tx1"/>
                </a:solidFill>
              </a:rPr>
              <a:t>施しております。</a:t>
            </a:r>
          </a:p>
          <a:p>
            <a:r>
              <a:rPr lang="ja-JP" altLang="en-US" sz="1400" dirty="0" smtClean="0">
                <a:solidFill>
                  <a:schemeClr val="tx1"/>
                </a:solidFill>
              </a:rPr>
              <a:t>そ</a:t>
            </a:r>
            <a:r>
              <a:rPr lang="ja-JP" altLang="en-US" sz="1400" dirty="0">
                <a:solidFill>
                  <a:schemeClr val="tx1"/>
                </a:solidFill>
              </a:rPr>
              <a:t>の結果、</a:t>
            </a:r>
            <a:r>
              <a:rPr lang="en-US" altLang="ja-JP" sz="1400" dirty="0">
                <a:solidFill>
                  <a:schemeClr val="tx1"/>
                </a:solidFill>
              </a:rPr>
              <a:t>API </a:t>
            </a:r>
            <a:r>
              <a:rPr lang="ja-JP" altLang="en-US" sz="1400" dirty="0">
                <a:solidFill>
                  <a:schemeClr val="tx1"/>
                </a:solidFill>
              </a:rPr>
              <a:t>の </a:t>
            </a:r>
            <a:r>
              <a:rPr lang="ja-JP" altLang="en-US" sz="1400" dirty="0" smtClean="0">
                <a:solidFill>
                  <a:schemeClr val="tx1"/>
                </a:solidFill>
              </a:rPr>
              <a:t>単体テスト実</a:t>
            </a:r>
            <a:r>
              <a:rPr lang="ja-JP" altLang="en-US" sz="1400" dirty="0">
                <a:solidFill>
                  <a:schemeClr val="tx1"/>
                </a:solidFill>
              </a:rPr>
              <a:t>施時には</a:t>
            </a:r>
            <a:r>
              <a:rPr lang="ja-JP" altLang="en-US" sz="1400" dirty="0" smtClean="0">
                <a:solidFill>
                  <a:schemeClr val="tx1"/>
                </a:solidFill>
              </a:rPr>
              <a:t>、</a:t>
            </a:r>
            <a:endParaRPr lang="en-US" altLang="ja-JP" sz="1400" dirty="0" smtClean="0">
              <a:solidFill>
                <a:schemeClr val="tx1"/>
              </a:solidFill>
            </a:endParaRPr>
          </a:p>
          <a:p>
            <a:r>
              <a:rPr lang="ja-JP" altLang="en-US" sz="1400" dirty="0" smtClean="0">
                <a:solidFill>
                  <a:schemeClr val="tx1"/>
                </a:solidFill>
              </a:rPr>
              <a:t>業</a:t>
            </a:r>
            <a:r>
              <a:rPr lang="ja-JP" altLang="en-US" sz="1400" dirty="0">
                <a:solidFill>
                  <a:schemeClr val="tx1"/>
                </a:solidFill>
              </a:rPr>
              <a:t>務機能の確認に加え</a:t>
            </a:r>
            <a:r>
              <a:rPr lang="ja-JP" altLang="en-US" sz="1400" dirty="0" smtClean="0">
                <a:solidFill>
                  <a:schemeClr val="tx1"/>
                </a:solidFill>
              </a:rPr>
              <a:t>、</a:t>
            </a:r>
            <a:endParaRPr lang="en-US" altLang="ja-JP" sz="1400" dirty="0" smtClean="0">
              <a:solidFill>
                <a:schemeClr val="tx1"/>
              </a:solidFill>
            </a:endParaRPr>
          </a:p>
          <a:p>
            <a:r>
              <a:rPr lang="en-US" altLang="ja-JP" sz="1400" dirty="0" smtClean="0">
                <a:solidFill>
                  <a:schemeClr val="tx1"/>
                </a:solidFill>
              </a:rPr>
              <a:t>API</a:t>
            </a:r>
            <a:r>
              <a:rPr lang="ja-JP" altLang="en-US" sz="1400" dirty="0">
                <a:solidFill>
                  <a:schemeClr val="tx1"/>
                </a:solidFill>
              </a:rPr>
              <a:t>基盤</a:t>
            </a:r>
            <a:r>
              <a:rPr lang="ja-JP" altLang="en-US" sz="1400" dirty="0" smtClean="0">
                <a:solidFill>
                  <a:schemeClr val="tx1"/>
                </a:solidFill>
              </a:rPr>
              <a:t>に</a:t>
            </a:r>
            <a:r>
              <a:rPr lang="ja-JP" altLang="en-US" sz="1400" dirty="0">
                <a:solidFill>
                  <a:schemeClr val="tx1"/>
                </a:solidFill>
              </a:rPr>
              <a:t>おける共通処理および基盤処理の確認も必要となりました</a:t>
            </a:r>
            <a:r>
              <a:rPr lang="ja-JP" altLang="en-US" sz="1400" dirty="0" smtClean="0">
                <a:solidFill>
                  <a:schemeClr val="tx1"/>
                </a:solidFill>
              </a:rPr>
              <a:t>。</a:t>
            </a:r>
            <a:endParaRPr lang="en-US" altLang="ja-JP" sz="1400" dirty="0" smtClean="0">
              <a:solidFill>
                <a:schemeClr val="tx1"/>
              </a:solidFill>
            </a:endParaRPr>
          </a:p>
          <a:p>
            <a:r>
              <a:rPr lang="ja-JP" altLang="en-US" sz="1400" dirty="0">
                <a:solidFill>
                  <a:schemeClr val="tx1"/>
                </a:solidFill>
              </a:rPr>
              <a:t/>
            </a:r>
            <a:br>
              <a:rPr lang="ja-JP" altLang="en-US" sz="1400" dirty="0">
                <a:solidFill>
                  <a:schemeClr val="tx1"/>
                </a:solidFill>
              </a:rPr>
            </a:br>
            <a:r>
              <a:rPr lang="ja-JP" altLang="en-US" sz="1400" dirty="0" smtClean="0">
                <a:solidFill>
                  <a:schemeClr val="tx1"/>
                </a:solidFill>
              </a:rPr>
              <a:t>特</a:t>
            </a:r>
            <a:r>
              <a:rPr lang="ja-JP" altLang="en-US" sz="1400" dirty="0">
                <a:solidFill>
                  <a:schemeClr val="tx1"/>
                </a:solidFill>
              </a:rPr>
              <a:t>に、初期に </a:t>
            </a:r>
            <a:r>
              <a:rPr lang="ja-JP" altLang="en-US" sz="1400" dirty="0" smtClean="0">
                <a:solidFill>
                  <a:schemeClr val="tx1"/>
                </a:solidFill>
              </a:rPr>
              <a:t>単体テストを</a:t>
            </a:r>
            <a:r>
              <a:rPr lang="ja-JP" altLang="en-US" sz="1400" dirty="0">
                <a:solidFill>
                  <a:schemeClr val="tx1"/>
                </a:solidFill>
              </a:rPr>
              <a:t>実施した </a:t>
            </a:r>
            <a:r>
              <a:rPr lang="en-US" altLang="ja-JP" sz="1400" dirty="0">
                <a:solidFill>
                  <a:schemeClr val="tx1"/>
                </a:solidFill>
              </a:rPr>
              <a:t>API </a:t>
            </a:r>
            <a:r>
              <a:rPr lang="ja-JP" altLang="en-US" sz="1400" dirty="0">
                <a:solidFill>
                  <a:schemeClr val="tx1"/>
                </a:solidFill>
              </a:rPr>
              <a:t>機能につきましては、</a:t>
            </a:r>
            <a:br>
              <a:rPr lang="ja-JP" altLang="en-US" sz="1400" dirty="0">
                <a:solidFill>
                  <a:schemeClr val="tx1"/>
                </a:solidFill>
              </a:rPr>
            </a:br>
            <a:r>
              <a:rPr lang="ja-JP" altLang="en-US" sz="1400" dirty="0" smtClean="0">
                <a:solidFill>
                  <a:schemeClr val="tx1"/>
                </a:solidFill>
              </a:rPr>
              <a:t>業</a:t>
            </a:r>
            <a:r>
              <a:rPr lang="ja-JP" altLang="en-US" sz="1400" dirty="0">
                <a:solidFill>
                  <a:schemeClr val="tx1"/>
                </a:solidFill>
              </a:rPr>
              <a:t>務確認と </a:t>
            </a:r>
            <a:r>
              <a:rPr lang="en-US" altLang="ja-JP" sz="1400" dirty="0">
                <a:solidFill>
                  <a:schemeClr val="tx1"/>
                </a:solidFill>
              </a:rPr>
              <a:t>API</a:t>
            </a:r>
            <a:r>
              <a:rPr lang="ja-JP" altLang="en-US" sz="1400" dirty="0">
                <a:solidFill>
                  <a:schemeClr val="tx1"/>
                </a:solidFill>
              </a:rPr>
              <a:t>基盤</a:t>
            </a:r>
            <a:r>
              <a:rPr lang="ja-JP" altLang="en-US" sz="1400" dirty="0" smtClean="0">
                <a:solidFill>
                  <a:schemeClr val="tx1"/>
                </a:solidFill>
              </a:rPr>
              <a:t>の影響確</a:t>
            </a:r>
            <a:r>
              <a:rPr lang="ja-JP" altLang="en-US" sz="1400" dirty="0">
                <a:solidFill>
                  <a:schemeClr val="tx1"/>
                </a:solidFill>
              </a:rPr>
              <a:t>認</a:t>
            </a:r>
            <a:r>
              <a:rPr lang="ja-JP" altLang="en-US" sz="1400" dirty="0" smtClean="0">
                <a:solidFill>
                  <a:schemeClr val="tx1"/>
                </a:solidFill>
              </a:rPr>
              <a:t>を行</a:t>
            </a:r>
            <a:r>
              <a:rPr lang="ja-JP" altLang="en-US" sz="1400" dirty="0">
                <a:solidFill>
                  <a:schemeClr val="tx1"/>
                </a:solidFill>
              </a:rPr>
              <a:t>ったため、</a:t>
            </a:r>
            <a:br>
              <a:rPr lang="ja-JP" altLang="en-US" sz="1400" dirty="0">
                <a:solidFill>
                  <a:schemeClr val="tx1"/>
                </a:solidFill>
              </a:rPr>
            </a:br>
            <a:r>
              <a:rPr lang="ja-JP" altLang="en-US" sz="1400" dirty="0" smtClean="0">
                <a:solidFill>
                  <a:schemeClr val="tx1"/>
                </a:solidFill>
              </a:rPr>
              <a:t>当</a:t>
            </a:r>
            <a:r>
              <a:rPr lang="ja-JP" altLang="en-US" sz="1400" dirty="0">
                <a:solidFill>
                  <a:schemeClr val="tx1"/>
                </a:solidFill>
              </a:rPr>
              <a:t>初計画よりも工数が増加しております</a:t>
            </a:r>
            <a:r>
              <a:rPr lang="ja-JP" altLang="en-US" sz="1400" dirty="0" smtClean="0">
                <a:solidFill>
                  <a:schemeClr val="tx1"/>
                </a:solidFill>
              </a:rPr>
              <a:t>。</a:t>
            </a:r>
            <a:endParaRPr lang="en-US" altLang="ja-JP" sz="1400" dirty="0" smtClean="0">
              <a:solidFill>
                <a:schemeClr val="tx1"/>
              </a:solidFill>
            </a:endParaRPr>
          </a:p>
          <a:p>
            <a:endParaRPr lang="en-US" altLang="ja-JP" sz="1400" dirty="0">
              <a:solidFill>
                <a:schemeClr val="tx1"/>
              </a:solidFill>
            </a:endParaRPr>
          </a:p>
          <a:p>
            <a:endParaRPr lang="ja-JP" altLang="en-US" sz="1400" dirty="0">
              <a:solidFill>
                <a:schemeClr val="tx1"/>
              </a:solidFill>
            </a:endParaRPr>
          </a:p>
          <a:p>
            <a:r>
              <a:rPr lang="ja-JP" altLang="en-US" sz="1400" dirty="0">
                <a:solidFill>
                  <a:schemeClr val="tx1"/>
                </a:solidFill>
              </a:rPr>
              <a:t>２．</a:t>
            </a:r>
            <a:r>
              <a:rPr lang="ja-JP" altLang="en-US" sz="1400" dirty="0" smtClean="0">
                <a:solidFill>
                  <a:schemeClr val="tx1"/>
                </a:solidFill>
              </a:rPr>
              <a:t>下</a:t>
            </a:r>
            <a:r>
              <a:rPr lang="ja-JP" altLang="en-US" sz="1400" dirty="0">
                <a:solidFill>
                  <a:schemeClr val="tx1"/>
                </a:solidFill>
              </a:rPr>
              <a:t>記 </a:t>
            </a:r>
            <a:r>
              <a:rPr lang="en-US" altLang="ja-JP" sz="1400" dirty="0">
                <a:solidFill>
                  <a:schemeClr val="tx1"/>
                </a:solidFill>
              </a:rPr>
              <a:t>2 </a:t>
            </a:r>
            <a:r>
              <a:rPr lang="ja-JP" altLang="en-US" sz="1400" dirty="0">
                <a:solidFill>
                  <a:schemeClr val="tx1"/>
                </a:solidFill>
              </a:rPr>
              <a:t>機能につきましては、</a:t>
            </a:r>
            <a:br>
              <a:rPr lang="ja-JP" altLang="en-US" sz="1400" dirty="0">
                <a:solidFill>
                  <a:schemeClr val="tx1"/>
                </a:solidFill>
              </a:rPr>
            </a:br>
            <a:r>
              <a:rPr lang="ja-JP" altLang="en-US" sz="1400" dirty="0">
                <a:solidFill>
                  <a:schemeClr val="tx1"/>
                </a:solidFill>
              </a:rPr>
              <a:t>　単体テスト</a:t>
            </a:r>
            <a:r>
              <a:rPr lang="ja-JP" altLang="en-US" sz="1400" dirty="0" smtClean="0">
                <a:solidFill>
                  <a:schemeClr val="tx1"/>
                </a:solidFill>
              </a:rPr>
              <a:t>実</a:t>
            </a:r>
            <a:r>
              <a:rPr lang="ja-JP" altLang="en-US" sz="1400" dirty="0">
                <a:solidFill>
                  <a:schemeClr val="tx1"/>
                </a:solidFill>
              </a:rPr>
              <a:t>施時に不具合を検知し、修正および再テストを実施したことにより、</a:t>
            </a:r>
            <a:br>
              <a:rPr lang="ja-JP" altLang="en-US" sz="1400" dirty="0">
                <a:solidFill>
                  <a:schemeClr val="tx1"/>
                </a:solidFill>
              </a:rPr>
            </a:br>
            <a:r>
              <a:rPr lang="ja-JP" altLang="en-US" sz="1400" dirty="0">
                <a:solidFill>
                  <a:schemeClr val="tx1"/>
                </a:solidFill>
              </a:rPr>
              <a:t>　想定以上の工数が発生しております</a:t>
            </a:r>
            <a:r>
              <a:rPr lang="ja-JP" altLang="en-US" sz="1400" dirty="0" smtClean="0">
                <a:solidFill>
                  <a:schemeClr val="tx1"/>
                </a:solidFill>
              </a:rPr>
              <a:t>。</a:t>
            </a:r>
            <a:endParaRPr lang="en-US" altLang="ja-JP" sz="1400" dirty="0" smtClean="0">
              <a:solidFill>
                <a:schemeClr val="tx1"/>
              </a:solidFill>
            </a:endParaRPr>
          </a:p>
          <a:p>
            <a:endParaRPr lang="ja-JP" altLang="en-US" sz="1400" dirty="0">
              <a:solidFill>
                <a:schemeClr val="tx1"/>
              </a:solidFill>
            </a:endParaRPr>
          </a:p>
          <a:p>
            <a:r>
              <a:rPr lang="ja-JP" altLang="en-US" sz="1400" dirty="0">
                <a:solidFill>
                  <a:schemeClr val="tx1"/>
                </a:solidFill>
              </a:rPr>
              <a:t>　</a:t>
            </a:r>
            <a:r>
              <a:rPr lang="ja-JP" altLang="en-US" sz="1400" dirty="0" smtClean="0">
                <a:solidFill>
                  <a:schemeClr val="tx1"/>
                </a:solidFill>
              </a:rPr>
              <a:t>調</a:t>
            </a:r>
            <a:r>
              <a:rPr lang="ja-JP" altLang="en-US" sz="1400" dirty="0">
                <a:solidFill>
                  <a:schemeClr val="tx1"/>
                </a:solidFill>
              </a:rPr>
              <a:t>達品マスタ：</a:t>
            </a:r>
            <a:r>
              <a:rPr lang="en-US" altLang="ja-JP" sz="1400" dirty="0">
                <a:solidFill>
                  <a:schemeClr val="tx1"/>
                </a:solidFill>
              </a:rPr>
              <a:t>4 </a:t>
            </a:r>
            <a:r>
              <a:rPr lang="ja-JP" altLang="en-US" sz="1400" dirty="0" smtClean="0">
                <a:solidFill>
                  <a:schemeClr val="tx1"/>
                </a:solidFill>
              </a:rPr>
              <a:t>バグ件</a:t>
            </a:r>
            <a:r>
              <a:rPr lang="ja-JP" altLang="en-US" sz="1400" dirty="0">
                <a:solidFill>
                  <a:schemeClr val="tx1"/>
                </a:solidFill>
              </a:rPr>
              <a:t/>
            </a:r>
            <a:br>
              <a:rPr lang="ja-JP" altLang="en-US" sz="1400" dirty="0">
                <a:solidFill>
                  <a:schemeClr val="tx1"/>
                </a:solidFill>
              </a:rPr>
            </a:br>
            <a:r>
              <a:rPr lang="ja-JP" altLang="en-US" sz="1400" dirty="0">
                <a:solidFill>
                  <a:schemeClr val="tx1"/>
                </a:solidFill>
              </a:rPr>
              <a:t>　</a:t>
            </a:r>
            <a:r>
              <a:rPr lang="ja-JP" altLang="en-US" sz="1400" dirty="0" smtClean="0">
                <a:solidFill>
                  <a:schemeClr val="tx1"/>
                </a:solidFill>
              </a:rPr>
              <a:t>分</a:t>
            </a:r>
            <a:r>
              <a:rPr lang="ja-JP" altLang="en-US" sz="1400" dirty="0">
                <a:solidFill>
                  <a:schemeClr val="tx1"/>
                </a:solidFill>
              </a:rPr>
              <a:t>類マスタ：</a:t>
            </a:r>
            <a:r>
              <a:rPr lang="en-US" altLang="ja-JP" sz="1400" dirty="0" smtClean="0">
                <a:solidFill>
                  <a:schemeClr val="tx1"/>
                </a:solidFill>
              </a:rPr>
              <a:t>5</a:t>
            </a:r>
            <a:r>
              <a:rPr lang="ja-JP" altLang="en-US" sz="1400" dirty="0">
                <a:solidFill>
                  <a:schemeClr val="tx1"/>
                </a:solidFill>
              </a:rPr>
              <a:t>バグ</a:t>
            </a:r>
            <a:r>
              <a:rPr lang="ja-JP" altLang="en-US" sz="1400" dirty="0" smtClean="0">
                <a:solidFill>
                  <a:schemeClr val="tx1"/>
                </a:solidFill>
              </a:rPr>
              <a:t>件</a:t>
            </a:r>
            <a:endParaRPr lang="ja-JP" altLang="en-US" sz="1400" dirty="0">
              <a:solidFill>
                <a:schemeClr val="tx1"/>
              </a:solidFill>
            </a:endParaRPr>
          </a:p>
          <a:p>
            <a:pPr fontAlgn="ctr">
              <a:lnSpc>
                <a:spcPct val="150000"/>
              </a:lnSpc>
            </a:pPr>
            <a:endParaRPr lang="en-US" altLang="en-US" sz="1400" dirty="0" smtClean="0">
              <a:solidFill>
                <a:schemeClr val="tx1"/>
              </a:solidFill>
              <a:latin typeface="Arial (Body)"/>
              <a:ea typeface="Meiryo UI" panose="020B0604030504040204" pitchFamily="50" charset="-128"/>
            </a:endParaRPr>
          </a:p>
        </p:txBody>
      </p:sp>
      <p:graphicFrame>
        <p:nvGraphicFramePr>
          <p:cNvPr id="9" name="Chart 8"/>
          <p:cNvGraphicFramePr>
            <a:graphicFrameLocks/>
          </p:cNvGraphicFramePr>
          <p:nvPr>
            <p:extLst>
              <p:ext uri="{D42A27DB-BD31-4B8C-83A1-F6EECF244321}">
                <p14:modId xmlns:p14="http://schemas.microsoft.com/office/powerpoint/2010/main" val="2520578316"/>
              </p:ext>
            </p:extLst>
          </p:nvPr>
        </p:nvGraphicFramePr>
        <p:xfrm>
          <a:off x="6375400" y="1310695"/>
          <a:ext cx="5427132" cy="27599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044073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0A2F15E4-2CDD-6047-9F8A-F392A4BC9A1F}" type="slidenum">
              <a:rPr kumimoji="1" lang="ja-JP" altLang="en-US" smtClean="0">
                <a:latin typeface="Meiryo UI" panose="020B0604030504040204" pitchFamily="50" charset="-128"/>
                <a:ea typeface="Meiryo UI" panose="020B0604030504040204" pitchFamily="50" charset="-128"/>
              </a:rPr>
              <a:t>13</a:t>
            </a:fld>
            <a:endParaRPr kumimoji="1" lang="ja-JP" altLang="en-US">
              <a:latin typeface="Meiryo UI" panose="020B0604030504040204" pitchFamily="50" charset="-128"/>
              <a:ea typeface="Meiryo UI" panose="020B0604030504040204" pitchFamily="50" charset="-128"/>
            </a:endParaRPr>
          </a:p>
        </p:txBody>
      </p:sp>
      <p:sp>
        <p:nvSpPr>
          <p:cNvPr id="6" name="正方形/長方形 5"/>
          <p:cNvSpPr/>
          <p:nvPr/>
        </p:nvSpPr>
        <p:spPr>
          <a:xfrm>
            <a:off x="254000" y="275936"/>
            <a:ext cx="11938000" cy="601640"/>
          </a:xfrm>
          <a:prstGeom prst="rect">
            <a:avLst/>
          </a:prstGeom>
          <a:gradFill flip="none" rotWithShape="1">
            <a:gsLst>
              <a:gs pos="22000">
                <a:srgbClr val="82C651"/>
              </a:gs>
              <a:gs pos="100000">
                <a:schemeClr val="bg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l"/>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タイトル 3"/>
          <p:cNvSpPr>
            <a:spLocks noGrp="1"/>
          </p:cNvSpPr>
          <p:nvPr>
            <p:ph type="title"/>
          </p:nvPr>
        </p:nvSpPr>
        <p:spPr>
          <a:xfrm>
            <a:off x="254001" y="276225"/>
            <a:ext cx="11128702" cy="609600"/>
          </a:xfrm>
        </p:spPr>
        <p:txBody>
          <a:bodyPr vert="horz" lIns="91440" tIns="180000" rIns="91440" bIns="45720" rtlCol="0" anchor="ctr">
            <a:noAutofit/>
          </a:bodyPr>
          <a:lstStyle/>
          <a:p>
            <a:r>
              <a:rPr lang="ja-JP" altLang="en-US" dirty="0" smtClean="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rPr>
              <a:t>まとめ</a:t>
            </a:r>
            <a:endParaRPr lang="en-US" altLang="ja-JP" dirty="0">
              <a:solidFill>
                <a:schemeClr val="bg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cs typeface="Meiryo" panose="020B0604030504040204" pitchFamily="50" charset="-128"/>
            </a:endParaRPr>
          </a:p>
        </p:txBody>
      </p:sp>
      <p:sp>
        <p:nvSpPr>
          <p:cNvPr id="10" name="Rectangle 9"/>
          <p:cNvSpPr/>
          <p:nvPr/>
        </p:nvSpPr>
        <p:spPr>
          <a:xfrm>
            <a:off x="876300" y="1193800"/>
            <a:ext cx="9883775" cy="4394200"/>
          </a:xfrm>
          <a:prstGeom prst="rect">
            <a:avLst/>
          </a:prstGeom>
          <a:noFill/>
          <a:ln>
            <a:noFill/>
          </a:ln>
          <a:effectLst>
            <a:outerShdw blurRad="50800" dist="50800" dir="5400000" algn="ctr" rotWithShape="0">
              <a:schemeClr val="bg1"/>
            </a:outerShdw>
          </a:effectLst>
        </p:spPr>
        <p:style>
          <a:lnRef idx="1">
            <a:schemeClr val="accent1"/>
          </a:lnRef>
          <a:fillRef idx="3">
            <a:schemeClr val="accent1"/>
          </a:fillRef>
          <a:effectRef idx="2">
            <a:schemeClr val="accent1"/>
          </a:effectRef>
          <a:fontRef idx="minor">
            <a:schemeClr val="lt1"/>
          </a:fontRef>
        </p:style>
        <p:txBody>
          <a:bodyPr rtlCol="0" anchor="ctr"/>
          <a:lstStyle/>
          <a:p>
            <a:pPr indent="0" fontAlgn="ctr">
              <a:lnSpc>
                <a:spcPct val="150000"/>
              </a:lnSpc>
              <a:buFont typeface="Wingdings" panose="05000000000000000000" pitchFamily="2" charset="2"/>
              <a:buNone/>
            </a:pPr>
            <a:endParaRPr lang="vi-VN" sz="2000" dirty="0">
              <a:solidFill>
                <a:schemeClr val="tx1"/>
              </a:solidFill>
              <a:latin typeface="Arial (Body)"/>
            </a:endParaRPr>
          </a:p>
          <a:p>
            <a:r>
              <a:rPr lang="ja-JP" altLang="en-US" sz="2000" dirty="0" smtClean="0">
                <a:solidFill>
                  <a:schemeClr val="tx1"/>
                </a:solidFill>
              </a:rPr>
              <a:t>①　プ</a:t>
            </a:r>
            <a:r>
              <a:rPr lang="ja-JP" altLang="en-US" sz="2000" dirty="0">
                <a:solidFill>
                  <a:schemeClr val="tx1"/>
                </a:solidFill>
              </a:rPr>
              <a:t>ロジェクト初期においては、</a:t>
            </a:r>
            <a:br>
              <a:rPr lang="ja-JP" altLang="en-US" sz="2000" dirty="0">
                <a:solidFill>
                  <a:schemeClr val="tx1"/>
                </a:solidFill>
              </a:rPr>
            </a:br>
            <a:r>
              <a:rPr lang="ja-JP" altLang="en-US" sz="2000" dirty="0" smtClean="0">
                <a:solidFill>
                  <a:schemeClr val="tx1"/>
                </a:solidFill>
              </a:rPr>
              <a:t>開</a:t>
            </a:r>
            <a:r>
              <a:rPr lang="ja-JP" altLang="en-US" sz="2000" dirty="0">
                <a:solidFill>
                  <a:schemeClr val="tx1"/>
                </a:solidFill>
              </a:rPr>
              <a:t>発メンバーのシステム理解不足</a:t>
            </a:r>
            <a:r>
              <a:rPr lang="ja-JP" altLang="en-US" sz="2000" dirty="0" smtClean="0">
                <a:solidFill>
                  <a:schemeClr val="tx1"/>
                </a:solidFill>
              </a:rPr>
              <a:t>、</a:t>
            </a:r>
            <a:r>
              <a:rPr lang="en-US" altLang="ja-JP" sz="2000" dirty="0" smtClean="0">
                <a:solidFill>
                  <a:schemeClr val="tx1"/>
                </a:solidFill>
              </a:rPr>
              <a:t> API</a:t>
            </a:r>
            <a:r>
              <a:rPr lang="ja-JP" altLang="en-US" sz="2000" dirty="0" smtClean="0">
                <a:solidFill>
                  <a:schemeClr val="tx1"/>
                </a:solidFill>
              </a:rPr>
              <a:t>基盤</a:t>
            </a:r>
            <a:r>
              <a:rPr lang="en-US" altLang="ja-JP" sz="2000" dirty="0" smtClean="0">
                <a:solidFill>
                  <a:schemeClr val="tx1"/>
                </a:solidFill>
              </a:rPr>
              <a:t> </a:t>
            </a:r>
            <a:r>
              <a:rPr lang="ja-JP" altLang="en-US" sz="2000" dirty="0">
                <a:solidFill>
                  <a:schemeClr val="tx1"/>
                </a:solidFill>
              </a:rPr>
              <a:t>の未整備、</a:t>
            </a:r>
            <a:br>
              <a:rPr lang="ja-JP" altLang="en-US" sz="2000" dirty="0">
                <a:solidFill>
                  <a:schemeClr val="tx1"/>
                </a:solidFill>
              </a:rPr>
            </a:br>
            <a:r>
              <a:rPr lang="ja-JP" altLang="en-US" sz="2000" dirty="0" smtClean="0">
                <a:solidFill>
                  <a:schemeClr val="tx1"/>
                </a:solidFill>
              </a:rPr>
              <a:t>設</a:t>
            </a:r>
            <a:r>
              <a:rPr lang="ja-JP" altLang="en-US" sz="2000" dirty="0">
                <a:solidFill>
                  <a:schemeClr val="tx1"/>
                </a:solidFill>
              </a:rPr>
              <a:t>計および </a:t>
            </a:r>
            <a:r>
              <a:rPr lang="en-US" altLang="ja-JP" sz="2000" dirty="0">
                <a:solidFill>
                  <a:schemeClr val="tx1"/>
                </a:solidFill>
              </a:rPr>
              <a:t>QA </a:t>
            </a:r>
            <a:r>
              <a:rPr lang="ja-JP" altLang="en-US" sz="2000" dirty="0">
                <a:solidFill>
                  <a:schemeClr val="tx1"/>
                </a:solidFill>
              </a:rPr>
              <a:t>からの度重なる更新対応により、</a:t>
            </a:r>
            <a:br>
              <a:rPr lang="ja-JP" altLang="en-US" sz="2000" dirty="0">
                <a:solidFill>
                  <a:schemeClr val="tx1"/>
                </a:solidFill>
              </a:rPr>
            </a:br>
            <a:r>
              <a:rPr lang="ja-JP" altLang="en-US" sz="2000" dirty="0" smtClean="0">
                <a:solidFill>
                  <a:schemeClr val="tx1"/>
                </a:solidFill>
              </a:rPr>
              <a:t>工</a:t>
            </a:r>
            <a:r>
              <a:rPr lang="ja-JP" altLang="en-US" sz="2000" dirty="0">
                <a:solidFill>
                  <a:schemeClr val="tx1"/>
                </a:solidFill>
              </a:rPr>
              <a:t>数超過および </a:t>
            </a:r>
            <a:r>
              <a:rPr lang="ja-JP" altLang="en-US" sz="2000" dirty="0" smtClean="0">
                <a:solidFill>
                  <a:schemeClr val="tx1"/>
                </a:solidFill>
              </a:rPr>
              <a:t>指摘が</a:t>
            </a:r>
            <a:r>
              <a:rPr lang="ja-JP" altLang="en-US" sz="2000" dirty="0">
                <a:solidFill>
                  <a:schemeClr val="tx1"/>
                </a:solidFill>
              </a:rPr>
              <a:t>多く発生しております</a:t>
            </a:r>
            <a:r>
              <a:rPr lang="ja-JP" altLang="en-US" sz="2000" dirty="0" smtClean="0">
                <a:solidFill>
                  <a:schemeClr val="tx1"/>
                </a:solidFill>
              </a:rPr>
              <a:t>。</a:t>
            </a:r>
            <a:endParaRPr lang="en-US" altLang="ja-JP" sz="2000" dirty="0" smtClean="0">
              <a:solidFill>
                <a:schemeClr val="tx1"/>
              </a:solidFill>
            </a:endParaRPr>
          </a:p>
          <a:p>
            <a:endParaRPr lang="ja-JP" altLang="en-US" sz="2000" dirty="0">
              <a:solidFill>
                <a:schemeClr val="tx1"/>
              </a:solidFill>
            </a:endParaRPr>
          </a:p>
          <a:p>
            <a:r>
              <a:rPr lang="ja-JP" altLang="en-US" sz="2000" dirty="0" smtClean="0">
                <a:solidFill>
                  <a:schemeClr val="tx1"/>
                </a:solidFill>
              </a:rPr>
              <a:t>②　そ</a:t>
            </a:r>
            <a:r>
              <a:rPr lang="ja-JP" altLang="en-US" sz="2000" dirty="0">
                <a:solidFill>
                  <a:schemeClr val="tx1"/>
                </a:solidFill>
              </a:rPr>
              <a:t>の後、</a:t>
            </a:r>
            <a:br>
              <a:rPr lang="ja-JP" altLang="en-US" sz="2000" dirty="0">
                <a:solidFill>
                  <a:schemeClr val="tx1"/>
                </a:solidFill>
              </a:rPr>
            </a:br>
            <a:r>
              <a:rPr lang="ja-JP" altLang="en-US" sz="2000" dirty="0" smtClean="0">
                <a:solidFill>
                  <a:schemeClr val="tx1"/>
                </a:solidFill>
              </a:rPr>
              <a:t>コ</a:t>
            </a:r>
            <a:r>
              <a:rPr lang="ja-JP" altLang="en-US" sz="2000" dirty="0">
                <a:solidFill>
                  <a:schemeClr val="tx1"/>
                </a:solidFill>
              </a:rPr>
              <a:t>ーディングルールの標準化、実装方針の統一</a:t>
            </a:r>
            <a:r>
              <a:rPr lang="ja-JP" altLang="en-US" sz="2000" dirty="0" smtClean="0">
                <a:solidFill>
                  <a:schemeClr val="tx1"/>
                </a:solidFill>
              </a:rPr>
              <a:t>、</a:t>
            </a:r>
            <a:r>
              <a:rPr lang="en-US" altLang="ja-JP" sz="2000" dirty="0" smtClean="0">
                <a:solidFill>
                  <a:schemeClr val="tx1"/>
                </a:solidFill>
              </a:rPr>
              <a:t>API</a:t>
            </a:r>
            <a:r>
              <a:rPr lang="ja-JP" altLang="en-US" sz="2000" dirty="0" smtClean="0">
                <a:solidFill>
                  <a:schemeClr val="tx1"/>
                </a:solidFill>
              </a:rPr>
              <a:t>基盤</a:t>
            </a:r>
            <a:r>
              <a:rPr lang="en-US" altLang="ja-JP" sz="2000" dirty="0" smtClean="0">
                <a:solidFill>
                  <a:schemeClr val="tx1"/>
                </a:solidFill>
              </a:rPr>
              <a:t> </a:t>
            </a:r>
            <a:r>
              <a:rPr lang="ja-JP" altLang="en-US" sz="2000" dirty="0">
                <a:solidFill>
                  <a:schemeClr val="tx1"/>
                </a:solidFill>
              </a:rPr>
              <a:t>の安定化を進めた結果、</a:t>
            </a:r>
            <a:br>
              <a:rPr lang="ja-JP" altLang="en-US" sz="2000" dirty="0">
                <a:solidFill>
                  <a:schemeClr val="tx1"/>
                </a:solidFill>
              </a:rPr>
            </a:br>
            <a:r>
              <a:rPr lang="ja-JP" altLang="en-US" sz="2000" dirty="0" smtClean="0">
                <a:solidFill>
                  <a:schemeClr val="tx1"/>
                </a:solidFill>
              </a:rPr>
              <a:t>品</a:t>
            </a:r>
            <a:r>
              <a:rPr lang="ja-JP" altLang="en-US" sz="2000" dirty="0">
                <a:solidFill>
                  <a:schemeClr val="tx1"/>
                </a:solidFill>
              </a:rPr>
              <a:t>質は大きく改善し</a:t>
            </a:r>
            <a:r>
              <a:rPr lang="ja-JP" altLang="en-US" sz="2000" dirty="0" smtClean="0">
                <a:solidFill>
                  <a:schemeClr val="tx1"/>
                </a:solidFill>
              </a:rPr>
              <a:t>、指摘件</a:t>
            </a:r>
            <a:r>
              <a:rPr lang="ja-JP" altLang="en-US" sz="2000" dirty="0">
                <a:solidFill>
                  <a:schemeClr val="tx1"/>
                </a:solidFill>
              </a:rPr>
              <a:t>数の減少および後続機能の工数安定化が確認できております</a:t>
            </a:r>
            <a:r>
              <a:rPr lang="ja-JP" altLang="en-US" sz="2000" dirty="0" smtClean="0">
                <a:solidFill>
                  <a:schemeClr val="tx1"/>
                </a:solidFill>
              </a:rPr>
              <a:t>。</a:t>
            </a:r>
            <a:endParaRPr lang="en-US" altLang="ja-JP" sz="2000" dirty="0" smtClean="0">
              <a:solidFill>
                <a:schemeClr val="tx1"/>
              </a:solidFill>
            </a:endParaRPr>
          </a:p>
          <a:p>
            <a:endParaRPr lang="ja-JP" altLang="en-US" sz="2000" dirty="0">
              <a:solidFill>
                <a:schemeClr val="tx1"/>
              </a:solidFill>
            </a:endParaRPr>
          </a:p>
          <a:p>
            <a:r>
              <a:rPr lang="ja-JP" altLang="en-US" sz="2000" dirty="0" smtClean="0">
                <a:solidFill>
                  <a:schemeClr val="tx1"/>
                </a:solidFill>
              </a:rPr>
              <a:t>③　総</a:t>
            </a:r>
            <a:r>
              <a:rPr lang="ja-JP" altLang="en-US" sz="2000" dirty="0">
                <a:solidFill>
                  <a:schemeClr val="tx1"/>
                </a:solidFill>
              </a:rPr>
              <a:t>合的に見ると、本プロジェクトは、</a:t>
            </a:r>
            <a:br>
              <a:rPr lang="ja-JP" altLang="en-US" sz="2000" dirty="0">
                <a:solidFill>
                  <a:schemeClr val="tx1"/>
                </a:solidFill>
              </a:rPr>
            </a:br>
            <a:r>
              <a:rPr lang="ja-JP" altLang="en-US" sz="2000" dirty="0" smtClean="0">
                <a:solidFill>
                  <a:schemeClr val="tx1"/>
                </a:solidFill>
              </a:rPr>
              <a:t>後</a:t>
            </a:r>
            <a:r>
              <a:rPr lang="ja-JP" altLang="en-US" sz="2000" dirty="0">
                <a:solidFill>
                  <a:schemeClr val="tx1"/>
                </a:solidFill>
              </a:rPr>
              <a:t>半フェーズにおいて開発基盤および品質管理体制を確立することができ、</a:t>
            </a:r>
            <a:br>
              <a:rPr lang="ja-JP" altLang="en-US" sz="2000" dirty="0">
                <a:solidFill>
                  <a:schemeClr val="tx1"/>
                </a:solidFill>
              </a:rPr>
            </a:br>
            <a:r>
              <a:rPr lang="ja-JP" altLang="en-US" sz="2000" dirty="0" smtClean="0">
                <a:solidFill>
                  <a:schemeClr val="tx1"/>
                </a:solidFill>
              </a:rPr>
              <a:t>今</a:t>
            </a:r>
            <a:r>
              <a:rPr lang="ja-JP" altLang="en-US" sz="2000" dirty="0">
                <a:solidFill>
                  <a:schemeClr val="tx1"/>
                </a:solidFill>
              </a:rPr>
              <a:t>後</a:t>
            </a:r>
            <a:r>
              <a:rPr lang="ja-JP" altLang="en-US" sz="2000" dirty="0" smtClean="0">
                <a:solidFill>
                  <a:schemeClr val="tx1"/>
                </a:solidFill>
              </a:rPr>
              <a:t>のプ</a:t>
            </a:r>
            <a:r>
              <a:rPr lang="ja-JP" altLang="en-US" sz="2000" dirty="0">
                <a:solidFill>
                  <a:schemeClr val="tx1"/>
                </a:solidFill>
              </a:rPr>
              <a:t>ロジェクトに向けた重要な知見を得られたと評価しております。</a:t>
            </a:r>
          </a:p>
          <a:p>
            <a:pPr marL="285750" indent="-285750" fontAlgn="ctr">
              <a:lnSpc>
                <a:spcPct val="150000"/>
              </a:lnSpc>
              <a:buFont typeface="Wingdings" panose="05000000000000000000" pitchFamily="2" charset="2"/>
              <a:buChar char="Ø"/>
            </a:pPr>
            <a:endParaRPr lang="en-US" altLang="en-US" sz="2000" dirty="0" smtClean="0">
              <a:solidFill>
                <a:schemeClr val="tx1"/>
              </a:solidFill>
              <a:latin typeface="Arial (Body)"/>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スライド番号プレースホルダー 3"/>
          <p:cNvSpPr>
            <a:spLocks noGrp="1"/>
          </p:cNvSpPr>
          <p:nvPr>
            <p:ph type="sldNum" sz="quarter" idx="12"/>
          </p:nvPr>
        </p:nvSpPr>
        <p:spPr/>
        <p:txBody>
          <a:bodyPr/>
          <a:lstStyle/>
          <a:p>
            <a:fld id="{0A2F15E4-2CDD-6047-9F8A-F392A4BC9A1F}" type="slidenum">
              <a:rPr kumimoji="1" lang="ja-JP" altLang="en-US" smtClean="0"/>
              <a:t>14</a:t>
            </a:fld>
            <a:endParaRPr kumimoji="1" lang="ja-JP" altLang="en-US" dirty="0"/>
          </a:p>
        </p:txBody>
      </p:sp>
      <p:pic>
        <p:nvPicPr>
          <p:cNvPr id="7" name="図 6"/>
          <p:cNvPicPr>
            <a:picLocks noChangeAspect="1"/>
          </p:cNvPicPr>
          <p:nvPr/>
        </p:nvPicPr>
        <p:blipFill>
          <a:blip r:embed="rId3"/>
          <a:stretch>
            <a:fillRect/>
          </a:stretch>
        </p:blipFill>
        <p:spPr>
          <a:xfrm>
            <a:off x="7744821" y="5074740"/>
            <a:ext cx="2705100" cy="1057275"/>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rcRect l="4453" t="31569" r="5029" b="28870"/>
          <a:stretch>
            <a:fillRect/>
          </a:stretch>
        </p:blipFill>
        <p:spPr>
          <a:xfrm>
            <a:off x="1294544" y="1797978"/>
            <a:ext cx="9780997" cy="2955640"/>
          </a:xfrm>
          <a:custGeom>
            <a:avLst/>
            <a:gdLst/>
            <a:ahLst/>
            <a:cxnLst/>
            <a:rect l="l" t="t" r="r" b="b"/>
            <a:pathLst>
              <a:path w="8561188" h="1663991">
                <a:moveTo>
                  <a:pt x="3595120" y="335282"/>
                </a:moveTo>
                <a:lnTo>
                  <a:pt x="3367873" y="1018263"/>
                </a:lnTo>
                <a:lnTo>
                  <a:pt x="3823608" y="1018263"/>
                </a:lnTo>
                <a:lnTo>
                  <a:pt x="3596361" y="335282"/>
                </a:lnTo>
                <a:close/>
                <a:moveTo>
                  <a:pt x="48429" y="28561"/>
                </a:moveTo>
                <a:lnTo>
                  <a:pt x="1180937" y="28561"/>
                </a:lnTo>
                <a:cubicBezTo>
                  <a:pt x="1188388" y="28561"/>
                  <a:pt x="1195217" y="30837"/>
                  <a:pt x="1201427" y="35391"/>
                </a:cubicBezTo>
                <a:cubicBezTo>
                  <a:pt x="1207635" y="39944"/>
                  <a:pt x="1212810" y="47395"/>
                  <a:pt x="1216949" y="57743"/>
                </a:cubicBezTo>
                <a:cubicBezTo>
                  <a:pt x="1221088" y="68091"/>
                  <a:pt x="1224192" y="81958"/>
                  <a:pt x="1226262" y="99342"/>
                </a:cubicBezTo>
                <a:cubicBezTo>
                  <a:pt x="1228332" y="116727"/>
                  <a:pt x="1229367" y="137838"/>
                  <a:pt x="1229367" y="162674"/>
                </a:cubicBezTo>
                <a:cubicBezTo>
                  <a:pt x="1229367" y="186681"/>
                  <a:pt x="1228332" y="207171"/>
                  <a:pt x="1226262" y="224142"/>
                </a:cubicBezTo>
                <a:cubicBezTo>
                  <a:pt x="1224192" y="241113"/>
                  <a:pt x="1221088" y="254773"/>
                  <a:pt x="1216949" y="265121"/>
                </a:cubicBezTo>
                <a:cubicBezTo>
                  <a:pt x="1212810" y="275469"/>
                  <a:pt x="1207635" y="283127"/>
                  <a:pt x="1201427" y="288094"/>
                </a:cubicBezTo>
                <a:cubicBezTo>
                  <a:pt x="1195217" y="293061"/>
                  <a:pt x="1188388" y="295544"/>
                  <a:pt x="1180937" y="295544"/>
                </a:cubicBezTo>
                <a:lnTo>
                  <a:pt x="778599" y="295544"/>
                </a:lnTo>
                <a:lnTo>
                  <a:pt x="778599" y="1590726"/>
                </a:lnTo>
                <a:cubicBezTo>
                  <a:pt x="778599" y="1599004"/>
                  <a:pt x="775908" y="1606455"/>
                  <a:pt x="770527" y="1613078"/>
                </a:cubicBezTo>
                <a:cubicBezTo>
                  <a:pt x="765146" y="1619701"/>
                  <a:pt x="756247" y="1625082"/>
                  <a:pt x="743829" y="1629221"/>
                </a:cubicBezTo>
                <a:cubicBezTo>
                  <a:pt x="731411" y="1633360"/>
                  <a:pt x="714647" y="1636672"/>
                  <a:pt x="693536" y="1639155"/>
                </a:cubicBezTo>
                <a:cubicBezTo>
                  <a:pt x="672426" y="1641639"/>
                  <a:pt x="646142" y="1642881"/>
                  <a:pt x="614683" y="1642881"/>
                </a:cubicBezTo>
                <a:cubicBezTo>
                  <a:pt x="583224" y="1642881"/>
                  <a:pt x="556940" y="1641639"/>
                  <a:pt x="535830" y="1639155"/>
                </a:cubicBezTo>
                <a:cubicBezTo>
                  <a:pt x="514720" y="1636672"/>
                  <a:pt x="497956" y="1633360"/>
                  <a:pt x="485538" y="1629221"/>
                </a:cubicBezTo>
                <a:cubicBezTo>
                  <a:pt x="473120" y="1625082"/>
                  <a:pt x="464220" y="1619701"/>
                  <a:pt x="458839" y="1613078"/>
                </a:cubicBezTo>
                <a:cubicBezTo>
                  <a:pt x="453458" y="1606455"/>
                  <a:pt x="450768" y="1599004"/>
                  <a:pt x="450768" y="1590726"/>
                </a:cubicBezTo>
                <a:lnTo>
                  <a:pt x="450768" y="295544"/>
                </a:lnTo>
                <a:lnTo>
                  <a:pt x="48429" y="295544"/>
                </a:lnTo>
                <a:cubicBezTo>
                  <a:pt x="40151" y="295544"/>
                  <a:pt x="33114" y="293061"/>
                  <a:pt x="27319" y="288094"/>
                </a:cubicBezTo>
                <a:cubicBezTo>
                  <a:pt x="21524" y="283127"/>
                  <a:pt x="16557" y="275469"/>
                  <a:pt x="12418" y="265121"/>
                </a:cubicBezTo>
                <a:cubicBezTo>
                  <a:pt x="8278" y="254773"/>
                  <a:pt x="5174" y="241113"/>
                  <a:pt x="3104" y="224142"/>
                </a:cubicBezTo>
                <a:cubicBezTo>
                  <a:pt x="1035" y="207171"/>
                  <a:pt x="0" y="186681"/>
                  <a:pt x="0" y="162674"/>
                </a:cubicBezTo>
                <a:cubicBezTo>
                  <a:pt x="0" y="137838"/>
                  <a:pt x="1035" y="116727"/>
                  <a:pt x="3104" y="99342"/>
                </a:cubicBezTo>
                <a:cubicBezTo>
                  <a:pt x="5174" y="81958"/>
                  <a:pt x="8278" y="68091"/>
                  <a:pt x="12418" y="57743"/>
                </a:cubicBezTo>
                <a:cubicBezTo>
                  <a:pt x="16557" y="47395"/>
                  <a:pt x="21524" y="39944"/>
                  <a:pt x="27319" y="35391"/>
                </a:cubicBezTo>
                <a:cubicBezTo>
                  <a:pt x="33114" y="30837"/>
                  <a:pt x="40151" y="28561"/>
                  <a:pt x="48429" y="28561"/>
                </a:cubicBezTo>
                <a:close/>
                <a:moveTo>
                  <a:pt x="5742919" y="23594"/>
                </a:moveTo>
                <a:cubicBezTo>
                  <a:pt x="5771066" y="23594"/>
                  <a:pt x="5794660" y="24628"/>
                  <a:pt x="5813701" y="26698"/>
                </a:cubicBezTo>
                <a:cubicBezTo>
                  <a:pt x="5832741" y="28768"/>
                  <a:pt x="5847436" y="32286"/>
                  <a:pt x="5857784" y="37253"/>
                </a:cubicBezTo>
                <a:cubicBezTo>
                  <a:pt x="5868132" y="42220"/>
                  <a:pt x="5875376" y="48015"/>
                  <a:pt x="5879515" y="54638"/>
                </a:cubicBezTo>
                <a:cubicBezTo>
                  <a:pt x="5883654" y="61261"/>
                  <a:pt x="5885724" y="68712"/>
                  <a:pt x="5885724" y="76990"/>
                </a:cubicBezTo>
                <a:lnTo>
                  <a:pt x="5885724" y="1521186"/>
                </a:lnTo>
                <a:cubicBezTo>
                  <a:pt x="5885724" y="1540227"/>
                  <a:pt x="5882413" y="1557198"/>
                  <a:pt x="5875790" y="1572099"/>
                </a:cubicBezTo>
                <a:cubicBezTo>
                  <a:pt x="5869167" y="1587000"/>
                  <a:pt x="5860268" y="1599418"/>
                  <a:pt x="5849091" y="1609353"/>
                </a:cubicBezTo>
                <a:cubicBezTo>
                  <a:pt x="5837915" y="1619287"/>
                  <a:pt x="5824670" y="1626531"/>
                  <a:pt x="5809354" y="1631084"/>
                </a:cubicBezTo>
                <a:cubicBezTo>
                  <a:pt x="5794039" y="1635637"/>
                  <a:pt x="5778517" y="1637914"/>
                  <a:pt x="5762787" y="1637914"/>
                </a:cubicBezTo>
                <a:lnTo>
                  <a:pt x="5623708" y="1637914"/>
                </a:lnTo>
                <a:cubicBezTo>
                  <a:pt x="5594733" y="1637914"/>
                  <a:pt x="5569690" y="1635016"/>
                  <a:pt x="5548580" y="1629221"/>
                </a:cubicBezTo>
                <a:cubicBezTo>
                  <a:pt x="5527469" y="1623426"/>
                  <a:pt x="5508015" y="1612871"/>
                  <a:pt x="5490216" y="1597556"/>
                </a:cubicBezTo>
                <a:cubicBezTo>
                  <a:pt x="5472417" y="1582240"/>
                  <a:pt x="5455239" y="1561544"/>
                  <a:pt x="5438682" y="1535466"/>
                </a:cubicBezTo>
                <a:cubicBezTo>
                  <a:pt x="5422124" y="1509389"/>
                  <a:pt x="5403498" y="1475654"/>
                  <a:pt x="5382801" y="1434261"/>
                </a:cubicBezTo>
                <a:lnTo>
                  <a:pt x="4982947" y="682981"/>
                </a:lnTo>
                <a:cubicBezTo>
                  <a:pt x="4959767" y="638277"/>
                  <a:pt x="4936173" y="590054"/>
                  <a:pt x="4912165" y="538313"/>
                </a:cubicBezTo>
                <a:cubicBezTo>
                  <a:pt x="4888157" y="486572"/>
                  <a:pt x="4866633" y="436280"/>
                  <a:pt x="4847592" y="387437"/>
                </a:cubicBezTo>
                <a:lnTo>
                  <a:pt x="4845109" y="387437"/>
                </a:lnTo>
                <a:cubicBezTo>
                  <a:pt x="4848420" y="447042"/>
                  <a:pt x="4850904" y="506441"/>
                  <a:pt x="4852559" y="565633"/>
                </a:cubicBezTo>
                <a:cubicBezTo>
                  <a:pt x="4854215" y="624824"/>
                  <a:pt x="4855043" y="685879"/>
                  <a:pt x="4855043" y="748796"/>
                </a:cubicBezTo>
                <a:lnTo>
                  <a:pt x="4855043" y="1589484"/>
                </a:lnTo>
                <a:cubicBezTo>
                  <a:pt x="4855043" y="1597763"/>
                  <a:pt x="4852766" y="1605213"/>
                  <a:pt x="4848213" y="1611836"/>
                </a:cubicBezTo>
                <a:cubicBezTo>
                  <a:pt x="4843660" y="1618459"/>
                  <a:pt x="4835795" y="1624047"/>
                  <a:pt x="4824619" y="1628600"/>
                </a:cubicBezTo>
                <a:cubicBezTo>
                  <a:pt x="4813443" y="1633153"/>
                  <a:pt x="4798335" y="1636672"/>
                  <a:pt x="4779294" y="1639155"/>
                </a:cubicBezTo>
                <a:cubicBezTo>
                  <a:pt x="4760253" y="1641639"/>
                  <a:pt x="4735831" y="1642881"/>
                  <a:pt x="4706029" y="1642881"/>
                </a:cubicBezTo>
                <a:cubicBezTo>
                  <a:pt x="4677054" y="1642881"/>
                  <a:pt x="4653046" y="1641639"/>
                  <a:pt x="4634005" y="1639155"/>
                </a:cubicBezTo>
                <a:cubicBezTo>
                  <a:pt x="4614964" y="1636672"/>
                  <a:pt x="4600063" y="1633153"/>
                  <a:pt x="4589301" y="1628600"/>
                </a:cubicBezTo>
                <a:cubicBezTo>
                  <a:pt x="4578539" y="1624047"/>
                  <a:pt x="4571088" y="1618459"/>
                  <a:pt x="4566949" y="1611836"/>
                </a:cubicBezTo>
                <a:cubicBezTo>
                  <a:pt x="4562809" y="1605213"/>
                  <a:pt x="4560740" y="1597763"/>
                  <a:pt x="4560740" y="1589484"/>
                </a:cubicBezTo>
                <a:lnTo>
                  <a:pt x="4560740" y="145289"/>
                </a:lnTo>
                <a:cubicBezTo>
                  <a:pt x="4560740" y="106379"/>
                  <a:pt x="4572123" y="77197"/>
                  <a:pt x="4594889" y="57743"/>
                </a:cubicBezTo>
                <a:cubicBezTo>
                  <a:pt x="4617655" y="38288"/>
                  <a:pt x="4645595" y="28561"/>
                  <a:pt x="4678709" y="28561"/>
                </a:cubicBezTo>
                <a:lnTo>
                  <a:pt x="4853801" y="28561"/>
                </a:lnTo>
                <a:cubicBezTo>
                  <a:pt x="4885260" y="28561"/>
                  <a:pt x="4911751" y="31251"/>
                  <a:pt x="4933275" y="36632"/>
                </a:cubicBezTo>
                <a:cubicBezTo>
                  <a:pt x="4954800" y="42013"/>
                  <a:pt x="4974047" y="50913"/>
                  <a:pt x="4991018" y="63331"/>
                </a:cubicBezTo>
                <a:cubicBezTo>
                  <a:pt x="5007989" y="75749"/>
                  <a:pt x="5023926" y="92927"/>
                  <a:pt x="5038827" y="114865"/>
                </a:cubicBezTo>
                <a:cubicBezTo>
                  <a:pt x="5053728" y="136803"/>
                  <a:pt x="5069044" y="163915"/>
                  <a:pt x="5084773" y="196202"/>
                </a:cubicBezTo>
                <a:lnTo>
                  <a:pt x="5397703" y="783566"/>
                </a:lnTo>
                <a:cubicBezTo>
                  <a:pt x="5415916" y="819164"/>
                  <a:pt x="5433921" y="854141"/>
                  <a:pt x="5451720" y="888497"/>
                </a:cubicBezTo>
                <a:cubicBezTo>
                  <a:pt x="5469519" y="922853"/>
                  <a:pt x="5486697" y="957209"/>
                  <a:pt x="5503254" y="991565"/>
                </a:cubicBezTo>
                <a:cubicBezTo>
                  <a:pt x="5519812" y="1025921"/>
                  <a:pt x="5535955" y="1059656"/>
                  <a:pt x="5551684" y="1092770"/>
                </a:cubicBezTo>
                <a:cubicBezTo>
                  <a:pt x="5567413" y="1125884"/>
                  <a:pt x="5582729" y="1158999"/>
                  <a:pt x="5597630" y="1192113"/>
                </a:cubicBezTo>
                <a:lnTo>
                  <a:pt x="5598872" y="1192113"/>
                </a:lnTo>
                <a:cubicBezTo>
                  <a:pt x="5596388" y="1134163"/>
                  <a:pt x="5594526" y="1073729"/>
                  <a:pt x="5593284" y="1010812"/>
                </a:cubicBezTo>
                <a:cubicBezTo>
                  <a:pt x="5592042" y="947895"/>
                  <a:pt x="5591421" y="887876"/>
                  <a:pt x="5591421" y="830754"/>
                </a:cubicBezTo>
                <a:lnTo>
                  <a:pt x="5591421" y="76990"/>
                </a:lnTo>
                <a:cubicBezTo>
                  <a:pt x="5591421" y="68712"/>
                  <a:pt x="5593905" y="61261"/>
                  <a:pt x="5598872" y="54638"/>
                </a:cubicBezTo>
                <a:cubicBezTo>
                  <a:pt x="5603839" y="48015"/>
                  <a:pt x="5612118" y="42220"/>
                  <a:pt x="5623708" y="37253"/>
                </a:cubicBezTo>
                <a:cubicBezTo>
                  <a:pt x="5635298" y="32286"/>
                  <a:pt x="5650613" y="28768"/>
                  <a:pt x="5669654" y="26698"/>
                </a:cubicBezTo>
                <a:cubicBezTo>
                  <a:pt x="5688694" y="24628"/>
                  <a:pt x="5713116" y="23594"/>
                  <a:pt x="5742919" y="23594"/>
                </a:cubicBezTo>
                <a:close/>
                <a:moveTo>
                  <a:pt x="6401055" y="21110"/>
                </a:moveTo>
                <a:cubicBezTo>
                  <a:pt x="6433341" y="21110"/>
                  <a:pt x="6459833" y="22352"/>
                  <a:pt x="6480529" y="24835"/>
                </a:cubicBezTo>
                <a:cubicBezTo>
                  <a:pt x="6501226" y="27319"/>
                  <a:pt x="6517783" y="30630"/>
                  <a:pt x="6530201" y="34770"/>
                </a:cubicBezTo>
                <a:cubicBezTo>
                  <a:pt x="6542619" y="38909"/>
                  <a:pt x="6551311" y="44290"/>
                  <a:pt x="6556279" y="50913"/>
                </a:cubicBezTo>
                <a:cubicBezTo>
                  <a:pt x="6561245" y="57536"/>
                  <a:pt x="6563729" y="65400"/>
                  <a:pt x="6563729" y="74507"/>
                </a:cubicBezTo>
                <a:lnTo>
                  <a:pt x="6563729" y="758730"/>
                </a:lnTo>
                <a:lnTo>
                  <a:pt x="7034365" y="75749"/>
                </a:lnTo>
                <a:cubicBezTo>
                  <a:pt x="7040161" y="64986"/>
                  <a:pt x="7047197" y="56087"/>
                  <a:pt x="7055475" y="49050"/>
                </a:cubicBezTo>
                <a:cubicBezTo>
                  <a:pt x="7063755" y="42013"/>
                  <a:pt x="7074517" y="36425"/>
                  <a:pt x="7087762" y="32286"/>
                </a:cubicBezTo>
                <a:cubicBezTo>
                  <a:pt x="7101008" y="28147"/>
                  <a:pt x="7117979" y="25249"/>
                  <a:pt x="7138675" y="23594"/>
                </a:cubicBezTo>
                <a:cubicBezTo>
                  <a:pt x="7159371" y="21938"/>
                  <a:pt x="7185863" y="21110"/>
                  <a:pt x="7218149" y="21110"/>
                </a:cubicBezTo>
                <a:cubicBezTo>
                  <a:pt x="7251264" y="21110"/>
                  <a:pt x="7278583" y="22352"/>
                  <a:pt x="7300107" y="24835"/>
                </a:cubicBezTo>
                <a:cubicBezTo>
                  <a:pt x="7321631" y="27319"/>
                  <a:pt x="7338809" y="30837"/>
                  <a:pt x="7351641" y="35391"/>
                </a:cubicBezTo>
                <a:cubicBezTo>
                  <a:pt x="7364473" y="39944"/>
                  <a:pt x="7373373" y="45532"/>
                  <a:pt x="7378339" y="52155"/>
                </a:cubicBezTo>
                <a:cubicBezTo>
                  <a:pt x="7383307" y="58778"/>
                  <a:pt x="7385791" y="66228"/>
                  <a:pt x="7385791" y="74507"/>
                </a:cubicBezTo>
                <a:cubicBezTo>
                  <a:pt x="7385791" y="88580"/>
                  <a:pt x="7382065" y="103068"/>
                  <a:pt x="7374615" y="117969"/>
                </a:cubicBezTo>
                <a:cubicBezTo>
                  <a:pt x="7367163" y="132871"/>
                  <a:pt x="7353090" y="156465"/>
                  <a:pt x="7332393" y="188751"/>
                </a:cubicBezTo>
                <a:lnTo>
                  <a:pt x="6891560" y="766181"/>
                </a:lnTo>
                <a:lnTo>
                  <a:pt x="7372131" y="1492625"/>
                </a:lnTo>
                <a:cubicBezTo>
                  <a:pt x="7390343" y="1526567"/>
                  <a:pt x="7401313" y="1549126"/>
                  <a:pt x="7405038" y="1560302"/>
                </a:cubicBezTo>
                <a:cubicBezTo>
                  <a:pt x="7408763" y="1571478"/>
                  <a:pt x="7410626" y="1580378"/>
                  <a:pt x="7410626" y="1587000"/>
                </a:cubicBezTo>
                <a:cubicBezTo>
                  <a:pt x="7410626" y="1596107"/>
                  <a:pt x="7408349" y="1604178"/>
                  <a:pt x="7403797" y="1611215"/>
                </a:cubicBezTo>
                <a:cubicBezTo>
                  <a:pt x="7399243" y="1618252"/>
                  <a:pt x="7390551" y="1624047"/>
                  <a:pt x="7377719" y="1628600"/>
                </a:cubicBezTo>
                <a:cubicBezTo>
                  <a:pt x="7364887" y="1633153"/>
                  <a:pt x="7347295" y="1636672"/>
                  <a:pt x="7324943" y="1639155"/>
                </a:cubicBezTo>
                <a:cubicBezTo>
                  <a:pt x="7302591" y="1641639"/>
                  <a:pt x="7274443" y="1642881"/>
                  <a:pt x="7240501" y="1642881"/>
                </a:cubicBezTo>
                <a:cubicBezTo>
                  <a:pt x="7186691" y="1642881"/>
                  <a:pt x="7147989" y="1640811"/>
                  <a:pt x="7124395" y="1636672"/>
                </a:cubicBezTo>
                <a:cubicBezTo>
                  <a:pt x="7100801" y="1632533"/>
                  <a:pt x="7083830" y="1626324"/>
                  <a:pt x="7073481" y="1618045"/>
                </a:cubicBezTo>
                <a:cubicBezTo>
                  <a:pt x="7063133" y="1609767"/>
                  <a:pt x="7055062" y="1599832"/>
                  <a:pt x="7049267" y="1588242"/>
                </a:cubicBezTo>
                <a:lnTo>
                  <a:pt x="6563729" y="825786"/>
                </a:lnTo>
                <a:lnTo>
                  <a:pt x="6563729" y="1588242"/>
                </a:lnTo>
                <a:cubicBezTo>
                  <a:pt x="6563729" y="1597349"/>
                  <a:pt x="6561245" y="1605213"/>
                  <a:pt x="6556279" y="1611836"/>
                </a:cubicBezTo>
                <a:cubicBezTo>
                  <a:pt x="6551311" y="1618459"/>
                  <a:pt x="6542619" y="1624047"/>
                  <a:pt x="6530201" y="1628600"/>
                </a:cubicBezTo>
                <a:cubicBezTo>
                  <a:pt x="6517783" y="1633153"/>
                  <a:pt x="6501226" y="1636672"/>
                  <a:pt x="6480529" y="1639155"/>
                </a:cubicBezTo>
                <a:cubicBezTo>
                  <a:pt x="6459833" y="1641639"/>
                  <a:pt x="6433341" y="1642881"/>
                  <a:pt x="6401055" y="1642881"/>
                </a:cubicBezTo>
                <a:cubicBezTo>
                  <a:pt x="6369597" y="1642881"/>
                  <a:pt x="6343312" y="1641639"/>
                  <a:pt x="6322202" y="1639155"/>
                </a:cubicBezTo>
                <a:cubicBezTo>
                  <a:pt x="6301092" y="1636672"/>
                  <a:pt x="6284328" y="1633153"/>
                  <a:pt x="6271910" y="1628600"/>
                </a:cubicBezTo>
                <a:cubicBezTo>
                  <a:pt x="6259492" y="1624047"/>
                  <a:pt x="6250593" y="1618459"/>
                  <a:pt x="6245211" y="1611836"/>
                </a:cubicBezTo>
                <a:cubicBezTo>
                  <a:pt x="6239830" y="1605213"/>
                  <a:pt x="6237140" y="1597349"/>
                  <a:pt x="6237140" y="1588242"/>
                </a:cubicBezTo>
                <a:lnTo>
                  <a:pt x="6237140" y="74507"/>
                </a:lnTo>
                <a:cubicBezTo>
                  <a:pt x="6237140" y="65400"/>
                  <a:pt x="6239830" y="57536"/>
                  <a:pt x="6245211" y="50913"/>
                </a:cubicBezTo>
                <a:cubicBezTo>
                  <a:pt x="6250593" y="44290"/>
                  <a:pt x="6259492" y="38909"/>
                  <a:pt x="6271910" y="34770"/>
                </a:cubicBezTo>
                <a:cubicBezTo>
                  <a:pt x="6284328" y="30630"/>
                  <a:pt x="6301092" y="27319"/>
                  <a:pt x="6322202" y="24835"/>
                </a:cubicBezTo>
                <a:cubicBezTo>
                  <a:pt x="6343312" y="22352"/>
                  <a:pt x="6369597" y="21110"/>
                  <a:pt x="6401055" y="21110"/>
                </a:cubicBezTo>
                <a:close/>
                <a:moveTo>
                  <a:pt x="3600087" y="21110"/>
                </a:moveTo>
                <a:cubicBezTo>
                  <a:pt x="3648930" y="21110"/>
                  <a:pt x="3687840" y="21731"/>
                  <a:pt x="3716815" y="22973"/>
                </a:cubicBezTo>
                <a:cubicBezTo>
                  <a:pt x="3745789" y="24215"/>
                  <a:pt x="3768349" y="27112"/>
                  <a:pt x="3784492" y="31665"/>
                </a:cubicBezTo>
                <a:cubicBezTo>
                  <a:pt x="3800635" y="36218"/>
                  <a:pt x="3812225" y="43048"/>
                  <a:pt x="3819262" y="52155"/>
                </a:cubicBezTo>
                <a:cubicBezTo>
                  <a:pt x="3826299" y="61261"/>
                  <a:pt x="3832301" y="73679"/>
                  <a:pt x="3837268" y="89408"/>
                </a:cubicBezTo>
                <a:lnTo>
                  <a:pt x="4333982" y="1513735"/>
                </a:lnTo>
                <a:cubicBezTo>
                  <a:pt x="4343916" y="1543538"/>
                  <a:pt x="4350125" y="1567132"/>
                  <a:pt x="4352608" y="1584517"/>
                </a:cubicBezTo>
                <a:cubicBezTo>
                  <a:pt x="4355092" y="1601902"/>
                  <a:pt x="4351781" y="1614941"/>
                  <a:pt x="4342674" y="1623633"/>
                </a:cubicBezTo>
                <a:cubicBezTo>
                  <a:pt x="4333568" y="1632326"/>
                  <a:pt x="4317424" y="1637707"/>
                  <a:pt x="4294244" y="1639776"/>
                </a:cubicBezTo>
                <a:cubicBezTo>
                  <a:pt x="4271065" y="1641846"/>
                  <a:pt x="4239192" y="1642881"/>
                  <a:pt x="4198627" y="1642881"/>
                </a:cubicBezTo>
                <a:cubicBezTo>
                  <a:pt x="4156407" y="1642881"/>
                  <a:pt x="4123499" y="1642260"/>
                  <a:pt x="4099905" y="1641018"/>
                </a:cubicBezTo>
                <a:cubicBezTo>
                  <a:pt x="4076312" y="1639776"/>
                  <a:pt x="4058305" y="1637293"/>
                  <a:pt x="4045888" y="1633567"/>
                </a:cubicBezTo>
                <a:cubicBezTo>
                  <a:pt x="4033470" y="1629842"/>
                  <a:pt x="4024778" y="1624668"/>
                  <a:pt x="4019810" y="1618045"/>
                </a:cubicBezTo>
                <a:cubicBezTo>
                  <a:pt x="4014843" y="1611422"/>
                  <a:pt x="4010704" y="1602730"/>
                  <a:pt x="4007393" y="1591968"/>
                </a:cubicBezTo>
                <a:lnTo>
                  <a:pt x="3899357" y="1269104"/>
                </a:lnTo>
                <a:lnTo>
                  <a:pt x="3295849" y="1269104"/>
                </a:lnTo>
                <a:lnTo>
                  <a:pt x="3194023" y="1583275"/>
                </a:lnTo>
                <a:cubicBezTo>
                  <a:pt x="3190712" y="1594865"/>
                  <a:pt x="3186365" y="1604592"/>
                  <a:pt x="3180984" y="1612457"/>
                </a:cubicBezTo>
                <a:cubicBezTo>
                  <a:pt x="3175604" y="1620322"/>
                  <a:pt x="3166911" y="1626531"/>
                  <a:pt x="3154907" y="1631084"/>
                </a:cubicBezTo>
                <a:cubicBezTo>
                  <a:pt x="3142903" y="1635637"/>
                  <a:pt x="3125932" y="1638741"/>
                  <a:pt x="3103994" y="1640397"/>
                </a:cubicBezTo>
                <a:cubicBezTo>
                  <a:pt x="3082056" y="1642053"/>
                  <a:pt x="3053288" y="1642881"/>
                  <a:pt x="3017690" y="1642881"/>
                </a:cubicBezTo>
                <a:cubicBezTo>
                  <a:pt x="2979608" y="1642881"/>
                  <a:pt x="2949806" y="1641639"/>
                  <a:pt x="2928281" y="1639155"/>
                </a:cubicBezTo>
                <a:cubicBezTo>
                  <a:pt x="2906757" y="1636672"/>
                  <a:pt x="2891856" y="1630670"/>
                  <a:pt x="2883577" y="1621150"/>
                </a:cubicBezTo>
                <a:cubicBezTo>
                  <a:pt x="2875298" y="1611629"/>
                  <a:pt x="2872401" y="1598177"/>
                  <a:pt x="2874884" y="1580792"/>
                </a:cubicBezTo>
                <a:cubicBezTo>
                  <a:pt x="2877368" y="1563407"/>
                  <a:pt x="2883577" y="1540227"/>
                  <a:pt x="2893511" y="1511252"/>
                </a:cubicBezTo>
                <a:lnTo>
                  <a:pt x="3388983" y="85683"/>
                </a:lnTo>
                <a:cubicBezTo>
                  <a:pt x="3393950" y="71609"/>
                  <a:pt x="3399746" y="60226"/>
                  <a:pt x="3406368" y="51534"/>
                </a:cubicBezTo>
                <a:cubicBezTo>
                  <a:pt x="3412991" y="42841"/>
                  <a:pt x="3423546" y="36218"/>
                  <a:pt x="3438034" y="31665"/>
                </a:cubicBezTo>
                <a:cubicBezTo>
                  <a:pt x="3452521" y="27112"/>
                  <a:pt x="3472597" y="24215"/>
                  <a:pt x="3498261" y="22973"/>
                </a:cubicBezTo>
                <a:cubicBezTo>
                  <a:pt x="3523924" y="21731"/>
                  <a:pt x="3557866" y="21110"/>
                  <a:pt x="3600087" y="21110"/>
                </a:cubicBezTo>
                <a:close/>
                <a:moveTo>
                  <a:pt x="1581406" y="21110"/>
                </a:moveTo>
                <a:cubicBezTo>
                  <a:pt x="1613692" y="21110"/>
                  <a:pt x="1640183" y="22352"/>
                  <a:pt x="1660880" y="24835"/>
                </a:cubicBezTo>
                <a:cubicBezTo>
                  <a:pt x="1681576" y="27319"/>
                  <a:pt x="1698133" y="30630"/>
                  <a:pt x="1710551" y="34770"/>
                </a:cubicBezTo>
                <a:cubicBezTo>
                  <a:pt x="1722969" y="38909"/>
                  <a:pt x="1731662" y="44290"/>
                  <a:pt x="1736629" y="50913"/>
                </a:cubicBezTo>
                <a:cubicBezTo>
                  <a:pt x="1741596" y="57536"/>
                  <a:pt x="1744079" y="64986"/>
                  <a:pt x="1744079" y="73265"/>
                </a:cubicBezTo>
                <a:lnTo>
                  <a:pt x="1744079" y="663113"/>
                </a:lnTo>
                <a:lnTo>
                  <a:pt x="2345103" y="663113"/>
                </a:lnTo>
                <a:lnTo>
                  <a:pt x="2345103" y="73265"/>
                </a:lnTo>
                <a:cubicBezTo>
                  <a:pt x="2345103" y="64986"/>
                  <a:pt x="2347794" y="57536"/>
                  <a:pt x="2353175" y="50913"/>
                </a:cubicBezTo>
                <a:cubicBezTo>
                  <a:pt x="2358556" y="44290"/>
                  <a:pt x="2367248" y="38909"/>
                  <a:pt x="2379252" y="34770"/>
                </a:cubicBezTo>
                <a:cubicBezTo>
                  <a:pt x="2391256" y="30630"/>
                  <a:pt x="2407813" y="27319"/>
                  <a:pt x="2428923" y="24835"/>
                </a:cubicBezTo>
                <a:cubicBezTo>
                  <a:pt x="2450034" y="22352"/>
                  <a:pt x="2476732" y="21110"/>
                  <a:pt x="2509019" y="21110"/>
                </a:cubicBezTo>
                <a:cubicBezTo>
                  <a:pt x="2540477" y="21110"/>
                  <a:pt x="2566554" y="22352"/>
                  <a:pt x="2587251" y="24835"/>
                </a:cubicBezTo>
                <a:cubicBezTo>
                  <a:pt x="2607947" y="27319"/>
                  <a:pt x="2624504" y="30630"/>
                  <a:pt x="2636922" y="34770"/>
                </a:cubicBezTo>
                <a:cubicBezTo>
                  <a:pt x="2649340" y="38909"/>
                  <a:pt x="2658240" y="44290"/>
                  <a:pt x="2663621" y="50913"/>
                </a:cubicBezTo>
                <a:cubicBezTo>
                  <a:pt x="2669002" y="57536"/>
                  <a:pt x="2671693" y="64986"/>
                  <a:pt x="2671693" y="73265"/>
                </a:cubicBezTo>
                <a:lnTo>
                  <a:pt x="2671693" y="1590726"/>
                </a:lnTo>
                <a:cubicBezTo>
                  <a:pt x="2671693" y="1599004"/>
                  <a:pt x="2669002" y="1606455"/>
                  <a:pt x="2663621" y="1613078"/>
                </a:cubicBezTo>
                <a:cubicBezTo>
                  <a:pt x="2658240" y="1619701"/>
                  <a:pt x="2649340" y="1625082"/>
                  <a:pt x="2636922" y="1629221"/>
                </a:cubicBezTo>
                <a:cubicBezTo>
                  <a:pt x="2624504" y="1633360"/>
                  <a:pt x="2607947" y="1636672"/>
                  <a:pt x="2587251" y="1639155"/>
                </a:cubicBezTo>
                <a:cubicBezTo>
                  <a:pt x="2566554" y="1641639"/>
                  <a:pt x="2540477" y="1642881"/>
                  <a:pt x="2509019" y="1642881"/>
                </a:cubicBezTo>
                <a:cubicBezTo>
                  <a:pt x="2476732" y="1642881"/>
                  <a:pt x="2450034" y="1641639"/>
                  <a:pt x="2428923" y="1639155"/>
                </a:cubicBezTo>
                <a:cubicBezTo>
                  <a:pt x="2407813" y="1636672"/>
                  <a:pt x="2391256" y="1633360"/>
                  <a:pt x="2379252" y="1629221"/>
                </a:cubicBezTo>
                <a:cubicBezTo>
                  <a:pt x="2367248" y="1625082"/>
                  <a:pt x="2358556" y="1619701"/>
                  <a:pt x="2353175" y="1613078"/>
                </a:cubicBezTo>
                <a:cubicBezTo>
                  <a:pt x="2347794" y="1606455"/>
                  <a:pt x="2345103" y="1599004"/>
                  <a:pt x="2345103" y="1590726"/>
                </a:cubicBezTo>
                <a:lnTo>
                  <a:pt x="2345103" y="941272"/>
                </a:lnTo>
                <a:lnTo>
                  <a:pt x="1744079" y="941272"/>
                </a:lnTo>
                <a:lnTo>
                  <a:pt x="1744079" y="1590726"/>
                </a:lnTo>
                <a:cubicBezTo>
                  <a:pt x="1744079" y="1599004"/>
                  <a:pt x="1741596" y="1606455"/>
                  <a:pt x="1736629" y="1613078"/>
                </a:cubicBezTo>
                <a:cubicBezTo>
                  <a:pt x="1731662" y="1619701"/>
                  <a:pt x="1722969" y="1625082"/>
                  <a:pt x="1710551" y="1629221"/>
                </a:cubicBezTo>
                <a:cubicBezTo>
                  <a:pt x="1698133" y="1633360"/>
                  <a:pt x="1681576" y="1636672"/>
                  <a:pt x="1660880" y="1639155"/>
                </a:cubicBezTo>
                <a:cubicBezTo>
                  <a:pt x="1640183" y="1641639"/>
                  <a:pt x="1613692" y="1642881"/>
                  <a:pt x="1581406" y="1642881"/>
                </a:cubicBezTo>
                <a:cubicBezTo>
                  <a:pt x="1549947" y="1642881"/>
                  <a:pt x="1523663" y="1641639"/>
                  <a:pt x="1502552" y="1639155"/>
                </a:cubicBezTo>
                <a:cubicBezTo>
                  <a:pt x="1481442" y="1636672"/>
                  <a:pt x="1464678" y="1633360"/>
                  <a:pt x="1452260" y="1629221"/>
                </a:cubicBezTo>
                <a:cubicBezTo>
                  <a:pt x="1439842" y="1625082"/>
                  <a:pt x="1430943" y="1619701"/>
                  <a:pt x="1425562" y="1613078"/>
                </a:cubicBezTo>
                <a:cubicBezTo>
                  <a:pt x="1420181" y="1606455"/>
                  <a:pt x="1417490" y="1599004"/>
                  <a:pt x="1417490" y="1590726"/>
                </a:cubicBezTo>
                <a:lnTo>
                  <a:pt x="1417490" y="73265"/>
                </a:lnTo>
                <a:cubicBezTo>
                  <a:pt x="1417490" y="64986"/>
                  <a:pt x="1420181" y="57536"/>
                  <a:pt x="1425562" y="50913"/>
                </a:cubicBezTo>
                <a:cubicBezTo>
                  <a:pt x="1430943" y="44290"/>
                  <a:pt x="1439842" y="38909"/>
                  <a:pt x="1452260" y="34770"/>
                </a:cubicBezTo>
                <a:cubicBezTo>
                  <a:pt x="1464678" y="30630"/>
                  <a:pt x="1481442" y="27319"/>
                  <a:pt x="1502552" y="24835"/>
                </a:cubicBezTo>
                <a:cubicBezTo>
                  <a:pt x="1523663" y="22352"/>
                  <a:pt x="1549947" y="21110"/>
                  <a:pt x="1581406" y="21110"/>
                </a:cubicBezTo>
                <a:close/>
                <a:moveTo>
                  <a:pt x="8078134" y="0"/>
                </a:moveTo>
                <a:cubicBezTo>
                  <a:pt x="8116216" y="0"/>
                  <a:pt x="8154297" y="2897"/>
                  <a:pt x="8192378" y="8692"/>
                </a:cubicBezTo>
                <a:cubicBezTo>
                  <a:pt x="8230460" y="14487"/>
                  <a:pt x="8266058" y="22352"/>
                  <a:pt x="8299172" y="32286"/>
                </a:cubicBezTo>
                <a:cubicBezTo>
                  <a:pt x="8332286" y="42220"/>
                  <a:pt x="8361675" y="53396"/>
                  <a:pt x="8387339" y="65814"/>
                </a:cubicBezTo>
                <a:cubicBezTo>
                  <a:pt x="8413002" y="78232"/>
                  <a:pt x="8429973" y="88580"/>
                  <a:pt x="8438252" y="96859"/>
                </a:cubicBezTo>
                <a:cubicBezTo>
                  <a:pt x="8446530" y="105137"/>
                  <a:pt x="8452118" y="112174"/>
                  <a:pt x="8455016" y="117969"/>
                </a:cubicBezTo>
                <a:cubicBezTo>
                  <a:pt x="8457913" y="123764"/>
                  <a:pt x="8460397" y="131422"/>
                  <a:pt x="8462467" y="140942"/>
                </a:cubicBezTo>
                <a:cubicBezTo>
                  <a:pt x="8464536" y="150463"/>
                  <a:pt x="8465985" y="162467"/>
                  <a:pt x="8466813" y="176954"/>
                </a:cubicBezTo>
                <a:cubicBezTo>
                  <a:pt x="8467641" y="191442"/>
                  <a:pt x="8468055" y="209447"/>
                  <a:pt x="8468055" y="230972"/>
                </a:cubicBezTo>
                <a:cubicBezTo>
                  <a:pt x="8468055" y="254980"/>
                  <a:pt x="8467434" y="275262"/>
                  <a:pt x="8466192" y="291819"/>
                </a:cubicBezTo>
                <a:cubicBezTo>
                  <a:pt x="8464950" y="308376"/>
                  <a:pt x="8462880" y="322036"/>
                  <a:pt x="8459983" y="332798"/>
                </a:cubicBezTo>
                <a:cubicBezTo>
                  <a:pt x="8457085" y="343560"/>
                  <a:pt x="8452946" y="351425"/>
                  <a:pt x="8447565" y="356392"/>
                </a:cubicBezTo>
                <a:cubicBezTo>
                  <a:pt x="8442184" y="361359"/>
                  <a:pt x="8434940" y="363843"/>
                  <a:pt x="8425834" y="363843"/>
                </a:cubicBezTo>
                <a:cubicBezTo>
                  <a:pt x="8416727" y="363843"/>
                  <a:pt x="8402240" y="358048"/>
                  <a:pt x="8382371" y="346458"/>
                </a:cubicBezTo>
                <a:cubicBezTo>
                  <a:pt x="8362503" y="334868"/>
                  <a:pt x="8338081" y="322243"/>
                  <a:pt x="8309106" y="308583"/>
                </a:cubicBezTo>
                <a:cubicBezTo>
                  <a:pt x="8280131" y="294924"/>
                  <a:pt x="8246603" y="282506"/>
                  <a:pt x="8208522" y="271330"/>
                </a:cubicBezTo>
                <a:cubicBezTo>
                  <a:pt x="8170440" y="260154"/>
                  <a:pt x="8128633" y="254566"/>
                  <a:pt x="8083101" y="254566"/>
                </a:cubicBezTo>
                <a:cubicBezTo>
                  <a:pt x="8047504" y="254566"/>
                  <a:pt x="8016459" y="258912"/>
                  <a:pt x="7989968" y="267604"/>
                </a:cubicBezTo>
                <a:cubicBezTo>
                  <a:pt x="7963476" y="276297"/>
                  <a:pt x="7941331" y="288301"/>
                  <a:pt x="7923532" y="303616"/>
                </a:cubicBezTo>
                <a:cubicBezTo>
                  <a:pt x="7905733" y="318931"/>
                  <a:pt x="7892487" y="337351"/>
                  <a:pt x="7883795" y="358875"/>
                </a:cubicBezTo>
                <a:cubicBezTo>
                  <a:pt x="7875103" y="380400"/>
                  <a:pt x="7870756" y="403166"/>
                  <a:pt x="7870756" y="427174"/>
                </a:cubicBezTo>
                <a:cubicBezTo>
                  <a:pt x="7870756" y="462771"/>
                  <a:pt x="7880483" y="493609"/>
                  <a:pt x="7899938" y="519687"/>
                </a:cubicBezTo>
                <a:cubicBezTo>
                  <a:pt x="7919393" y="545764"/>
                  <a:pt x="7945470" y="568944"/>
                  <a:pt x="7978171" y="589227"/>
                </a:cubicBezTo>
                <a:cubicBezTo>
                  <a:pt x="8010871" y="609509"/>
                  <a:pt x="8047917" y="628550"/>
                  <a:pt x="8089310" y="646349"/>
                </a:cubicBezTo>
                <a:cubicBezTo>
                  <a:pt x="8130703" y="664148"/>
                  <a:pt x="8172924" y="682981"/>
                  <a:pt x="8215972" y="702850"/>
                </a:cubicBezTo>
                <a:cubicBezTo>
                  <a:pt x="8259021" y="722718"/>
                  <a:pt x="8301242" y="745278"/>
                  <a:pt x="8342634" y="770527"/>
                </a:cubicBezTo>
                <a:cubicBezTo>
                  <a:pt x="8384027" y="795777"/>
                  <a:pt x="8420867" y="825993"/>
                  <a:pt x="8453153" y="861177"/>
                </a:cubicBezTo>
                <a:cubicBezTo>
                  <a:pt x="8485440" y="896361"/>
                  <a:pt x="8511517" y="937754"/>
                  <a:pt x="8531386" y="985356"/>
                </a:cubicBezTo>
                <a:cubicBezTo>
                  <a:pt x="8551254" y="1032958"/>
                  <a:pt x="8561188" y="1089045"/>
                  <a:pt x="8561188" y="1153618"/>
                </a:cubicBezTo>
                <a:cubicBezTo>
                  <a:pt x="8561188" y="1238059"/>
                  <a:pt x="8545459" y="1312152"/>
                  <a:pt x="8514001" y="1375897"/>
                </a:cubicBezTo>
                <a:cubicBezTo>
                  <a:pt x="8482542" y="1439642"/>
                  <a:pt x="8439907" y="1492832"/>
                  <a:pt x="8386097" y="1535466"/>
                </a:cubicBezTo>
                <a:cubicBezTo>
                  <a:pt x="8332286" y="1578101"/>
                  <a:pt x="8269369" y="1610180"/>
                  <a:pt x="8197346" y="1631705"/>
                </a:cubicBezTo>
                <a:cubicBezTo>
                  <a:pt x="8125322" y="1653229"/>
                  <a:pt x="8048331" y="1663991"/>
                  <a:pt x="7966373" y="1663991"/>
                </a:cubicBezTo>
                <a:cubicBezTo>
                  <a:pt x="7910907" y="1663991"/>
                  <a:pt x="7859373" y="1659438"/>
                  <a:pt x="7811771" y="1650331"/>
                </a:cubicBezTo>
                <a:cubicBezTo>
                  <a:pt x="7764169" y="1641225"/>
                  <a:pt x="7722156" y="1630256"/>
                  <a:pt x="7685731" y="1617424"/>
                </a:cubicBezTo>
                <a:cubicBezTo>
                  <a:pt x="7649305" y="1604592"/>
                  <a:pt x="7618881" y="1591140"/>
                  <a:pt x="7594459" y="1577066"/>
                </a:cubicBezTo>
                <a:cubicBezTo>
                  <a:pt x="7570037" y="1562993"/>
                  <a:pt x="7552445" y="1550575"/>
                  <a:pt x="7541683" y="1539813"/>
                </a:cubicBezTo>
                <a:cubicBezTo>
                  <a:pt x="7530921" y="1529051"/>
                  <a:pt x="7523263" y="1513528"/>
                  <a:pt x="7518710" y="1493246"/>
                </a:cubicBezTo>
                <a:cubicBezTo>
                  <a:pt x="7514157" y="1472963"/>
                  <a:pt x="7511881" y="1443781"/>
                  <a:pt x="7511881" y="1405700"/>
                </a:cubicBezTo>
                <a:cubicBezTo>
                  <a:pt x="7511881" y="1380036"/>
                  <a:pt x="7512709" y="1358512"/>
                  <a:pt x="7514364" y="1341127"/>
                </a:cubicBezTo>
                <a:cubicBezTo>
                  <a:pt x="7516019" y="1323742"/>
                  <a:pt x="7518710" y="1309669"/>
                  <a:pt x="7522435" y="1298906"/>
                </a:cubicBezTo>
                <a:cubicBezTo>
                  <a:pt x="7526161" y="1288144"/>
                  <a:pt x="7531128" y="1280487"/>
                  <a:pt x="7537337" y="1275933"/>
                </a:cubicBezTo>
                <a:cubicBezTo>
                  <a:pt x="7543546" y="1271380"/>
                  <a:pt x="7550789" y="1269104"/>
                  <a:pt x="7559068" y="1269104"/>
                </a:cubicBezTo>
                <a:cubicBezTo>
                  <a:pt x="7570658" y="1269104"/>
                  <a:pt x="7587009" y="1275933"/>
                  <a:pt x="7608119" y="1289593"/>
                </a:cubicBezTo>
                <a:cubicBezTo>
                  <a:pt x="7629229" y="1303253"/>
                  <a:pt x="7656341" y="1318361"/>
                  <a:pt x="7689455" y="1334918"/>
                </a:cubicBezTo>
                <a:cubicBezTo>
                  <a:pt x="7722570" y="1351475"/>
                  <a:pt x="7762100" y="1366584"/>
                  <a:pt x="7808046" y="1380243"/>
                </a:cubicBezTo>
                <a:cubicBezTo>
                  <a:pt x="7853992" y="1393903"/>
                  <a:pt x="7907182" y="1400733"/>
                  <a:pt x="7967615" y="1400733"/>
                </a:cubicBezTo>
                <a:cubicBezTo>
                  <a:pt x="8007352" y="1400733"/>
                  <a:pt x="8042950" y="1395973"/>
                  <a:pt x="8074409" y="1386452"/>
                </a:cubicBezTo>
                <a:cubicBezTo>
                  <a:pt x="8105867" y="1376932"/>
                  <a:pt x="8132566" y="1363479"/>
                  <a:pt x="8154504" y="1346094"/>
                </a:cubicBezTo>
                <a:cubicBezTo>
                  <a:pt x="8176442" y="1328709"/>
                  <a:pt x="8193206" y="1307185"/>
                  <a:pt x="8204796" y="1281521"/>
                </a:cubicBezTo>
                <a:cubicBezTo>
                  <a:pt x="8216386" y="1255858"/>
                  <a:pt x="8222181" y="1227297"/>
                  <a:pt x="8222181" y="1195838"/>
                </a:cubicBezTo>
                <a:cubicBezTo>
                  <a:pt x="8222181" y="1159413"/>
                  <a:pt x="8212247" y="1128161"/>
                  <a:pt x="8192378" y="1102084"/>
                </a:cubicBezTo>
                <a:cubicBezTo>
                  <a:pt x="8172510" y="1076006"/>
                  <a:pt x="8146639" y="1052826"/>
                  <a:pt x="8114767" y="1032544"/>
                </a:cubicBezTo>
                <a:cubicBezTo>
                  <a:pt x="8082894" y="1012261"/>
                  <a:pt x="8046676" y="993220"/>
                  <a:pt x="8006111" y="975422"/>
                </a:cubicBezTo>
                <a:cubicBezTo>
                  <a:pt x="7965545" y="957623"/>
                  <a:pt x="7923739" y="938789"/>
                  <a:pt x="7880691" y="918920"/>
                </a:cubicBezTo>
                <a:cubicBezTo>
                  <a:pt x="7837642" y="899052"/>
                  <a:pt x="7795835" y="876493"/>
                  <a:pt x="7755270" y="851243"/>
                </a:cubicBezTo>
                <a:cubicBezTo>
                  <a:pt x="7714705" y="825993"/>
                  <a:pt x="7678487" y="795777"/>
                  <a:pt x="7646614" y="760593"/>
                </a:cubicBezTo>
                <a:cubicBezTo>
                  <a:pt x="7614741" y="725409"/>
                  <a:pt x="7588871" y="683809"/>
                  <a:pt x="7569003" y="635793"/>
                </a:cubicBezTo>
                <a:cubicBezTo>
                  <a:pt x="7549134" y="587778"/>
                  <a:pt x="7539199" y="530242"/>
                  <a:pt x="7539199" y="463185"/>
                </a:cubicBezTo>
                <a:cubicBezTo>
                  <a:pt x="7539199" y="386195"/>
                  <a:pt x="7553480" y="318517"/>
                  <a:pt x="7582041" y="260154"/>
                </a:cubicBezTo>
                <a:cubicBezTo>
                  <a:pt x="7610603" y="201790"/>
                  <a:pt x="7649097" y="153360"/>
                  <a:pt x="7697527" y="114865"/>
                </a:cubicBezTo>
                <a:cubicBezTo>
                  <a:pt x="7745957" y="76369"/>
                  <a:pt x="7803079" y="47601"/>
                  <a:pt x="7868893" y="28561"/>
                </a:cubicBezTo>
                <a:cubicBezTo>
                  <a:pt x="7934708" y="9520"/>
                  <a:pt x="8004455" y="0"/>
                  <a:pt x="8078134" y="0"/>
                </a:cubicBezTo>
                <a:close/>
              </a:path>
            </a:pathLst>
          </a:cu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kumimoji="1"/>
        </a:defPPr>
      </a:lstStyle>
      <a:style>
        <a:lnRef idx="1">
          <a:schemeClr val="accent1"/>
        </a:lnRef>
        <a:fillRef idx="3">
          <a:schemeClr val="accent1"/>
        </a:fillRef>
        <a:effectRef idx="2">
          <a:schemeClr val="accent1"/>
        </a:effectRef>
        <a:fontRef idx="minor">
          <a:schemeClr val="lt1"/>
        </a:fontRef>
      </a:style>
    </a:spDef>
    <a:lnDef>
      <a:spPr>
        <a:ln>
          <a:headEnd type="none" w="med" len="med"/>
          <a:tailEnd type="none" w="med" len="med"/>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TotalTime>
  <Words>2457</Words>
  <Application>Microsoft Office PowerPoint</Application>
  <PresentationFormat>Widescreen</PresentationFormat>
  <Paragraphs>997</Paragraphs>
  <Slides>14</Slides>
  <Notes>11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Arial (Body)</vt:lpstr>
      <vt:lpstr>Meiryo UI</vt:lpstr>
      <vt:lpstr>MS PGothic</vt:lpstr>
      <vt:lpstr>MS PGothic</vt:lpstr>
      <vt:lpstr>ヒラギノ角ゴ Pro W3</vt:lpstr>
      <vt:lpstr>Meiryo</vt:lpstr>
      <vt:lpstr>Arial</vt:lpstr>
      <vt:lpstr>Calibri</vt:lpstr>
      <vt:lpstr>Times New Roman</vt:lpstr>
      <vt:lpstr>Wingdings</vt:lpstr>
      <vt:lpstr>ホワイト</vt:lpstr>
      <vt:lpstr>PowerPoint Presentation</vt:lpstr>
      <vt:lpstr>目的</vt:lpstr>
      <vt:lpstr>概要</vt:lpstr>
      <vt:lpstr>製造分析</vt:lpstr>
      <vt:lpstr>製造分析</vt:lpstr>
      <vt:lpstr>製造分析</vt:lpstr>
      <vt:lpstr>製造分析</vt:lpstr>
      <vt:lpstr>単体テスト仕様書分析</vt:lpstr>
      <vt:lpstr>単体テスト仕様書分析</vt:lpstr>
      <vt:lpstr>単体テスト実施結果分析</vt:lpstr>
      <vt:lpstr>単体テスト実施結果分析</vt:lpstr>
      <vt:lpstr>単体テスト実施結果分析</vt:lpstr>
      <vt:lpstr>まとめ</vt:lpstr>
      <vt:lpstr>PowerPoint Presentation</vt:lpstr>
    </vt:vector>
  </TitlesOfParts>
  <Company>ブライセン株式会社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石井 学</dc:creator>
  <cp:lastModifiedBy>Nguyen Thi Bich Huyen</cp:lastModifiedBy>
  <cp:revision>1446</cp:revision>
  <cp:lastPrinted>2018-01-29T01:49:00Z</cp:lastPrinted>
  <dcterms:created xsi:type="dcterms:W3CDTF">2013-02-25T06:37:00Z</dcterms:created>
  <dcterms:modified xsi:type="dcterms:W3CDTF">2026-01-16T03:16:32Z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8EA18ABD41A749E0A99E417BB5C0D467_11</vt:lpwstr>
  </property>
  <property fmtid="{D5CDD505-2E9C-101B-9397-08002B2CF9AE}" pid="3" name="KSOProductBuildVer">
    <vt:lpwstr>1033-12.2.0.23155</vt:lpwstr>
  </property>
</Properties>
</file>