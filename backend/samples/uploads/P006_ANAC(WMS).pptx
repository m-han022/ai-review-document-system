
<file path=[Content_Types].xml><?xml version="1.0" encoding="utf-8"?>
<Types xmlns="http://schemas.openxmlformats.org/package/2006/content-types">
  <Default Extension="png" ContentType="image/png"/>
  <Default Extension="jpeg" ContentType="image/jpeg"/>
  <Default Extension="webp" ContentType="image/webp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802" r:id="rId2"/>
    <p:sldId id="988" r:id="rId3"/>
    <p:sldId id="1025" r:id="rId4"/>
    <p:sldId id="1026" r:id="rId5"/>
    <p:sldId id="1036" r:id="rId6"/>
    <p:sldId id="985" r:id="rId7"/>
    <p:sldId id="1044" r:id="rId8"/>
    <p:sldId id="1050" r:id="rId9"/>
    <p:sldId id="1054" r:id="rId10"/>
    <p:sldId id="1055" r:id="rId11"/>
    <p:sldId id="1060" r:id="rId12"/>
    <p:sldId id="1035" r:id="rId13"/>
    <p:sldId id="1051" r:id="rId14"/>
    <p:sldId id="1056" r:id="rId15"/>
    <p:sldId id="1061" r:id="rId16"/>
    <p:sldId id="1046" r:id="rId17"/>
    <p:sldId id="1052" r:id="rId18"/>
    <p:sldId id="1057" r:id="rId19"/>
    <p:sldId id="1062" r:id="rId20"/>
    <p:sldId id="1063" r:id="rId21"/>
    <p:sldId id="1053" r:id="rId22"/>
    <p:sldId id="1037" r:id="rId23"/>
    <p:sldId id="1058" r:id="rId24"/>
    <p:sldId id="1059" r:id="rId25"/>
    <p:sldId id="783" r:id="rId26"/>
  </p:sldIdLst>
  <p:sldSz cx="12192000" cy="6858000"/>
  <p:notesSz cx="6742113" cy="9872663"/>
  <p:defaultTextStyle>
    <a:defPPr>
      <a:defRPr lang="ja-JP"/>
    </a:defPPr>
    <a:lvl1pPr marL="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2FC42D3-D426-4E12-AA70-C0AFD4671F5E}">
          <p14:sldIdLst>
            <p14:sldId id="802"/>
            <p14:sldId id="988"/>
            <p14:sldId id="1025"/>
            <p14:sldId id="1026"/>
            <p14:sldId id="1036"/>
            <p14:sldId id="985"/>
          </p14:sldIdLst>
        </p14:section>
        <p14:section name="Untitled Section" id="{73DE9ED6-FC32-482F-AF0D-3758819E8781}">
          <p14:sldIdLst>
            <p14:sldId id="1044"/>
            <p14:sldId id="1050"/>
            <p14:sldId id="1054"/>
            <p14:sldId id="1055"/>
            <p14:sldId id="1060"/>
            <p14:sldId id="1035"/>
            <p14:sldId id="1051"/>
            <p14:sldId id="1056"/>
            <p14:sldId id="1061"/>
            <p14:sldId id="1046"/>
            <p14:sldId id="1052"/>
            <p14:sldId id="1057"/>
            <p14:sldId id="1062"/>
            <p14:sldId id="1063"/>
            <p14:sldId id="1053"/>
            <p14:sldId id="1037"/>
            <p14:sldId id="1058"/>
            <p14:sldId id="1059"/>
            <p14:sldId id="78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088" userDrawn="1">
          <p15:clr>
            <a:srgbClr val="A4A3A4"/>
          </p15:clr>
        </p15:guide>
        <p15:guide id="2" pos="38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  <a:srgbClr val="00B050"/>
    <a:srgbClr val="33CC33"/>
    <a:srgbClr val="FFFF00"/>
    <a:srgbClr val="6D1309"/>
    <a:srgbClr val="003E6C"/>
    <a:srgbClr val="D2FCFE"/>
    <a:srgbClr val="CCFFFF"/>
    <a:srgbClr val="FFFFCC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010" autoAdjust="0"/>
    <p:restoredTop sz="94397" autoAdjust="0"/>
  </p:normalViewPr>
  <p:slideViewPr>
    <p:cSldViewPr snapToGrid="0" snapToObjects="1" showGuides="1">
      <p:cViewPr varScale="1">
        <p:scale>
          <a:sx n="113" d="100"/>
          <a:sy n="113" d="100"/>
        </p:scale>
        <p:origin x="108" y="150"/>
      </p:cViewPr>
      <p:guideLst>
        <p:guide orient="horz" pos="2088"/>
        <p:guide pos="3836"/>
      </p:guideLst>
    </p:cSldViewPr>
  </p:slideViewPr>
  <p:outlineViewPr>
    <p:cViewPr>
      <p:scale>
        <a:sx n="33" d="100"/>
        <a:sy n="33" d="100"/>
      </p:scale>
      <p:origin x="0" y="1536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54" d="100"/>
          <a:sy n="54" d="100"/>
        </p:scale>
        <p:origin x="3084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7280379598072602E-2"/>
          <c:y val="6.5856534983228396E-2"/>
          <c:w val="0.32384945351980299"/>
          <c:h val="0.81654250968957798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02F-41C2-8AD1-B412CAFD771C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02F-41C2-8AD1-B412CAFD771C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C02F-41C2-8AD1-B412CAFD771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195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PC機能</c:v>
                </c:pt>
                <c:pt idx="1">
                  <c:v>HHT機能</c:v>
                </c:pt>
                <c:pt idx="2">
                  <c:v>印字ツール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</c:v>
                </c:pt>
                <c:pt idx="1">
                  <c:v>8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02F-41C2-8AD1-B412CAFD771C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50156980843812404"/>
          <c:y val="8.5403850940511297E-2"/>
          <c:w val="0.31589023387002002"/>
          <c:h val="0.7781790408799440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195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56750ab4-ac58-4951-83cf-b577c6418bf6}"/>
      </c:ext>
    </c:extLst>
  </c:chart>
  <c:spPr>
    <a:noFill/>
    <a:ln>
      <a:noFill/>
    </a:ln>
    <a:effectLst/>
  </c:spPr>
  <c:txPr>
    <a:bodyPr/>
    <a:lstStyle/>
    <a:p>
      <a:pPr>
        <a:defRPr lang="en-US"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2921582" cy="493634"/>
          </a:xfrm>
          <a:prstGeom prst="rect">
            <a:avLst/>
          </a:prstGeom>
        </p:spPr>
        <p:txBody>
          <a:bodyPr vert="horz" lIns="90813" tIns="45407" rIns="90813" bIns="45407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18972" y="1"/>
            <a:ext cx="2921582" cy="493634"/>
          </a:xfrm>
          <a:prstGeom prst="rect">
            <a:avLst/>
          </a:prstGeom>
        </p:spPr>
        <p:txBody>
          <a:bodyPr vert="horz" lIns="90813" tIns="45407" rIns="90813" bIns="45407" rtlCol="0"/>
          <a:lstStyle>
            <a:lvl1pPr algn="r">
              <a:defRPr sz="1200"/>
            </a:lvl1pPr>
          </a:lstStyle>
          <a:p>
            <a:fld id="{AF9C2696-C907-6948-BD73-824E2CB18D72}" type="datetimeFigureOut">
              <a:rPr kumimoji="1" lang="ja-JP" altLang="en-US" smtClean="0"/>
              <a:t>2026/3/11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2" y="9377317"/>
            <a:ext cx="2921582" cy="493634"/>
          </a:xfrm>
          <a:prstGeom prst="rect">
            <a:avLst/>
          </a:prstGeom>
        </p:spPr>
        <p:txBody>
          <a:bodyPr vert="horz" lIns="90813" tIns="45407" rIns="90813" bIns="45407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18972" y="9377317"/>
            <a:ext cx="2921582" cy="493634"/>
          </a:xfrm>
          <a:prstGeom prst="rect">
            <a:avLst/>
          </a:prstGeom>
        </p:spPr>
        <p:txBody>
          <a:bodyPr vert="horz" lIns="90813" tIns="45407" rIns="90813" bIns="45407" rtlCol="0" anchor="b"/>
          <a:lstStyle>
            <a:lvl1pPr algn="r">
              <a:defRPr sz="1200"/>
            </a:lvl1pPr>
          </a:lstStyle>
          <a:p>
            <a:fld id="{53766504-C39F-2F4A-A070-5E6B687FB0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2921582" cy="493634"/>
          </a:xfrm>
          <a:prstGeom prst="rect">
            <a:avLst/>
          </a:prstGeom>
        </p:spPr>
        <p:txBody>
          <a:bodyPr vert="horz" lIns="90813" tIns="45407" rIns="90813" bIns="45407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18972" y="1"/>
            <a:ext cx="2921582" cy="493634"/>
          </a:xfrm>
          <a:prstGeom prst="rect">
            <a:avLst/>
          </a:prstGeom>
        </p:spPr>
        <p:txBody>
          <a:bodyPr vert="horz" lIns="90813" tIns="45407" rIns="90813" bIns="45407" rtlCol="0"/>
          <a:lstStyle>
            <a:lvl1pPr algn="r">
              <a:defRPr sz="1200"/>
            </a:lvl1pPr>
          </a:lstStyle>
          <a:p>
            <a:fld id="{20E2E5DB-49C6-7B4E-BA05-F353AC5A96E1}" type="datetimeFigureOut">
              <a:rPr kumimoji="1" lang="ja-JP" altLang="en-US" smtClean="0"/>
              <a:t>2026/3/11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82550" y="741363"/>
            <a:ext cx="6577013" cy="37004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813" tIns="45407" rIns="90813" bIns="45407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74212" y="4689516"/>
            <a:ext cx="5393690" cy="4442699"/>
          </a:xfrm>
          <a:prstGeom prst="rect">
            <a:avLst/>
          </a:prstGeom>
        </p:spPr>
        <p:txBody>
          <a:bodyPr vert="horz" lIns="90813" tIns="45407" rIns="90813" bIns="45407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2" y="9377317"/>
            <a:ext cx="2921582" cy="493634"/>
          </a:xfrm>
          <a:prstGeom prst="rect">
            <a:avLst/>
          </a:prstGeom>
        </p:spPr>
        <p:txBody>
          <a:bodyPr vert="horz" lIns="90813" tIns="45407" rIns="90813" bIns="45407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18972" y="9377317"/>
            <a:ext cx="2921582" cy="493634"/>
          </a:xfrm>
          <a:prstGeom prst="rect">
            <a:avLst/>
          </a:prstGeom>
        </p:spPr>
        <p:txBody>
          <a:bodyPr vert="horz" lIns="90813" tIns="45407" rIns="90813" bIns="45407" rtlCol="0" anchor="b"/>
          <a:lstStyle>
            <a:lvl1pPr algn="r">
              <a:defRPr sz="1200"/>
            </a:lvl1pPr>
          </a:lstStyle>
          <a:p>
            <a:fld id="{BA167B2C-D8A0-9442-92B1-D4EBC7AFF13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2075" y="744538"/>
            <a:ext cx="6615113" cy="3722687"/>
          </a:xfrm>
        </p:spPr>
      </p:sp>
      <p:sp>
        <p:nvSpPr>
          <p:cNvPr id="7171" name="ノート プレースホルダー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ja-JP" altLang="en-US" dirty="0">
              <a:latin typeface="Times New Roman" panose="02020603050405020304" charset="0"/>
            </a:endParaRPr>
          </a:p>
        </p:txBody>
      </p:sp>
      <p:sp>
        <p:nvSpPr>
          <p:cNvPr id="7172" name="スライド番号プレースホルダー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1400">
                <a:solidFill>
                  <a:schemeClr val="tx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defRPr>
            </a:lvl1pPr>
            <a:lvl2pPr marL="753745" indent="-290195">
              <a:defRPr kumimoji="1" sz="1400">
                <a:solidFill>
                  <a:schemeClr val="tx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defRPr>
            </a:lvl2pPr>
            <a:lvl3pPr marL="1159510" indent="-231775">
              <a:defRPr kumimoji="1" sz="1400">
                <a:solidFill>
                  <a:schemeClr val="tx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defRPr>
            </a:lvl3pPr>
            <a:lvl4pPr marL="1623695" indent="-231775">
              <a:defRPr kumimoji="1" sz="1400">
                <a:solidFill>
                  <a:schemeClr val="tx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defRPr>
            </a:lvl4pPr>
            <a:lvl5pPr marL="2087245" indent="-231775">
              <a:defRPr kumimoji="1" sz="1400">
                <a:solidFill>
                  <a:schemeClr val="tx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defRPr>
            </a:lvl5pPr>
            <a:lvl6pPr marL="2551430" indent="-231775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defRPr>
            </a:lvl6pPr>
            <a:lvl7pPr marL="3015615" indent="-231775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defRPr>
            </a:lvl7pPr>
            <a:lvl8pPr marL="3479165" indent="-231775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defRPr>
            </a:lvl8pPr>
            <a:lvl9pPr marL="3943350" indent="-231775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defRPr>
            </a:lvl9pPr>
          </a:lstStyle>
          <a:p>
            <a:fld id="{2C05C7DE-A5F5-4AF8-8060-DBD5FBF51483}" type="slidenum">
              <a:rPr lang="en-US" altLang="ja-JP" sz="1200">
                <a:latin typeface="Times New Roman" panose="02020603050405020304" charset="0"/>
                <a:ea typeface="ＭＳ Ｐゴシック" panose="020B0600070205080204" charset="-128"/>
              </a:rPr>
              <a:t>1</a:t>
            </a:fld>
            <a:endParaRPr lang="en-US" altLang="ja-JP" sz="1200" dirty="0">
              <a:latin typeface="Times New Roman" panose="02020603050405020304" charset="0"/>
              <a:ea typeface="ＭＳ Ｐゴシック" panose="020B060007020508020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82550" y="741363"/>
            <a:ext cx="6577013" cy="3700462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231615C-BA21-A344-B4F8-6650B8FE4BDA}" type="slidenum">
              <a:rPr lang="en-US" altLang="ja-JP" smtClean="0"/>
              <a:t>25</a:t>
            </a:fld>
            <a:endParaRPr lang="en-US" altLang="ja-JP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F15E4-2CDD-6047-9F8A-F392A4BC9A1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F15E4-2CDD-6047-9F8A-F392A4BC9A1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F15E4-2CDD-6047-9F8A-F392A4BC9A1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F15E4-2CDD-6047-9F8A-F392A4BC9A1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F15E4-2CDD-6047-9F8A-F392A4BC9A1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F15E4-2CDD-6047-9F8A-F392A4BC9A1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F15E4-2CDD-6047-9F8A-F392A4BC9A1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F15E4-2CDD-6047-9F8A-F392A4BC9A1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F15E4-2CDD-6047-9F8A-F392A4BC9A1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F15E4-2CDD-6047-9F8A-F392A4BC9A1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F15E4-2CDD-6047-9F8A-F392A4BC9A1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9"/>
          <p:cNvPicPr>
            <a:picLocks noChangeAspect="1" noChangeArrowheads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053" y="6524103"/>
            <a:ext cx="2078987" cy="2600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318805" y="347535"/>
            <a:ext cx="11569571" cy="4565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09600" y="1038225"/>
            <a:ext cx="10972800" cy="51435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9082287" y="6453137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ヒラギノ角ゴ Pro W3" pitchFamily="34" charset="-128"/>
                <a:ea typeface="ヒラギノ角ゴ Pro W3" pitchFamily="34" charset="-128"/>
              </a:defRPr>
            </a:lvl1pPr>
          </a:lstStyle>
          <a:p>
            <a:fld id="{0A2F15E4-2CDD-6047-9F8A-F392A4BC9A1F}" type="slidenum">
              <a:rPr lang="ja-JP" altLang="en-US" smtClean="0"/>
              <a:t>‹#›</a:t>
            </a:fld>
            <a:endParaRPr lang="ja-JP" altLang="en-US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0" y="1"/>
            <a:ext cx="12192000" cy="150813"/>
          </a:xfrm>
          <a:prstGeom prst="rect">
            <a:avLst/>
          </a:prstGeom>
          <a:solidFill>
            <a:srgbClr val="8EBE33"/>
          </a:solidFill>
          <a:ln>
            <a:noFill/>
          </a:ln>
        </p:spPr>
        <p:txBody>
          <a:bodyPr wrap="none" anchor="ctr"/>
          <a:lstStyle/>
          <a:p>
            <a:endParaRPr lang="ja-JP" altLang="en-US" sz="1800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0" y="184151"/>
            <a:ext cx="12192000" cy="42863"/>
          </a:xfrm>
          <a:prstGeom prst="rect">
            <a:avLst/>
          </a:prstGeom>
          <a:solidFill>
            <a:srgbClr val="8EBE33"/>
          </a:solidFill>
          <a:ln>
            <a:noFill/>
          </a:ln>
        </p:spPr>
        <p:txBody>
          <a:bodyPr wrap="none" anchor="ctr"/>
          <a:lstStyle/>
          <a:p>
            <a:endParaRPr lang="ja-JP" altLang="en-US" sz="1800"/>
          </a:p>
        </p:txBody>
      </p:sp>
      <p:sp>
        <p:nvSpPr>
          <p:cNvPr id="4" name="正方形/長方形 3"/>
          <p:cNvSpPr/>
          <p:nvPr/>
        </p:nvSpPr>
        <p:spPr>
          <a:xfrm>
            <a:off x="3067065" y="6535524"/>
            <a:ext cx="3219435" cy="184666"/>
          </a:xfrm>
          <a:prstGeom prst="rect">
            <a:avLst/>
          </a:prstGeom>
          <a:ln>
            <a:solidFill>
              <a:srgbClr val="FF6600"/>
            </a:solidFill>
          </a:ln>
        </p:spPr>
        <p:txBody>
          <a:bodyPr wrap="square" anchor="ctr" anchorCtr="0">
            <a:sp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ja-JP" sz="600" u="none" dirty="0">
                <a:solidFill>
                  <a:srgbClr val="FF66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ＭＳ Ｐゴシック" panose="020B0600070205080204" charset="-128"/>
              </a:rPr>
              <a:t>Confidential.</a:t>
            </a:r>
            <a:r>
              <a:rPr lang="ja-JP" altLang="en-US" sz="600" u="none" dirty="0">
                <a:solidFill>
                  <a:srgbClr val="FF66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ＭＳ Ｐゴシック" panose="020B0600070205080204" charset="-128"/>
              </a:rPr>
              <a:t> </a:t>
            </a:r>
            <a:r>
              <a:rPr lang="en-US" altLang="ja-JP" sz="600" u="none" dirty="0">
                <a:solidFill>
                  <a:srgbClr val="FF66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ＭＳ Ｐゴシック" panose="020B0600070205080204" charset="-128"/>
              </a:rPr>
              <a:t>2023</a:t>
            </a:r>
            <a:r>
              <a:rPr lang="ja-JP" altLang="en-US" sz="600" u="none" baseline="0" dirty="0">
                <a:solidFill>
                  <a:srgbClr val="FF66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ＭＳ Ｐゴシック" panose="020B0600070205080204" charset="-128"/>
              </a:rPr>
              <a:t> </a:t>
            </a:r>
            <a:r>
              <a:rPr lang="en-US" altLang="ja-JP" sz="600" u="none" dirty="0">
                <a:solidFill>
                  <a:srgbClr val="FF66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ＭＳ Ｐゴシック" panose="020B0600070205080204" charset="-128"/>
              </a:rPr>
              <a:t>BRYCEN Co.,</a:t>
            </a:r>
            <a:r>
              <a:rPr lang="ja-JP" altLang="en-US" sz="600" u="none" dirty="0">
                <a:solidFill>
                  <a:srgbClr val="FF66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ＭＳ Ｐゴシック" panose="020B0600070205080204" charset="-128"/>
              </a:rPr>
              <a:t> </a:t>
            </a:r>
            <a:r>
              <a:rPr lang="en-US" altLang="ja-JP" sz="600" u="none" dirty="0">
                <a:solidFill>
                  <a:srgbClr val="FF66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ＭＳ Ｐゴシック" panose="020B0600070205080204" charset="-128"/>
              </a:rPr>
              <a:t>Ltd.  All Rights Reserved. </a:t>
            </a:r>
          </a:p>
        </p:txBody>
      </p:sp>
      <p:cxnSp>
        <p:nvCxnSpPr>
          <p:cNvPr id="8" name="直線コネクタ 7"/>
          <p:cNvCxnSpPr/>
          <p:nvPr/>
        </p:nvCxnSpPr>
        <p:spPr>
          <a:xfrm>
            <a:off x="0" y="6381750"/>
            <a:ext cx="12192000" cy="0"/>
          </a:xfrm>
          <a:prstGeom prst="line">
            <a:avLst/>
          </a:prstGeom>
          <a:ln w="19050">
            <a:solidFill>
              <a:srgbClr val="8EBE33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kumimoji="1" sz="2800" b="1" kern="1200">
          <a:solidFill>
            <a:schemeClr val="tx1">
              <a:lumMod val="65000"/>
              <a:lumOff val="35000"/>
            </a:schemeClr>
          </a:solidFill>
          <a:latin typeface="メイリオ" panose="020B0604030504040204" pitchFamily="50" charset="-128"/>
          <a:ea typeface="メイリオ" panose="020B0604030504040204" pitchFamily="50" charset="-128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kumimoji="1" sz="3200" kern="1200">
          <a:solidFill>
            <a:schemeClr val="tx1">
              <a:lumMod val="65000"/>
              <a:lumOff val="35000"/>
            </a:schemeClr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kumimoji="1" sz="2800" kern="1200">
          <a:solidFill>
            <a:schemeClr val="tx1">
              <a:lumMod val="65000"/>
              <a:lumOff val="35000"/>
            </a:schemeClr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kumimoji="1" sz="2400" kern="1200">
          <a:solidFill>
            <a:schemeClr val="tx1">
              <a:lumMod val="65000"/>
              <a:lumOff val="35000"/>
            </a:schemeClr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kumimoji="1" sz="2000" kern="1200">
          <a:solidFill>
            <a:schemeClr val="tx1">
              <a:lumMod val="65000"/>
              <a:lumOff val="35000"/>
            </a:schemeClr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kumimoji="1" sz="2000" kern="1200">
          <a:solidFill>
            <a:schemeClr val="tx1">
              <a:lumMod val="65000"/>
              <a:lumOff val="35000"/>
            </a:schemeClr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web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角丸四角形 31"/>
          <p:cNvSpPr>
            <a:spLocks noChangeArrowheads="1"/>
          </p:cNvSpPr>
          <p:nvPr/>
        </p:nvSpPr>
        <p:spPr bwMode="auto">
          <a:xfrm>
            <a:off x="263524" y="429643"/>
            <a:ext cx="11808111" cy="5618495"/>
          </a:xfrm>
          <a:prstGeom prst="roundRect">
            <a:avLst>
              <a:gd name="adj" fmla="val 2222"/>
            </a:avLst>
          </a:prstGeom>
          <a:solidFill>
            <a:srgbClr val="92D050">
              <a:alpha val="69803"/>
            </a:srgbClr>
          </a:solidFill>
          <a:ln>
            <a:noFill/>
          </a:ln>
        </p:spPr>
        <p:txBody>
          <a:bodyPr anchor="ctr"/>
          <a:lstStyle>
            <a:defPPr>
              <a:defRPr lang="ja-JP"/>
            </a:defPPr>
            <a:lvl1pPr marL="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50000"/>
              </a:spcBef>
              <a:buNone/>
              <a:defRPr/>
            </a:pPr>
            <a:endParaRPr lang="ja-JP" altLang="en-US" sz="450" kern="0" dirty="0">
              <a:solidFill>
                <a:prstClr val="black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2" name="図 1"/>
          <p:cNvPicPr>
            <a:picLocks noChangeAspect="1"/>
          </p:cNvPicPr>
          <p:nvPr/>
        </p:nvPicPr>
        <p:blipFill>
          <a:blip r:embed="rId3" cstate="email"/>
          <a:stretch>
            <a:fillRect/>
          </a:stretch>
        </p:blipFill>
        <p:spPr>
          <a:xfrm>
            <a:off x="10488488" y="429643"/>
            <a:ext cx="1583148" cy="648072"/>
          </a:xfrm>
          <a:prstGeom prst="rect">
            <a:avLst/>
          </a:prstGeom>
        </p:spPr>
      </p:pic>
      <p:sp>
        <p:nvSpPr>
          <p:cNvPr id="7" name="タイトル 1"/>
          <p:cNvSpPr txBox="1"/>
          <p:nvPr/>
        </p:nvSpPr>
        <p:spPr>
          <a:xfrm>
            <a:off x="3959389" y="5559487"/>
            <a:ext cx="4273222" cy="677825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+mj-lt"/>
                <a:ea typeface="+mj-ea"/>
                <a:cs typeface="ＭＳ Ｐゴシック" panose="020B0600070205080204" charset="-128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Times New Roman" panose="02020603050405020304" charset="0"/>
                <a:ea typeface="ＭＳ Ｐゴシック" panose="020B0600070205080204" charset="-128"/>
                <a:cs typeface="ＭＳ Ｐゴシック" panose="020B0600070205080204" charset="-128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Times New Roman" panose="02020603050405020304" charset="0"/>
                <a:ea typeface="ＭＳ Ｐゴシック" panose="020B0600070205080204" charset="-128"/>
                <a:cs typeface="ＭＳ Ｐゴシック" panose="020B0600070205080204" charset="-128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Times New Roman" panose="02020603050405020304" charset="0"/>
                <a:ea typeface="ＭＳ Ｐゴシック" panose="020B0600070205080204" charset="-128"/>
                <a:cs typeface="ＭＳ Ｐゴシック" panose="020B0600070205080204" charset="-128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Times New Roman" panose="02020603050405020304" charset="0"/>
                <a:ea typeface="ＭＳ Ｐゴシック" panose="020B0600070205080204" charset="-128"/>
                <a:cs typeface="ＭＳ Ｐゴシック" panose="020B0600070205080204" charset="-128"/>
              </a:defRPr>
            </a:lvl5pPr>
            <a:lvl6pPr marL="4572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Times New Roman" panose="02020603050405020304" charset="0"/>
                <a:ea typeface="ＭＳ Ｐゴシック" panose="020B0600070205080204" charset="-128"/>
              </a:defRPr>
            </a:lvl6pPr>
            <a:lvl7pPr marL="9144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Times New Roman" panose="02020603050405020304" charset="0"/>
                <a:ea typeface="ＭＳ Ｐゴシック" panose="020B0600070205080204" charset="-128"/>
              </a:defRPr>
            </a:lvl7pPr>
            <a:lvl8pPr marL="13716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Times New Roman" panose="02020603050405020304" charset="0"/>
                <a:ea typeface="ＭＳ Ｐゴシック" panose="020B0600070205080204" charset="-128"/>
              </a:defRPr>
            </a:lvl8pPr>
            <a:lvl9pPr marL="18288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Times New Roman" panose="02020603050405020304" charset="0"/>
                <a:ea typeface="ＭＳ Ｐゴシック" panose="020B0600070205080204" charset="-128"/>
              </a:defRPr>
            </a:lvl9pPr>
          </a:lstStyle>
          <a:p>
            <a:endParaRPr lang="en-US" altLang="ja-JP" sz="2400" b="1" i="1" kern="0" dirty="0" smtClean="0">
              <a:solidFill>
                <a:srgbClr val="92D05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" name="タイトル 1"/>
          <p:cNvSpPr txBox="1"/>
          <p:nvPr/>
        </p:nvSpPr>
        <p:spPr>
          <a:xfrm>
            <a:off x="9048328" y="6048138"/>
            <a:ext cx="2880320" cy="33335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+mj-lt"/>
                <a:ea typeface="+mj-ea"/>
                <a:cs typeface="ＭＳ Ｐゴシック" panose="020B0600070205080204" charset="-128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Times New Roman" panose="02020603050405020304" charset="0"/>
                <a:ea typeface="ＭＳ Ｐゴシック" panose="020B0600070205080204" charset="-128"/>
                <a:cs typeface="ＭＳ Ｐゴシック" panose="020B0600070205080204" charset="-128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Times New Roman" panose="02020603050405020304" charset="0"/>
                <a:ea typeface="ＭＳ Ｐゴシック" panose="020B0600070205080204" charset="-128"/>
                <a:cs typeface="ＭＳ Ｐゴシック" panose="020B0600070205080204" charset="-128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Times New Roman" panose="02020603050405020304" charset="0"/>
                <a:ea typeface="ＭＳ Ｐゴシック" panose="020B0600070205080204" charset="-128"/>
                <a:cs typeface="ＭＳ Ｐゴシック" panose="020B0600070205080204" charset="-128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Times New Roman" panose="02020603050405020304" charset="0"/>
                <a:ea typeface="ＭＳ Ｐゴシック" panose="020B0600070205080204" charset="-128"/>
                <a:cs typeface="ＭＳ Ｐゴシック" panose="020B0600070205080204" charset="-128"/>
              </a:defRPr>
            </a:lvl5pPr>
            <a:lvl6pPr marL="4572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Times New Roman" panose="02020603050405020304" charset="0"/>
                <a:ea typeface="ＭＳ Ｐゴシック" panose="020B0600070205080204" charset="-128"/>
              </a:defRPr>
            </a:lvl6pPr>
            <a:lvl7pPr marL="9144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Times New Roman" panose="02020603050405020304" charset="0"/>
                <a:ea typeface="ＭＳ Ｐゴシック" panose="020B0600070205080204" charset="-128"/>
              </a:defRPr>
            </a:lvl7pPr>
            <a:lvl8pPr marL="13716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Times New Roman" panose="02020603050405020304" charset="0"/>
                <a:ea typeface="ＭＳ Ｐゴシック" panose="020B0600070205080204" charset="-128"/>
              </a:defRPr>
            </a:lvl8pPr>
            <a:lvl9pPr marL="18288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Times New Roman" panose="02020603050405020304" charset="0"/>
                <a:ea typeface="ＭＳ Ｐゴシック" panose="020B0600070205080204" charset="-128"/>
              </a:defRPr>
            </a:lvl9pPr>
          </a:lstStyle>
          <a:p>
            <a:pPr algn="r"/>
            <a:endParaRPr lang="ja-JP" altLang="en-US" sz="2400" b="1" i="1" kern="0" dirty="0">
              <a:solidFill>
                <a:srgbClr val="92D05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18499" y="3535084"/>
            <a:ext cx="6580802" cy="15684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ja-JP" altLang="en-US" sz="4800" b="1" i="1" kern="0" dirty="0" smtClean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振</a:t>
            </a:r>
            <a:r>
              <a:rPr lang="ja-JP" altLang="en-US" sz="4800" b="1" i="1" kern="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り返りご報</a:t>
            </a:r>
            <a:r>
              <a:rPr lang="ja-JP" altLang="en-US" sz="4800" b="1" i="1" kern="0" dirty="0" smtClean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告</a:t>
            </a:r>
            <a:endParaRPr lang="en-US" altLang="ja-JP" sz="4800" b="1" i="1" kern="0" dirty="0" smtClean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4800" b="1" dirty="0" smtClean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2026</a:t>
            </a:r>
            <a:r>
              <a:rPr lang="ja-JP" altLang="en-US" sz="4800" b="1" dirty="0" smtClean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r>
              <a:rPr lang="en-US" altLang="ja-JP" sz="4800" b="1" dirty="0" smtClean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03</a:t>
            </a:r>
            <a:r>
              <a:rPr lang="ja-JP" altLang="en-US" sz="4800" b="1" dirty="0" smtClean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月</a:t>
            </a:r>
            <a:r>
              <a:rPr lang="en-US" altLang="ja-JP" sz="48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10</a:t>
            </a:r>
            <a:r>
              <a:rPr lang="ja-JP" altLang="en-US" sz="4800" b="1" dirty="0" smtClean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日</a:t>
            </a:r>
            <a:endParaRPr lang="ja-JP" altLang="en-US" sz="4800" b="1" i="1" kern="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103333" y="1960311"/>
            <a:ext cx="1497330" cy="6451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1" cap="none" spc="0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(WMS)</a:t>
            </a:r>
            <a:endParaRPr lang="en-US" sz="36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16594" y="1305063"/>
            <a:ext cx="4758462" cy="10147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ja-JP" sz="60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ANAC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8288" y="429642"/>
            <a:ext cx="4140200" cy="56184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F15E4-2CDD-6047-9F8A-F392A4BC9A1F}" type="slidenum">
              <a:rPr kumimoji="1" lang="ja-JP" altLang="en-US" smtClean="0">
                <a:latin typeface="Meiryo UI" panose="020B0604030504040204" pitchFamily="50" charset="-128"/>
                <a:ea typeface="Meiryo UI" panose="020B0604030504040204" pitchFamily="50" charset="-128"/>
              </a:rPr>
              <a:t>2</a:t>
            </a:fld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正方形/長方形 5"/>
          <p:cNvSpPr/>
          <p:nvPr/>
        </p:nvSpPr>
        <p:spPr>
          <a:xfrm>
            <a:off x="254000" y="275936"/>
            <a:ext cx="11938000" cy="601640"/>
          </a:xfrm>
          <a:prstGeom prst="rect">
            <a:avLst/>
          </a:prstGeom>
          <a:gradFill flip="none" rotWithShape="1">
            <a:gsLst>
              <a:gs pos="22000">
                <a:srgbClr val="82C651"/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l"/>
            <a:endParaRPr lang="ja-JP" altLang="en-US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タイトル 3"/>
          <p:cNvSpPr>
            <a:spLocks noGrp="1"/>
          </p:cNvSpPr>
          <p:nvPr>
            <p:ph type="title"/>
          </p:nvPr>
        </p:nvSpPr>
        <p:spPr>
          <a:xfrm>
            <a:off x="254001" y="276225"/>
            <a:ext cx="10414000" cy="609600"/>
          </a:xfrm>
        </p:spPr>
        <p:txBody>
          <a:bodyPr vert="horz" lIns="91440" tIns="180000" rIns="91440" bIns="45720" rtlCol="0" anchor="ctr">
            <a:noAutofit/>
          </a:bodyPr>
          <a:lstStyle/>
          <a:p>
            <a:r>
              <a:rPr lang="ja-JP" altLang="en-US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rPr>
              <a:t>システ</a:t>
            </a:r>
            <a:r>
              <a:rPr lang="ja-JP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rPr>
              <a:t>ム</a:t>
            </a:r>
            <a:r>
              <a:rPr lang="ja-JP" altLang="en-US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rPr>
              <a:t>概要</a:t>
            </a:r>
            <a:endParaRPr lang="en-US" altLang="ja-JP" dirty="0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eiryo UI" panose="020B0604030504040204" pitchFamily="50" charset="-128"/>
              <a:ea typeface="Meiryo UI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14" name="コンテンツ プレースホルダー 1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ja-JP" altLang="en-US" sz="2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■</a:t>
            </a:r>
            <a:r>
              <a:rPr lang="ja-JP" altLang="en-US" sz="2000" b="1" dirty="0" smtClean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背景</a:t>
            </a:r>
            <a:endParaRPr lang="en-US" altLang="ja-JP" sz="2400" dirty="0" smtClean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spcBef>
                <a:spcPts val="600"/>
              </a:spcBef>
            </a:pPr>
            <a:r>
              <a:rPr lang="ja-JP" alt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現</a:t>
            </a:r>
            <a:r>
              <a:rPr lang="ja-JP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行システム</a:t>
            </a:r>
            <a:r>
              <a:rPr lang="en-US" altLang="ja-JP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(PSY)</a:t>
            </a:r>
            <a:r>
              <a:rPr lang="ja-JP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に在庫管理機能を有しているが、</a:t>
            </a:r>
            <a:r>
              <a:rPr lang="ja-JP" altLang="en-US" sz="2000" b="1" dirty="0">
                <a:solidFill>
                  <a:schemeClr val="tx2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入力負荷が高く</a:t>
            </a:r>
            <a:r>
              <a:rPr lang="ja-JP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、</a:t>
            </a:r>
            <a:endParaRPr lang="en-US" altLang="ja-JP" sz="1800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ja-JP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利用している機能は入荷・棚卸のみで、</a:t>
            </a:r>
            <a:r>
              <a:rPr lang="ja-JP" altLang="en-US" sz="2000" b="1" dirty="0">
                <a:solidFill>
                  <a:schemeClr val="tx2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システムで在庫管理していない</a:t>
            </a:r>
            <a:r>
              <a:rPr lang="en-US" altLang="ja-JP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</a:t>
            </a:r>
            <a:r>
              <a:rPr lang="ja-JP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出来ていない</a:t>
            </a:r>
            <a:r>
              <a:rPr lang="en-US" altLang="ja-JP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r>
              <a:rPr lang="ja-JP" alt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。</a:t>
            </a:r>
            <a:endParaRPr lang="en-US" altLang="ja-JP" sz="1800" dirty="0" smtClean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 fontAlgn="base">
              <a:buNone/>
            </a:pPr>
            <a:r>
              <a:rPr lang="ja-JP" altLang="en-US" sz="20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■</a:t>
            </a:r>
            <a:r>
              <a:rPr lang="ja-JP" altLang="en-US" sz="2400" b="1" dirty="0" smtClean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姿プロジェクトの目的</a:t>
            </a:r>
            <a:endParaRPr lang="en-US" sz="2200" dirty="0"/>
          </a:p>
          <a:p>
            <a:pPr fontAlgn="base"/>
            <a:r>
              <a:rPr lang="ja-JP" altLang="en-US" sz="1900" dirty="0"/>
              <a:t>ブライセンが保有する基幹システム（基幹船）と倉庫管理システム（</a:t>
            </a:r>
            <a:r>
              <a:rPr lang="en-US" altLang="ja-JP" sz="1900" dirty="0" err="1"/>
              <a:t>COOOLa</a:t>
            </a:r>
            <a:r>
              <a:rPr lang="ja-JP" altLang="en-US" sz="1900" dirty="0"/>
              <a:t>）をカスタマイズし、予算内でシステムを刷新する。</a:t>
            </a:r>
            <a:r>
              <a:rPr lang="en-US" sz="1900" dirty="0"/>
              <a:t>​</a:t>
            </a:r>
          </a:p>
          <a:p>
            <a:pPr fontAlgn="base"/>
            <a:r>
              <a:rPr lang="ja-JP" altLang="en-US" sz="1900" dirty="0"/>
              <a:t>既存システムの焼き直しではなく、現在の業務にフィットしたシステム構築を目的とする</a:t>
            </a:r>
            <a:r>
              <a:rPr lang="ja-JP" altLang="en-US" sz="1900" dirty="0" smtClean="0"/>
              <a:t>。</a:t>
            </a:r>
            <a:endParaRPr lang="en-US" altLang="ja-JP" sz="1800" dirty="0" smtClean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ja-JP" altLang="en-US" sz="2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■</a:t>
            </a:r>
            <a:r>
              <a:rPr lang="ja-JP" altLang="en-US" sz="2000" b="1" dirty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システム刷新における主要施策と目指す</a:t>
            </a:r>
            <a:r>
              <a:rPr lang="ja-JP" altLang="en-US" sz="2000" b="1" dirty="0" smtClean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姿</a:t>
            </a:r>
            <a:endParaRPr lang="en-US" altLang="ja-JP" sz="2400" dirty="0" smtClean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285750" indent="-285750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ja-JP" altLang="en-US" sz="1800" b="1" dirty="0" smtClean="0">
                <a:solidFill>
                  <a:schemeClr val="tx2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現</a:t>
            </a:r>
            <a:r>
              <a:rPr lang="ja-JP" altLang="en-US" sz="1800" b="1" dirty="0">
                <a:solidFill>
                  <a:schemeClr val="tx2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品ラベルの導入</a:t>
            </a:r>
            <a:endParaRPr lang="en-US" altLang="ja-JP" sz="1800" b="1" dirty="0">
              <a:solidFill>
                <a:schemeClr val="tx2">
                  <a:lumMod val="7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285750" indent="-285750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ja-JP" altLang="en-US" sz="1800" b="1" dirty="0" smtClean="0">
                <a:solidFill>
                  <a:schemeClr val="tx2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在</a:t>
            </a:r>
            <a:r>
              <a:rPr lang="ja-JP" altLang="en-US" sz="1800" b="1" dirty="0">
                <a:solidFill>
                  <a:schemeClr val="tx2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庫の見える化・消費期限管理の強化</a:t>
            </a:r>
            <a:endParaRPr lang="en-US" altLang="ja-JP" sz="1800" b="1" dirty="0">
              <a:solidFill>
                <a:schemeClr val="tx2">
                  <a:lumMod val="7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spcBef>
                <a:spcPts val="0"/>
              </a:spcBef>
            </a:pPr>
            <a:endParaRPr lang="en-US" altLang="ja-JP" sz="800" dirty="0">
              <a:solidFill>
                <a:schemeClr val="accent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285750" indent="-285750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ja-JP" altLang="en-US" sz="1800" b="1" dirty="0">
                <a:solidFill>
                  <a:schemeClr val="tx2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出庫業務におけるシステム機能再構</a:t>
            </a:r>
            <a:r>
              <a:rPr lang="ja-JP" altLang="en-US" sz="1800" b="1" dirty="0" smtClean="0">
                <a:solidFill>
                  <a:schemeClr val="tx2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築</a:t>
            </a:r>
            <a:endParaRPr lang="ja-JP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spcBef>
                <a:spcPts val="0"/>
              </a:spcBef>
            </a:pPr>
            <a:endParaRPr lang="en-US" altLang="ja-JP" sz="800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285750" indent="-285750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ja-JP" altLang="en-US" sz="1800" b="1" dirty="0">
                <a:solidFill>
                  <a:schemeClr val="tx2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回転在庫の日次棚卸実</a:t>
            </a:r>
            <a:r>
              <a:rPr lang="ja-JP" altLang="en-US" sz="1800" b="1" dirty="0" smtClean="0">
                <a:solidFill>
                  <a:schemeClr val="tx2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施</a:t>
            </a:r>
            <a:r>
              <a:rPr lang="ja-JP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　</a:t>
            </a:r>
            <a:endParaRPr lang="en-US" altLang="ja-JP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spcBef>
                <a:spcPts val="0"/>
              </a:spcBef>
              <a:buNone/>
            </a:pPr>
            <a:endParaRPr lang="en-US" altLang="ja-JP" sz="2000" dirty="0" smtClean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ja-JP" altLang="en-US" sz="20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■</a:t>
            </a:r>
            <a:r>
              <a:rPr lang="ja-JP" altLang="en-US" sz="2000" b="1" dirty="0" smtClean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振返の分析内容</a:t>
            </a:r>
            <a:endParaRPr lang="en-US" altLang="ja-JP" sz="2000" b="1" dirty="0" smtClean="0">
              <a:solidFill>
                <a:schemeClr val="tx2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ja-JP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・開発工数と確認事項</a:t>
            </a:r>
            <a:r>
              <a:rPr lang="ja-JP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に関す</a:t>
            </a:r>
            <a:r>
              <a:rPr lang="ja-JP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る</a:t>
            </a:r>
            <a:r>
              <a:rPr lang="ja-JP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分</a:t>
            </a:r>
            <a:r>
              <a:rPr lang="ja-JP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析</a:t>
            </a:r>
            <a:r>
              <a:rPr lang="ja-JP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する見込み</a:t>
            </a:r>
            <a:endParaRPr lang="en-US" altLang="ja-JP" sz="2000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角丸四角形 31"/>
          <p:cNvSpPr>
            <a:spLocks noChangeArrowheads="1"/>
          </p:cNvSpPr>
          <p:nvPr/>
        </p:nvSpPr>
        <p:spPr bwMode="auto">
          <a:xfrm>
            <a:off x="263525" y="942644"/>
            <a:ext cx="10739092" cy="4683819"/>
          </a:xfrm>
          <a:prstGeom prst="roundRect">
            <a:avLst>
              <a:gd name="adj" fmla="val 2222"/>
            </a:avLst>
          </a:prstGeom>
          <a:solidFill>
            <a:srgbClr val="92D050">
              <a:alpha val="69803"/>
            </a:srgbClr>
          </a:solidFill>
          <a:ln>
            <a:noFill/>
          </a:ln>
        </p:spPr>
        <p:txBody>
          <a:bodyPr anchor="ctr"/>
          <a:lstStyle>
            <a:defPPr>
              <a:defRPr lang="ja-JP"/>
            </a:defPPr>
            <a:lvl1pPr marL="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50000"/>
              </a:spcBef>
              <a:buNone/>
              <a:defRPr/>
            </a:pPr>
            <a:endParaRPr lang="ja-JP" altLang="en-US" sz="450" kern="0" dirty="0">
              <a:solidFill>
                <a:prstClr val="black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F15E4-2CDD-6047-9F8A-F392A4BC9A1F}" type="slidenum">
              <a:rPr kumimoji="1" lang="ja-JP" altLang="en-US" smtClean="0">
                <a:latin typeface="Meiryo UI" panose="020B0604030504040204" pitchFamily="50" charset="-128"/>
                <a:ea typeface="Meiryo UI" panose="020B0604030504040204" pitchFamily="50" charset="-128"/>
              </a:rPr>
              <a:t>3</a:t>
            </a:fld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正方形/長方形 5"/>
          <p:cNvSpPr/>
          <p:nvPr/>
        </p:nvSpPr>
        <p:spPr>
          <a:xfrm>
            <a:off x="263525" y="275936"/>
            <a:ext cx="11938000" cy="601640"/>
          </a:xfrm>
          <a:prstGeom prst="rect">
            <a:avLst/>
          </a:prstGeom>
          <a:gradFill flip="none" rotWithShape="1">
            <a:gsLst>
              <a:gs pos="22000">
                <a:srgbClr val="82C651"/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l"/>
            <a:endParaRPr lang="ja-JP" altLang="en-US" sz="120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タイトル 3"/>
          <p:cNvSpPr>
            <a:spLocks noGrp="1"/>
          </p:cNvSpPr>
          <p:nvPr>
            <p:ph type="title"/>
          </p:nvPr>
        </p:nvSpPr>
        <p:spPr>
          <a:xfrm>
            <a:off x="254001" y="276225"/>
            <a:ext cx="10414000" cy="609600"/>
          </a:xfrm>
        </p:spPr>
        <p:txBody>
          <a:bodyPr vert="horz" lIns="91440" tIns="180000" rIns="91440" bIns="45720" rtlCol="0" anchor="ctr">
            <a:noAutofit/>
          </a:bodyPr>
          <a:lstStyle/>
          <a:p>
            <a:r>
              <a:rPr lang="ja-JP" altLang="en-US" dirty="0"/>
              <a:t>プロジェクト体制／役割</a:t>
            </a:r>
            <a:r>
              <a:rPr lang="ja-JP" altLang="en-US" b="0" dirty="0"/>
              <a:t>​</a:t>
            </a:r>
            <a:endParaRPr lang="en-US" altLang="ja-JP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メイリオ" panose="020B0604030504040204" pitchFamily="50" charset="-128"/>
            </a:endParaRPr>
          </a:p>
        </p:txBody>
      </p:sp>
      <p:sp>
        <p:nvSpPr>
          <p:cNvPr id="212" name="AutoShape 4" descr="MITANI.WORK | 三谷商事株式会社 iビジネス推進部"/>
          <p:cNvSpPr>
            <a:spLocks noChangeAspect="1" noChangeArrowheads="1"/>
          </p:cNvSpPr>
          <p:nvPr/>
        </p:nvSpPr>
        <p:spPr bwMode="auto">
          <a:xfrm>
            <a:off x="116681" y="479822"/>
            <a:ext cx="2886075" cy="785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ja-JP" altLang="en-US" sz="1200" dirty="0"/>
          </a:p>
        </p:txBody>
      </p:sp>
      <p:sp>
        <p:nvSpPr>
          <p:cNvPr id="13" name="タイトル 1"/>
          <p:cNvSpPr txBox="1"/>
          <p:nvPr/>
        </p:nvSpPr>
        <p:spPr>
          <a:xfrm>
            <a:off x="1315642" y="4035325"/>
            <a:ext cx="486011" cy="176445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defPPr>
              <a:defRPr lang="ja-JP"/>
            </a:defPPr>
            <a:lvl1pPr marL="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ja-JP" altLang="en-US" sz="12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4" name="AutoShape 4" descr="MITANI.WORK | 三谷商事株式会社 iビジネス推進部"/>
          <p:cNvSpPr>
            <a:spLocks noChangeAspect="1" noChangeArrowheads="1"/>
          </p:cNvSpPr>
          <p:nvPr/>
        </p:nvSpPr>
        <p:spPr bwMode="auto">
          <a:xfrm>
            <a:off x="58341" y="361723"/>
            <a:ext cx="2886075" cy="785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/>
          <a:lstStyle>
            <a:defPPr>
              <a:defRPr lang="ja-JP"/>
            </a:defPPr>
            <a:lvl1pPr marL="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ja-JP" altLang="en-US" sz="1200" dirty="0"/>
          </a:p>
        </p:txBody>
      </p:sp>
      <p:sp>
        <p:nvSpPr>
          <p:cNvPr id="20" name="タイトル 1"/>
          <p:cNvSpPr txBox="1"/>
          <p:nvPr/>
        </p:nvSpPr>
        <p:spPr>
          <a:xfrm>
            <a:off x="5996787" y="5207624"/>
            <a:ext cx="913831" cy="273404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defPPr>
              <a:defRPr lang="ja-JP"/>
            </a:defPPr>
            <a:lvl1pPr marL="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1200" dirty="0" smtClean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HHT</a:t>
            </a:r>
            <a:endParaRPr lang="en-US" altLang="ja-JP" sz="12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2" name="正方形/長方形 205"/>
          <p:cNvSpPr/>
          <p:nvPr/>
        </p:nvSpPr>
        <p:spPr>
          <a:xfrm flipV="1">
            <a:off x="699135" y="2428240"/>
            <a:ext cx="9766935" cy="3028315"/>
          </a:xfrm>
          <a:prstGeom prst="rect">
            <a:avLst/>
          </a:prstGeom>
          <a:solidFill>
            <a:schemeClr val="accent6">
              <a:lumMod val="10000"/>
              <a:lumOff val="90000"/>
            </a:schemeClr>
          </a:solidFill>
          <a:ln w="19050">
            <a:noFill/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ja-JP"/>
            </a:defPPr>
            <a:lvl1pPr marL="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ja-JP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24" name="角丸四角形 138"/>
          <p:cNvSpPr/>
          <p:nvPr/>
        </p:nvSpPr>
        <p:spPr>
          <a:xfrm>
            <a:off x="4984989" y="3304481"/>
            <a:ext cx="1596471" cy="355714"/>
          </a:xfrm>
          <a:prstGeom prst="roundRect">
            <a:avLst/>
          </a:prstGeom>
          <a:solidFill>
            <a:schemeClr val="accent4">
              <a:lumMod val="75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rIns="0" rtlCol="0" anchor="ctr"/>
          <a:lstStyle>
            <a:defPPr>
              <a:defRPr lang="ja-JP"/>
            </a:defPPr>
            <a:lvl1pPr marL="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450"/>
              </a:spcBef>
            </a:pPr>
            <a:r>
              <a:rPr lang="en-US" altLang="ja-JP" sz="1200" b="1" dirty="0" err="1" smtClean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Anh</a:t>
            </a:r>
            <a:endParaRPr lang="en-US" altLang="ja-JP" sz="12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30" name="角丸四角形 148"/>
          <p:cNvSpPr/>
          <p:nvPr/>
        </p:nvSpPr>
        <p:spPr>
          <a:xfrm>
            <a:off x="1758045" y="4919032"/>
            <a:ext cx="720000" cy="360000"/>
          </a:xfrm>
          <a:prstGeom prst="roundRect">
            <a:avLst/>
          </a:prstGeom>
          <a:solidFill>
            <a:srgbClr val="00B0F0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rIns="0" rtlCol="0" anchor="ctr"/>
          <a:lstStyle>
            <a:defPPr>
              <a:defRPr lang="ja-JP"/>
            </a:defPPr>
            <a:lvl1pPr marL="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450"/>
              </a:spcBef>
            </a:pPr>
            <a:r>
              <a:rPr lang="en-US" altLang="ja-JP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Bửu</a:t>
            </a:r>
          </a:p>
        </p:txBody>
      </p:sp>
      <p:sp>
        <p:nvSpPr>
          <p:cNvPr id="31" name="角丸四角形 149"/>
          <p:cNvSpPr/>
          <p:nvPr/>
        </p:nvSpPr>
        <p:spPr>
          <a:xfrm>
            <a:off x="869258" y="4919032"/>
            <a:ext cx="720000" cy="360000"/>
          </a:xfrm>
          <a:prstGeom prst="roundRect">
            <a:avLst/>
          </a:prstGeom>
          <a:solidFill>
            <a:srgbClr val="00B0F0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rIns="0" rtlCol="0" anchor="ctr"/>
          <a:lstStyle>
            <a:defPPr>
              <a:defRPr lang="ja-JP"/>
            </a:defPPr>
            <a:lvl1pPr marL="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450"/>
              </a:spcBef>
            </a:pPr>
            <a:r>
              <a:rPr lang="en-US" altLang="ja-JP" sz="1200" b="1" dirty="0" smtClean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Lý</a:t>
            </a:r>
            <a:endParaRPr lang="en-US" altLang="ja-JP" sz="12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pic>
        <p:nvPicPr>
          <p:cNvPr id="40" name="図 2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605" y="2490064"/>
            <a:ext cx="402149" cy="264707"/>
          </a:xfrm>
          <a:prstGeom prst="rect">
            <a:avLst/>
          </a:prstGeom>
        </p:spPr>
      </p:pic>
      <p:grpSp>
        <p:nvGrpSpPr>
          <p:cNvPr id="2" name="Group 1"/>
          <p:cNvGrpSpPr/>
          <p:nvPr/>
        </p:nvGrpSpPr>
        <p:grpSpPr>
          <a:xfrm>
            <a:off x="699135" y="1009650"/>
            <a:ext cx="9726937" cy="1615440"/>
            <a:chOff x="1101" y="1639"/>
            <a:chExt cx="7617" cy="2544"/>
          </a:xfrm>
        </p:grpSpPr>
        <p:sp>
          <p:nvSpPr>
            <p:cNvPr id="15" name="正方形/長方形 131"/>
            <p:cNvSpPr/>
            <p:nvPr/>
          </p:nvSpPr>
          <p:spPr>
            <a:xfrm flipV="1">
              <a:off x="1101" y="1639"/>
              <a:ext cx="7617" cy="2137"/>
            </a:xfrm>
            <a:prstGeom prst="rect">
              <a:avLst/>
            </a:prstGeom>
            <a:solidFill>
              <a:schemeClr val="accent6">
                <a:lumMod val="10000"/>
                <a:lumOff val="90000"/>
              </a:schemeClr>
            </a:solidFill>
            <a:ln w="19050">
              <a:noFill/>
              <a:prstDash val="sys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defPPr>
                <a:defRPr lang="ja-JP"/>
              </a:defPPr>
              <a:lvl1pPr marL="0" algn="l" defTabSz="457200" rtl="0" eaLnBrk="1" latinLnBrk="0" hangingPunct="1">
                <a:defRPr kumimoji="1"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kumimoji="1"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kumimoji="1"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kumimoji="1"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kumimoji="1"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kumimoji="1"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kumimoji="1"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kumimoji="1"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kumimoji="1"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ja-JP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endParaRPr>
            </a:p>
          </p:txBody>
        </p:sp>
        <p:cxnSp>
          <p:nvCxnSpPr>
            <p:cNvPr id="83" name="カギ線コネクタ 127"/>
            <p:cNvCxnSpPr>
              <a:stCxn id="100" idx="2"/>
              <a:endCxn id="63" idx="0"/>
            </p:cNvCxnSpPr>
            <p:nvPr/>
          </p:nvCxnSpPr>
          <p:spPr bwMode="auto">
            <a:xfrm rot="5400000" flipV="1">
              <a:off x="4785" y="3886"/>
              <a:ext cx="587" cy="7"/>
            </a:xfrm>
            <a:prstGeom prst="bentConnector3">
              <a:avLst>
                <a:gd name="adj1" fmla="val 50085"/>
              </a:avLst>
            </a:prstGeom>
            <a:noFill/>
            <a:ln w="57150" cap="flat" cmpd="sng" algn="ctr">
              <a:solidFill>
                <a:srgbClr val="F11B24"/>
              </a:solidFill>
              <a:prstDash val="solid"/>
              <a:round/>
              <a:headEnd type="none" w="med" len="med"/>
              <a:tailEnd type="triangle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cxnSp>
        <p:sp>
          <p:nvSpPr>
            <p:cNvPr id="100" name="角丸四角形 110"/>
            <p:cNvSpPr/>
            <p:nvPr/>
          </p:nvSpPr>
          <p:spPr>
            <a:xfrm>
              <a:off x="3598" y="3029"/>
              <a:ext cx="2954" cy="567"/>
            </a:xfrm>
            <a:prstGeom prst="roundRect">
              <a:avLst/>
            </a:prstGeom>
            <a:solidFill>
              <a:srgbClr val="00B050"/>
            </a:solidFill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lIns="0" rIns="0" rtlCol="0" anchor="ctr"/>
            <a:lstStyle>
              <a:defPPr>
                <a:defRPr lang="ja-JP"/>
              </a:defPPr>
              <a:lvl1pPr marL="0" algn="l" defTabSz="457200" rtl="0" eaLnBrk="1" latinLnBrk="0" hangingPunct="1">
                <a:defRPr kumimoji="1"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kumimoji="1"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kumimoji="1"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kumimoji="1"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kumimoji="1"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kumimoji="1"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kumimoji="1"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kumimoji="1"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kumimoji="1"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Bef>
                  <a:spcPts val="450"/>
                </a:spcBef>
              </a:pPr>
              <a:r>
                <a:rPr lang="ja-JP" altLang="en-US" i="1" dirty="0" smtClean="0">
                  <a:solidFill>
                    <a:schemeClr val="bg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江田隆志</a:t>
              </a:r>
              <a:endParaRPr lang="en-US" altLang="ja-JP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endParaRPr>
            </a:p>
          </p:txBody>
        </p:sp>
        <p:sp>
          <p:nvSpPr>
            <p:cNvPr id="158" name="角丸四角形 110"/>
            <p:cNvSpPr/>
            <p:nvPr/>
          </p:nvSpPr>
          <p:spPr>
            <a:xfrm>
              <a:off x="3306" y="1828"/>
              <a:ext cx="3539" cy="770"/>
            </a:xfrm>
            <a:prstGeom prst="roundRect">
              <a:avLst/>
            </a:prstGeom>
            <a:solidFill>
              <a:srgbClr val="00B050"/>
            </a:solidFill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lIns="0" rIns="0" rtlCol="0" anchor="ctr"/>
            <a:lstStyle>
              <a:defPPr>
                <a:defRPr lang="ja-JP"/>
              </a:defPPr>
              <a:lvl1pPr marL="0" algn="l" defTabSz="457200" rtl="0" eaLnBrk="1" latinLnBrk="0" hangingPunct="1">
                <a:defRPr kumimoji="1"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kumimoji="1"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kumimoji="1"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kumimoji="1"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kumimoji="1"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kumimoji="1"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kumimoji="1"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kumimoji="1"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kumimoji="1"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Bef>
                  <a:spcPts val="450"/>
                </a:spcBef>
              </a:pPr>
              <a:r>
                <a:rPr lang="en-US" altLang="ja-JP" sz="1200" b="1" dirty="0" smtClean="0">
                  <a:solidFill>
                    <a:schemeClr val="bg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メイリオ" panose="020B0604030504040204" pitchFamily="50" charset="-128"/>
                </a:rPr>
                <a:t>BRYCEN JP</a:t>
              </a:r>
              <a:endParaRPr lang="en-US" altLang="ja-JP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endParaRPr>
            </a:p>
          </p:txBody>
        </p:sp>
        <p:pic>
          <p:nvPicPr>
            <p:cNvPr id="101" name="図 190"/>
            <p:cNvPicPr>
              <a:picLocks noChangeAspect="1"/>
            </p:cNvPicPr>
            <p:nvPr/>
          </p:nvPicPr>
          <p:blipFill rotWithShape="1">
            <a:blip r:embed="rId3" cstate="email"/>
            <a:srcRect/>
            <a:stretch>
              <a:fillRect/>
            </a:stretch>
          </p:blipFill>
          <p:spPr>
            <a:xfrm>
              <a:off x="1234" y="1669"/>
              <a:ext cx="316" cy="483"/>
            </a:xfrm>
            <a:prstGeom prst="rect">
              <a:avLst/>
            </a:prstGeom>
          </p:spPr>
        </p:pic>
        <p:cxnSp>
          <p:nvCxnSpPr>
            <p:cNvPr id="130" name="Straight Arrow Connector 129"/>
            <p:cNvCxnSpPr>
              <a:stCxn id="158" idx="2"/>
              <a:endCxn id="100" idx="0"/>
            </p:cNvCxnSpPr>
            <p:nvPr/>
          </p:nvCxnSpPr>
          <p:spPr>
            <a:xfrm flipH="1">
              <a:off x="5075" y="2598"/>
              <a:ext cx="0" cy="431"/>
            </a:xfrm>
            <a:prstGeom prst="straightConnector1">
              <a:avLst/>
            </a:prstGeom>
            <a:ln>
              <a:headEnd type="none" w="med" len="med"/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32" name="Rectangle 131"/>
          <p:cNvSpPr/>
          <p:nvPr/>
        </p:nvSpPr>
        <p:spPr>
          <a:xfrm>
            <a:off x="795655" y="4745355"/>
            <a:ext cx="4458335" cy="650240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79" name="直線矢印コネクタ 126"/>
          <p:cNvCxnSpPr>
            <a:stCxn id="8" idx="2"/>
            <a:endCxn id="132" idx="0"/>
          </p:cNvCxnSpPr>
          <p:nvPr/>
        </p:nvCxnSpPr>
        <p:spPr bwMode="auto">
          <a:xfrm flipH="1">
            <a:off x="3025420" y="4472995"/>
            <a:ext cx="8255" cy="272415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triangle"/>
          </a:ln>
          <a:effectLst/>
        </p:spPr>
      </p:cxnSp>
      <p:sp>
        <p:nvSpPr>
          <p:cNvPr id="63" name="角丸四角形 138"/>
          <p:cNvSpPr/>
          <p:nvPr/>
        </p:nvSpPr>
        <p:spPr>
          <a:xfrm>
            <a:off x="4985623" y="2624948"/>
            <a:ext cx="1596471" cy="355714"/>
          </a:xfrm>
          <a:prstGeom prst="roundRect">
            <a:avLst/>
          </a:prstGeom>
          <a:solidFill>
            <a:srgbClr val="0070C0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rIns="0" rtlCol="0" anchor="ctr"/>
          <a:lstStyle>
            <a:defPPr>
              <a:defRPr lang="ja-JP"/>
            </a:defPPr>
            <a:lvl1pPr marL="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ja-JP" sz="12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charset="0"/>
                <a:ea typeface="游ゴシック" panose="020B0400000000000000" charset="-128"/>
                <a:cs typeface="Times New Roman" panose="02020603050405020304" charset="0"/>
              </a:rPr>
              <a:t>Thuy</a:t>
            </a:r>
            <a:endParaRPr kumimoji="1" lang="en-US" altLang="ja-JP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charset="0"/>
              <a:ea typeface="游ゴシック" panose="020B0400000000000000" charset="-128"/>
              <a:cs typeface="Times New Roman" panose="02020603050405020304" charset="0"/>
            </a:endParaRPr>
          </a:p>
        </p:txBody>
      </p:sp>
      <p:cxnSp>
        <p:nvCxnSpPr>
          <p:cNvPr id="64" name="カギ線コネクタ 127"/>
          <p:cNvCxnSpPr>
            <a:stCxn id="63" idx="2"/>
            <a:endCxn id="24" idx="0"/>
          </p:cNvCxnSpPr>
          <p:nvPr/>
        </p:nvCxnSpPr>
        <p:spPr bwMode="auto">
          <a:xfrm rot="5400000">
            <a:off x="5621338" y="3142298"/>
            <a:ext cx="323850" cy="635"/>
          </a:xfrm>
          <a:prstGeom prst="bentConnector3">
            <a:avLst>
              <a:gd name="adj1" fmla="val 49902"/>
            </a:avLst>
          </a:prstGeom>
          <a:noFill/>
          <a:ln w="57150" cap="flat" cmpd="sng" algn="ctr">
            <a:solidFill>
              <a:srgbClr val="F11B24"/>
            </a:solidFill>
            <a:prstDash val="solid"/>
            <a:round/>
            <a:headEnd type="none" w="med" len="med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sp>
        <p:nvSpPr>
          <p:cNvPr id="70" name="角丸四角形 138"/>
          <p:cNvSpPr/>
          <p:nvPr/>
        </p:nvSpPr>
        <p:spPr>
          <a:xfrm>
            <a:off x="795655" y="3465195"/>
            <a:ext cx="1005840" cy="355600"/>
          </a:xfrm>
          <a:prstGeom prst="roundRect">
            <a:avLst/>
          </a:prstGeom>
          <a:solidFill>
            <a:schemeClr val="tx2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rIns="0" rtlCol="0" anchor="ctr"/>
          <a:lstStyle>
            <a:defPPr>
              <a:defRPr lang="ja-JP"/>
            </a:defPPr>
            <a:lvl1pPr marL="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ja-JP" sz="1200" b="1" dirty="0" smtClean="0">
                <a:solidFill>
                  <a:prstClr val="white"/>
                </a:solidFill>
                <a:latin typeface="Times New Roman" panose="02020603050405020304" charset="0"/>
                <a:ea typeface="游ゴシック" panose="020B0400000000000000" charset="-128"/>
                <a:cs typeface="Times New Roman" panose="02020603050405020304" charset="0"/>
              </a:rPr>
              <a:t>Minh(GL)</a:t>
            </a:r>
            <a:endParaRPr kumimoji="1" lang="en-US" altLang="ja-JP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charset="0"/>
              <a:ea typeface="游ゴシック" panose="020B0400000000000000" charset="-128"/>
              <a:cs typeface="Times New Roman" panose="02020603050405020304" charset="0"/>
            </a:endParaRPr>
          </a:p>
        </p:txBody>
      </p:sp>
      <p:sp>
        <p:nvSpPr>
          <p:cNvPr id="71" name="角丸四角形 138"/>
          <p:cNvSpPr/>
          <p:nvPr/>
        </p:nvSpPr>
        <p:spPr>
          <a:xfrm>
            <a:off x="795655" y="3023235"/>
            <a:ext cx="1005840" cy="355600"/>
          </a:xfrm>
          <a:prstGeom prst="roundRect">
            <a:avLst/>
          </a:prstGeom>
          <a:solidFill>
            <a:schemeClr val="tx2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rIns="0" rtlCol="0" anchor="ctr"/>
          <a:lstStyle>
            <a:defPPr>
              <a:defRPr lang="ja-JP"/>
            </a:defPPr>
            <a:lvl1pPr marL="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ja-JP" sz="12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charset="0"/>
                <a:ea typeface="游ゴシック" panose="020B0400000000000000" charset="-128"/>
                <a:cs typeface="Times New Roman" panose="02020603050405020304" charset="0"/>
              </a:rPr>
              <a:t>Hạnh</a:t>
            </a:r>
            <a:r>
              <a:rPr kumimoji="1" lang="en-US" altLang="ja-JP" sz="12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charset="0"/>
                <a:ea typeface="游ゴシック" panose="020B0400000000000000" charset="-128"/>
                <a:cs typeface="Times New Roman" panose="02020603050405020304" charset="0"/>
              </a:rPr>
              <a:t>(GL)</a:t>
            </a:r>
            <a:endParaRPr kumimoji="1" lang="en-US" altLang="ja-JP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charset="0"/>
              <a:ea typeface="游ゴシック" panose="020B0400000000000000" charset="-128"/>
              <a:cs typeface="Times New Roman" panose="02020603050405020304" charset="0"/>
            </a:endParaRPr>
          </a:p>
        </p:txBody>
      </p:sp>
      <p:cxnSp>
        <p:nvCxnSpPr>
          <p:cNvPr id="73" name="カギ線コネクタ 127"/>
          <p:cNvCxnSpPr>
            <a:stCxn id="70" idx="3"/>
            <a:endCxn id="24" idx="1"/>
          </p:cNvCxnSpPr>
          <p:nvPr/>
        </p:nvCxnSpPr>
        <p:spPr bwMode="auto">
          <a:xfrm flipV="1">
            <a:off x="1801495" y="3482340"/>
            <a:ext cx="3183255" cy="160655"/>
          </a:xfrm>
          <a:prstGeom prst="bentConnector3">
            <a:avLst>
              <a:gd name="adj1" fmla="val 50010"/>
            </a:avLst>
          </a:prstGeom>
          <a:noFill/>
          <a:ln w="57150" cap="flat" cmpd="sng" algn="ctr">
            <a:solidFill>
              <a:srgbClr val="F11B24"/>
            </a:solidFill>
            <a:prstDash val="solid"/>
            <a:round/>
            <a:headEnd type="none" w="med" len="med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cxnSp>
        <p:nvCxnSpPr>
          <p:cNvPr id="75" name="カギ線コネクタ 127"/>
          <p:cNvCxnSpPr>
            <a:stCxn id="71" idx="3"/>
            <a:endCxn id="24" idx="1"/>
          </p:cNvCxnSpPr>
          <p:nvPr/>
        </p:nvCxnSpPr>
        <p:spPr bwMode="auto">
          <a:xfrm>
            <a:off x="1801495" y="3201035"/>
            <a:ext cx="3183255" cy="281305"/>
          </a:xfrm>
          <a:prstGeom prst="bentConnector3">
            <a:avLst>
              <a:gd name="adj1" fmla="val 50010"/>
            </a:avLst>
          </a:prstGeom>
          <a:noFill/>
          <a:ln w="57150" cap="flat" cmpd="sng" algn="ctr">
            <a:solidFill>
              <a:srgbClr val="F11B24"/>
            </a:solidFill>
            <a:prstDash val="solid"/>
            <a:round/>
            <a:headEnd type="none" w="med" len="med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sp>
        <p:nvSpPr>
          <p:cNvPr id="3" name="角丸四角形 148"/>
          <p:cNvSpPr/>
          <p:nvPr/>
        </p:nvSpPr>
        <p:spPr>
          <a:xfrm>
            <a:off x="2646410" y="4916492"/>
            <a:ext cx="720000" cy="360000"/>
          </a:xfrm>
          <a:prstGeom prst="roundRect">
            <a:avLst/>
          </a:prstGeom>
          <a:solidFill>
            <a:srgbClr val="00B0F0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rIns="0" rtlCol="0" anchor="ctr"/>
          <a:lstStyle>
            <a:defPPr>
              <a:defRPr lang="ja-JP"/>
            </a:defPPr>
            <a:lvl1pPr marL="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450"/>
              </a:spcBef>
            </a:pPr>
            <a:r>
              <a:rPr lang="en-US" altLang="ja-JP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Dũng</a:t>
            </a:r>
          </a:p>
        </p:txBody>
      </p:sp>
      <p:sp>
        <p:nvSpPr>
          <p:cNvPr id="5" name="角丸四角形 148"/>
          <p:cNvSpPr/>
          <p:nvPr/>
        </p:nvSpPr>
        <p:spPr>
          <a:xfrm>
            <a:off x="3534775" y="4916492"/>
            <a:ext cx="720000" cy="360000"/>
          </a:xfrm>
          <a:prstGeom prst="roundRect">
            <a:avLst/>
          </a:prstGeom>
          <a:solidFill>
            <a:srgbClr val="00B0F0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rIns="0" rtlCol="0" anchor="ctr"/>
          <a:lstStyle>
            <a:defPPr>
              <a:defRPr lang="ja-JP"/>
            </a:defPPr>
            <a:lvl1pPr marL="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450"/>
              </a:spcBef>
            </a:pPr>
            <a:r>
              <a:rPr lang="en-US" altLang="ja-JP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Huy</a:t>
            </a:r>
          </a:p>
        </p:txBody>
      </p:sp>
      <p:sp>
        <p:nvSpPr>
          <p:cNvPr id="8" name="角丸四角形 138"/>
          <p:cNvSpPr/>
          <p:nvPr/>
        </p:nvSpPr>
        <p:spPr>
          <a:xfrm>
            <a:off x="2235439" y="4117281"/>
            <a:ext cx="1596471" cy="355714"/>
          </a:xfrm>
          <a:prstGeom prst="roundRect">
            <a:avLst/>
          </a:prstGeom>
          <a:solidFill>
            <a:schemeClr val="accent4">
              <a:lumMod val="75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rIns="0" rtlCol="0" anchor="ctr"/>
          <a:lstStyle>
            <a:defPPr>
              <a:defRPr lang="ja-JP"/>
            </a:defPPr>
            <a:lvl1pPr marL="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450"/>
              </a:spcBef>
            </a:pPr>
            <a:r>
              <a:rPr lang="en-US" altLang="ja-JP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Đức</a:t>
            </a:r>
          </a:p>
        </p:txBody>
      </p:sp>
      <p:sp>
        <p:nvSpPr>
          <p:cNvPr id="9" name="角丸四角形 148"/>
          <p:cNvSpPr/>
          <p:nvPr/>
        </p:nvSpPr>
        <p:spPr>
          <a:xfrm>
            <a:off x="4423140" y="4915857"/>
            <a:ext cx="720000" cy="360000"/>
          </a:xfrm>
          <a:prstGeom prst="roundRect">
            <a:avLst/>
          </a:prstGeom>
          <a:solidFill>
            <a:srgbClr val="00B0F0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rIns="0" rtlCol="0" anchor="ctr"/>
          <a:lstStyle>
            <a:defPPr>
              <a:defRPr lang="ja-JP"/>
            </a:defPPr>
            <a:lvl1pPr marL="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450"/>
              </a:spcBef>
            </a:pPr>
            <a:r>
              <a:rPr lang="en-US" altLang="ja-JP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Thơ</a:t>
            </a:r>
          </a:p>
        </p:txBody>
      </p:sp>
      <p:sp>
        <p:nvSpPr>
          <p:cNvPr id="19" name="角丸四角形 148"/>
          <p:cNvSpPr/>
          <p:nvPr/>
        </p:nvSpPr>
        <p:spPr>
          <a:xfrm>
            <a:off x="7007860" y="4892675"/>
            <a:ext cx="1032510" cy="360045"/>
          </a:xfrm>
          <a:prstGeom prst="roundRect">
            <a:avLst/>
          </a:prstGeom>
          <a:solidFill>
            <a:srgbClr val="00B0F0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rIns="0" rtlCol="0" anchor="ctr"/>
          <a:lstStyle>
            <a:defPPr>
              <a:defRPr lang="ja-JP"/>
            </a:defPPr>
            <a:lvl1pPr marL="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450"/>
              </a:spcBef>
            </a:pPr>
            <a:r>
              <a:rPr lang="en-US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a_sunaing</a:t>
            </a:r>
          </a:p>
        </p:txBody>
      </p:sp>
      <p:sp>
        <p:nvSpPr>
          <p:cNvPr id="21" name="角丸四角形 149"/>
          <p:cNvSpPr/>
          <p:nvPr/>
        </p:nvSpPr>
        <p:spPr>
          <a:xfrm>
            <a:off x="5860415" y="4893945"/>
            <a:ext cx="1019175" cy="360045"/>
          </a:xfrm>
          <a:prstGeom prst="roundRect">
            <a:avLst/>
          </a:prstGeom>
          <a:solidFill>
            <a:srgbClr val="00B0F0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rIns="0" rtlCol="0" anchor="ctr"/>
          <a:lstStyle>
            <a:defPPr>
              <a:defRPr lang="ja-JP"/>
            </a:defPPr>
            <a:lvl1pPr marL="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450"/>
              </a:spcBef>
            </a:pPr>
            <a:r>
              <a:rPr lang="en-US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s_leihmu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86755" y="4748530"/>
            <a:ext cx="4458335" cy="650240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角丸四角形 148"/>
          <p:cNvSpPr/>
          <p:nvPr/>
        </p:nvSpPr>
        <p:spPr>
          <a:xfrm>
            <a:off x="8168640" y="4893310"/>
            <a:ext cx="1007110" cy="360045"/>
          </a:xfrm>
          <a:prstGeom prst="roundRect">
            <a:avLst/>
          </a:prstGeom>
          <a:solidFill>
            <a:srgbClr val="00B0F0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rIns="0" rtlCol="0" anchor="ctr"/>
          <a:lstStyle>
            <a:defPPr>
              <a:defRPr lang="ja-JP"/>
            </a:defPPr>
            <a:lvl1pPr marL="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450"/>
              </a:spcBef>
            </a:pPr>
            <a:r>
              <a:rPr lang="en-US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h_htetko</a:t>
            </a:r>
          </a:p>
        </p:txBody>
      </p:sp>
      <p:sp>
        <p:nvSpPr>
          <p:cNvPr id="26" name="角丸四角形 148"/>
          <p:cNvSpPr/>
          <p:nvPr/>
        </p:nvSpPr>
        <p:spPr>
          <a:xfrm>
            <a:off x="9304020" y="4892675"/>
            <a:ext cx="821055" cy="360045"/>
          </a:xfrm>
          <a:prstGeom prst="roundRect">
            <a:avLst/>
          </a:prstGeom>
          <a:solidFill>
            <a:srgbClr val="00B0F0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rIns="0" rtlCol="0" anchor="ctr"/>
          <a:lstStyle>
            <a:defPPr>
              <a:defRPr lang="ja-JP"/>
            </a:defPPr>
            <a:lvl1pPr marL="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450"/>
              </a:spcBef>
            </a:pPr>
            <a:r>
              <a:rPr lang="en-US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z_min</a:t>
            </a:r>
          </a:p>
        </p:txBody>
      </p:sp>
      <p:sp>
        <p:nvSpPr>
          <p:cNvPr id="28" name="角丸四角形 138"/>
          <p:cNvSpPr/>
          <p:nvPr/>
        </p:nvSpPr>
        <p:spPr>
          <a:xfrm>
            <a:off x="7469109" y="4114106"/>
            <a:ext cx="1596471" cy="355714"/>
          </a:xfrm>
          <a:prstGeom prst="roundRect">
            <a:avLst/>
          </a:prstGeom>
          <a:solidFill>
            <a:schemeClr val="accent4">
              <a:lumMod val="75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rIns="0" rtlCol="0" anchor="ctr"/>
          <a:lstStyle>
            <a:defPPr>
              <a:defRPr lang="ja-JP"/>
            </a:defPPr>
            <a:lvl1pPr marL="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kumimoji="1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450"/>
              </a:spcBef>
            </a:pPr>
            <a:r>
              <a:rPr lang="en-US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m_paingmin</a:t>
            </a:r>
          </a:p>
        </p:txBody>
      </p:sp>
      <p:cxnSp>
        <p:nvCxnSpPr>
          <p:cNvPr id="29" name="直線矢印コネクタ 126"/>
          <p:cNvCxnSpPr/>
          <p:nvPr/>
        </p:nvCxnSpPr>
        <p:spPr bwMode="auto">
          <a:xfrm flipH="1">
            <a:off x="8263535" y="4469820"/>
            <a:ext cx="8255" cy="272415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triangle"/>
          </a:ln>
          <a:effectLst/>
        </p:spPr>
      </p:cxnSp>
      <p:cxnSp>
        <p:nvCxnSpPr>
          <p:cNvPr id="33" name="Elbow Connector 32"/>
          <p:cNvCxnSpPr>
            <a:stCxn id="24" idx="2"/>
            <a:endCxn id="8" idx="0"/>
          </p:cNvCxnSpPr>
          <p:nvPr/>
        </p:nvCxnSpPr>
        <p:spPr>
          <a:xfrm rot="5400000">
            <a:off x="4179570" y="2513965"/>
            <a:ext cx="457200" cy="2749550"/>
          </a:xfrm>
          <a:prstGeom prst="bentConnector3">
            <a:avLst>
              <a:gd name="adj1" fmla="val 37916"/>
            </a:avLst>
          </a:prstGeom>
          <a:ln w="31750" cap="rnd">
            <a:solidFill>
              <a:schemeClr val="tx1">
                <a:lumMod val="75000"/>
                <a:lumOff val="25000"/>
              </a:schemeClr>
            </a:solidFill>
            <a:prstDash val="sysDot"/>
            <a:round/>
            <a:headEnd type="none" w="med" len="med"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" name="Elbow Connector 33"/>
          <p:cNvCxnSpPr>
            <a:endCxn id="28" idx="0"/>
          </p:cNvCxnSpPr>
          <p:nvPr/>
        </p:nvCxnSpPr>
        <p:spPr>
          <a:xfrm>
            <a:off x="5782945" y="3820795"/>
            <a:ext cx="2484120" cy="293370"/>
          </a:xfrm>
          <a:prstGeom prst="bentConnector2">
            <a:avLst/>
          </a:prstGeom>
          <a:ln w="31750" cap="rnd">
            <a:solidFill>
              <a:schemeClr val="tx1">
                <a:lumMod val="75000"/>
                <a:lumOff val="25000"/>
              </a:schemeClr>
            </a:solidFill>
            <a:prstDash val="sysDot"/>
            <a:round/>
            <a:headEnd type="none" w="med" len="med"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F15E4-2CDD-6047-9F8A-F392A4BC9A1F}" type="slidenum">
              <a:rPr kumimoji="1" lang="ja-JP" altLang="en-US" smtClean="0">
                <a:latin typeface="Meiryo UI" panose="020B0604030504040204" pitchFamily="50" charset="-128"/>
                <a:ea typeface="Meiryo UI" panose="020B0604030504040204" pitchFamily="50" charset="-128"/>
              </a:rPr>
              <a:t>4</a:t>
            </a:fld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正方形/長方形 5"/>
          <p:cNvSpPr/>
          <p:nvPr/>
        </p:nvSpPr>
        <p:spPr>
          <a:xfrm>
            <a:off x="254000" y="275936"/>
            <a:ext cx="11938000" cy="601640"/>
          </a:xfrm>
          <a:prstGeom prst="rect">
            <a:avLst/>
          </a:prstGeom>
          <a:gradFill flip="none" rotWithShape="1">
            <a:gsLst>
              <a:gs pos="22000">
                <a:srgbClr val="82C651"/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l"/>
            <a:endParaRPr lang="ja-JP" altLang="en-US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タイトル 3"/>
          <p:cNvSpPr>
            <a:spLocks noGrp="1"/>
          </p:cNvSpPr>
          <p:nvPr>
            <p:ph type="title"/>
          </p:nvPr>
        </p:nvSpPr>
        <p:spPr>
          <a:xfrm>
            <a:off x="254001" y="276225"/>
            <a:ext cx="10414000" cy="609600"/>
          </a:xfrm>
        </p:spPr>
        <p:txBody>
          <a:bodyPr vert="horz" lIns="91440" tIns="180000" rIns="91440" bIns="45720" rtlCol="0" anchor="ctr">
            <a:noAutofit/>
          </a:bodyPr>
          <a:lstStyle/>
          <a:p>
            <a:r>
              <a:rPr lang="ja-JP" altLang="en-US" dirty="0"/>
              <a:t>プロジェクト体制／役割</a:t>
            </a:r>
            <a:endParaRPr lang="en-US" altLang="ja-JP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eiryo UI" panose="020B0604030504040204" pitchFamily="50" charset="-128"/>
              <a:ea typeface="Meiryo UI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8" name="コンテンツ プレースホルダー 2"/>
          <p:cNvSpPr txBox="1"/>
          <p:nvPr/>
        </p:nvSpPr>
        <p:spPr>
          <a:xfrm>
            <a:off x="413225" y="877577"/>
            <a:ext cx="9729431" cy="48760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kumimoji="1" sz="3200" kern="120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kumimoji="1" sz="2800" kern="120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kumimoji="1"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kumimoji="1"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kumimoji="1"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/>
              <a:buNone/>
            </a:pPr>
            <a:r>
              <a:rPr lang="ja-JP" altLang="en-US" sz="1400" dirty="0" smtClean="0"/>
              <a:t>●：管理　　○：実際の作業</a:t>
            </a:r>
            <a:endParaRPr lang="en-US" altLang="ja-JP" sz="1400" dirty="0"/>
          </a:p>
        </p:txBody>
      </p:sp>
      <p:graphicFrame>
        <p:nvGraphicFramePr>
          <p:cNvPr id="9" name="表 1"/>
          <p:cNvGraphicFramePr>
            <a:graphicFrameLocks noGrp="1"/>
          </p:cNvGraphicFramePr>
          <p:nvPr/>
        </p:nvGraphicFramePr>
        <p:xfrm>
          <a:off x="793750" y="1528573"/>
          <a:ext cx="10858499" cy="42331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963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621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0402">
                <a:tc>
                  <a:txBody>
                    <a:bodyPr/>
                    <a:lstStyle/>
                    <a:p>
                      <a:r>
                        <a:rPr kumimoji="1" lang="ja-JP" altLang="en-US" sz="1400" dirty="0">
                          <a:solidFill>
                            <a:schemeClr val="tx1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体制上の役割名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dirty="0">
                          <a:solidFill>
                            <a:schemeClr val="tx1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主な役割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0998">
                <a:tc>
                  <a:txBody>
                    <a:bodyPr/>
                    <a:lstStyle/>
                    <a:p>
                      <a:r>
                        <a:rPr kumimoji="1" lang="ja-JP" altLang="en-US" sz="1400" baseline="0" dirty="0" smtClean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江田隆志</a:t>
                      </a:r>
                      <a:r>
                        <a:rPr kumimoji="1" lang="ja-JP" altLang="en-US" sz="1400" dirty="0" smtClean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：全体チームリーダー</a:t>
                      </a:r>
                      <a:endParaRPr kumimoji="1" lang="ja-JP" altLang="en-US" sz="14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 panose="020B0604020202020204"/>
                        <a:buNone/>
                      </a:pPr>
                      <a:r>
                        <a:rPr kumimoji="1" lang="ja-JP" altLang="en-US" sz="1400" dirty="0" smtClean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●</a:t>
                      </a:r>
                      <a:r>
                        <a:rPr lang="ja-JP" altLang="en-US" sz="1400" b="0" i="0" u="none" strike="noStrike" cap="none" dirty="0" smtClean="0">
                          <a:solidFill>
                            <a:srgbClr val="000000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 panose="020B0604030504040204" pitchFamily="50" charset="-128"/>
                          <a:sym typeface="メイリオ" panose="020B0604030504040204" pitchFamily="50" charset="-128"/>
                        </a:rPr>
                        <a:t>開発チームメンバを取り纏め、開発チームにおける各タスクの実行管理を行う</a:t>
                      </a:r>
                      <a:endParaRPr lang="ja-JP" altLang="en-US" sz="1600" u="none" strike="noStrike" cap="none" dirty="0"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メイリオ" panose="020B0604030504040204" pitchFamily="50" charset="-128"/>
                        <a:sym typeface="メイリオ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76810">
                <a:tc>
                  <a:txBody>
                    <a:bodyPr/>
                    <a:lstStyle/>
                    <a:p>
                      <a:r>
                        <a:rPr kumimoji="1" lang="en-US" altLang="ja-JP" sz="1400" dirty="0" smtClean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Anh:</a:t>
                      </a:r>
                      <a:r>
                        <a:rPr kumimoji="1" lang="en-US" altLang="ja-JP" sz="1400" baseline="0" dirty="0" smtClean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 </a:t>
                      </a:r>
                      <a:r>
                        <a:rPr kumimoji="1" lang="ja-JP" altLang="en-US" sz="1400" baseline="0" dirty="0" smtClean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ベトナム開発チームリーダ</a:t>
                      </a:r>
                      <a:endParaRPr kumimoji="1" lang="ja-JP" altLang="en-US" sz="14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ja-JP" altLang="en-US" sz="1400" dirty="0" smtClean="0">
                          <a:solidFill>
                            <a:schemeClr val="tx1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●開発管理</a:t>
                      </a:r>
                      <a:endParaRPr kumimoji="1" lang="en-US" altLang="ja-JP" sz="1400" baseline="0" dirty="0" smtClean="0">
                        <a:solidFill>
                          <a:schemeClr val="tx1"/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ja-JP" altLang="en-US" sz="1400" dirty="0" smtClean="0">
                          <a:solidFill>
                            <a:schemeClr val="tx1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○ 進捗会参加</a:t>
                      </a:r>
                      <a:endParaRPr kumimoji="1" lang="en-US" altLang="ja-JP" sz="1400" dirty="0" smtClean="0">
                        <a:solidFill>
                          <a:schemeClr val="tx1"/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ja-JP" altLang="en-US" sz="1400" dirty="0" smtClean="0">
                          <a:solidFill>
                            <a:schemeClr val="tx1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○ 詳細設計レビュー</a:t>
                      </a:r>
                      <a:endParaRPr kumimoji="1" lang="en-US" altLang="ja-JP" sz="1400" dirty="0" smtClean="0">
                        <a:solidFill>
                          <a:schemeClr val="tx1"/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ja-JP" altLang="en-US" sz="1400" dirty="0" smtClean="0">
                          <a:solidFill>
                            <a:schemeClr val="tx1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○ ソースコード調査</a:t>
                      </a:r>
                      <a:endParaRPr kumimoji="1" lang="en-US" altLang="ja-JP" sz="1400" dirty="0" smtClean="0">
                        <a:solidFill>
                          <a:schemeClr val="tx1"/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ja-JP" altLang="en-US" sz="1400" dirty="0" smtClean="0">
                          <a:solidFill>
                            <a:schemeClr val="tx1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○ タスク割当</a:t>
                      </a:r>
                      <a:endParaRPr kumimoji="1" lang="en-US" altLang="ja-JP" sz="1400" dirty="0" smtClean="0">
                        <a:solidFill>
                          <a:schemeClr val="tx1"/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ja-JP" altLang="en-US" sz="1400" dirty="0" smtClean="0">
                          <a:solidFill>
                            <a:schemeClr val="tx1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○ ソースレビュー</a:t>
                      </a:r>
                      <a:endParaRPr kumimoji="1" lang="en-US" altLang="ja-JP" sz="1400" dirty="0" smtClean="0">
                        <a:solidFill>
                          <a:schemeClr val="tx1"/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ja-JP" altLang="en-US" sz="1400" dirty="0" smtClean="0">
                          <a:solidFill>
                            <a:schemeClr val="tx1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○</a:t>
                      </a:r>
                      <a:r>
                        <a:rPr kumimoji="1" lang="ja-JP" altLang="en-US" sz="1400" baseline="0" dirty="0" smtClean="0">
                          <a:solidFill>
                            <a:schemeClr val="tx1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 メンバーサポート</a:t>
                      </a:r>
                      <a:endParaRPr kumimoji="1" lang="en-US" altLang="ja-JP" sz="1400" baseline="0" dirty="0" smtClean="0">
                        <a:solidFill>
                          <a:schemeClr val="tx1"/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7681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ja-JP" sz="1400" baseline="0" dirty="0" smtClean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Thuy</a:t>
                      </a:r>
                      <a:r>
                        <a:rPr kumimoji="1" lang="en-US" altLang="ja-JP" sz="1400" dirty="0" smtClean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:</a:t>
                      </a:r>
                      <a:r>
                        <a:rPr kumimoji="1" lang="en-US" altLang="ja-JP" sz="1400" baseline="0" dirty="0" smtClean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 </a:t>
                      </a:r>
                      <a:r>
                        <a:rPr kumimoji="1" lang="en-US" altLang="ja-JP" sz="1400" baseline="0" dirty="0" err="1" smtClean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Comtor</a:t>
                      </a:r>
                      <a:endParaRPr kumimoji="1" lang="ja-JP" altLang="en-US" sz="1400" dirty="0" smtClean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ja-JP" altLang="en-US" sz="1400" dirty="0" smtClean="0">
                          <a:solidFill>
                            <a:schemeClr val="tx1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○ 資料翻訳</a:t>
                      </a:r>
                      <a:endParaRPr kumimoji="1" lang="en-US" altLang="ja-JP" sz="1400" dirty="0" smtClean="0">
                        <a:solidFill>
                          <a:schemeClr val="tx1"/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ja-JP" altLang="en-US" sz="1400" dirty="0" smtClean="0">
                          <a:solidFill>
                            <a:schemeClr val="tx1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○ 設計書の業務理解</a:t>
                      </a:r>
                      <a:endParaRPr kumimoji="1" lang="en-US" altLang="ja-JP" sz="1400" dirty="0" smtClean="0">
                        <a:solidFill>
                          <a:schemeClr val="tx1"/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ja-JP" altLang="en-US" sz="1400" dirty="0" smtClean="0">
                          <a:solidFill>
                            <a:schemeClr val="tx1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○ 説明会の通訳</a:t>
                      </a:r>
                      <a:endParaRPr kumimoji="1" lang="en-US" altLang="ja-JP" sz="1400" dirty="0" smtClean="0">
                        <a:solidFill>
                          <a:schemeClr val="tx1"/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ja-JP" altLang="en-US" sz="1400" dirty="0" smtClean="0">
                          <a:solidFill>
                            <a:schemeClr val="tx1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○ </a:t>
                      </a:r>
                      <a:r>
                        <a:rPr kumimoji="1" lang="en-US" altLang="ja-JP" sz="1400" dirty="0" err="1" smtClean="0">
                          <a:solidFill>
                            <a:schemeClr val="tx1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Redmine</a:t>
                      </a:r>
                      <a:r>
                        <a:rPr kumimoji="1" lang="ja-JP" altLang="en-US" sz="1400" dirty="0" smtClean="0">
                          <a:solidFill>
                            <a:schemeClr val="tx1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管理</a:t>
                      </a:r>
                      <a:endParaRPr kumimoji="1" lang="en-US" altLang="ja-JP" sz="1400" baseline="0" dirty="0" smtClean="0">
                        <a:solidFill>
                          <a:schemeClr val="tx1"/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F15E4-2CDD-6047-9F8A-F392A4BC9A1F}" type="slidenum">
              <a:rPr kumimoji="1" lang="ja-JP" altLang="en-US" smtClean="0">
                <a:latin typeface="Meiryo UI" panose="020B0604030504040204" pitchFamily="50" charset="-128"/>
                <a:ea typeface="Meiryo UI" panose="020B0604030504040204" pitchFamily="50" charset="-128"/>
              </a:rPr>
              <a:t>5</a:t>
            </a:fld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正方形/長方形 5"/>
          <p:cNvSpPr/>
          <p:nvPr/>
        </p:nvSpPr>
        <p:spPr>
          <a:xfrm>
            <a:off x="254000" y="275936"/>
            <a:ext cx="11938000" cy="601640"/>
          </a:xfrm>
          <a:prstGeom prst="rect">
            <a:avLst/>
          </a:prstGeom>
          <a:gradFill flip="none" rotWithShape="1">
            <a:gsLst>
              <a:gs pos="22000">
                <a:srgbClr val="82C651"/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l"/>
            <a:endParaRPr lang="ja-JP" altLang="en-US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タイトル 3"/>
          <p:cNvSpPr>
            <a:spLocks noGrp="1"/>
          </p:cNvSpPr>
          <p:nvPr>
            <p:ph type="title"/>
          </p:nvPr>
        </p:nvSpPr>
        <p:spPr>
          <a:xfrm>
            <a:off x="254001" y="276225"/>
            <a:ext cx="10414000" cy="609600"/>
          </a:xfrm>
        </p:spPr>
        <p:txBody>
          <a:bodyPr vert="horz" lIns="91440" tIns="180000" rIns="91440" bIns="45720" rtlCol="0" anchor="ctr">
            <a:noAutofit/>
          </a:bodyPr>
          <a:lstStyle/>
          <a:p>
            <a:r>
              <a:rPr lang="ja-JP" altLang="en-US" dirty="0"/>
              <a:t>プロジェクト体制／役割</a:t>
            </a:r>
            <a:endParaRPr lang="en-US" altLang="ja-JP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eiryo UI" panose="020B0604030504040204" pitchFamily="50" charset="-128"/>
              <a:ea typeface="Meiryo UI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8" name="コンテンツ プレースホルダー 2"/>
          <p:cNvSpPr txBox="1"/>
          <p:nvPr/>
        </p:nvSpPr>
        <p:spPr>
          <a:xfrm>
            <a:off x="413225" y="877577"/>
            <a:ext cx="9729431" cy="48760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kumimoji="1" sz="3200" kern="120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kumimoji="1" sz="2800" kern="120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kumimoji="1"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kumimoji="1"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kumimoji="1"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/>
              <a:buNone/>
            </a:pPr>
            <a:r>
              <a:rPr lang="ja-JP" altLang="en-US" sz="1400" dirty="0" smtClean="0"/>
              <a:t>●：管理　　○：実際の作業</a:t>
            </a:r>
            <a:endParaRPr lang="en-US" altLang="ja-JP" sz="1400" dirty="0"/>
          </a:p>
        </p:txBody>
      </p:sp>
      <p:graphicFrame>
        <p:nvGraphicFramePr>
          <p:cNvPr id="9" name="表 1"/>
          <p:cNvGraphicFramePr>
            <a:graphicFrameLocks noGrp="1"/>
          </p:cNvGraphicFramePr>
          <p:nvPr/>
        </p:nvGraphicFramePr>
        <p:xfrm>
          <a:off x="793750" y="1528572"/>
          <a:ext cx="10858499" cy="44331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963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621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1302">
                <a:tc>
                  <a:txBody>
                    <a:bodyPr/>
                    <a:lstStyle/>
                    <a:p>
                      <a:endParaRPr kumimoji="1" lang="ja-JP" altLang="en-US" sz="1400" dirty="0">
                        <a:solidFill>
                          <a:schemeClr val="tx1"/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dirty="0">
                          <a:solidFill>
                            <a:schemeClr val="tx1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主な役割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6886">
                <a:tc>
                  <a:txBody>
                    <a:bodyPr/>
                    <a:lstStyle/>
                    <a:p>
                      <a:r>
                        <a:rPr kumimoji="1" lang="en-US" altLang="ja-JP" sz="1400" dirty="0" smtClean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Minh </a:t>
                      </a:r>
                      <a:r>
                        <a:rPr kumimoji="1" lang="ja-JP" altLang="en-US" sz="1400" dirty="0" smtClean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：</a:t>
                      </a:r>
                      <a:r>
                        <a:rPr kumimoji="1" lang="en-US" altLang="ja-JP" sz="1400" dirty="0" smtClean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GL</a:t>
                      </a:r>
                      <a:endParaRPr kumimoji="1" lang="ja-JP" altLang="en-US" sz="14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dirty="0" smtClean="0">
                          <a:solidFill>
                            <a:schemeClr val="tx1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○ ソースレビュー</a:t>
                      </a:r>
                      <a:endParaRPr kumimoji="1" lang="en-US" altLang="ja-JP" sz="1400" dirty="0" smtClean="0">
                        <a:solidFill>
                          <a:schemeClr val="tx1"/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r>
                        <a:rPr kumimoji="1" lang="ja-JP" altLang="en-US" sz="1400" dirty="0" smtClean="0">
                          <a:solidFill>
                            <a:schemeClr val="tx1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○</a:t>
                      </a:r>
                      <a:r>
                        <a:rPr kumimoji="1" lang="en-US" altLang="ja-JP" sz="1400" baseline="0" dirty="0" smtClean="0">
                          <a:solidFill>
                            <a:schemeClr val="tx1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 </a:t>
                      </a:r>
                      <a:r>
                        <a:rPr kumimoji="1" lang="ja-JP" altLang="en-US" sz="1400" baseline="0" dirty="0" smtClean="0">
                          <a:solidFill>
                            <a:schemeClr val="tx1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品質向上対策出し</a:t>
                      </a:r>
                      <a:endParaRPr kumimoji="1" lang="en-US" altLang="ja-JP" sz="1400" baseline="0" dirty="0" smtClean="0">
                        <a:solidFill>
                          <a:schemeClr val="tx1"/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435">
                <a:tc>
                  <a:txBody>
                    <a:bodyPr/>
                    <a:lstStyle/>
                    <a:p>
                      <a:r>
                        <a:rPr kumimoji="1" lang="en-US" altLang="ja-JP" sz="1400" dirty="0" err="1" smtClean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Hanh</a:t>
                      </a:r>
                      <a:r>
                        <a:rPr kumimoji="1" lang="ja-JP" altLang="en-US" sz="1400" dirty="0" smtClean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：</a:t>
                      </a:r>
                      <a:r>
                        <a:rPr kumimoji="1" lang="en-US" altLang="ja-JP" sz="1400" dirty="0" smtClean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GL</a:t>
                      </a:r>
                      <a:endParaRPr kumimoji="1" lang="ja-JP" altLang="en-US" sz="14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ja-JP" altLang="en-US" sz="1400" dirty="0" smtClean="0">
                          <a:solidFill>
                            <a:schemeClr val="tx1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○</a:t>
                      </a:r>
                      <a:r>
                        <a:rPr kumimoji="1" lang="ja-JP" altLang="en-US" sz="1400" baseline="0" dirty="0" smtClean="0">
                          <a:solidFill>
                            <a:schemeClr val="tx1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 </a:t>
                      </a:r>
                      <a:r>
                        <a:rPr kumimoji="1" lang="en-US" altLang="ja-JP" sz="1400" baseline="0" dirty="0" smtClean="0">
                          <a:solidFill>
                            <a:schemeClr val="tx1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WMS</a:t>
                      </a:r>
                      <a:r>
                        <a:rPr kumimoji="1" lang="ja-JP" altLang="en-US" sz="1400" baseline="0" dirty="0" smtClean="0">
                          <a:solidFill>
                            <a:schemeClr val="tx1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業務サポート</a:t>
                      </a:r>
                      <a:endParaRPr kumimoji="1" lang="en-US" altLang="ja-JP" sz="1400" baseline="0" dirty="0" smtClean="0">
                        <a:solidFill>
                          <a:schemeClr val="tx1"/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836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kumimoji="1" lang="en-US" altLang="ja-JP" sz="1400" dirty="0" err="1" smtClean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Duc</a:t>
                      </a:r>
                      <a:r>
                        <a:rPr kumimoji="1" lang="en-US" altLang="ja-JP" sz="1400" dirty="0" smtClean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, </a:t>
                      </a:r>
                      <a:r>
                        <a:rPr kumimoji="1" lang="en-US" altLang="en-US" sz="1400" dirty="0" err="1" smtClean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m_paingmi</a:t>
                      </a:r>
                      <a:r>
                        <a:rPr kumimoji="1" lang="ja-JP" altLang="en-US" sz="1400" dirty="0" smtClean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ｎ</a:t>
                      </a:r>
                      <a:endParaRPr kumimoji="1" lang="en-US" altLang="en-US" sz="14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ja-JP" altLang="en-US" sz="1400" dirty="0" smtClean="0">
                          <a:solidFill>
                            <a:schemeClr val="tx1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sym typeface="+mn-ea"/>
                        </a:rPr>
                        <a:t>●進捗管理</a:t>
                      </a:r>
                      <a:endParaRPr lang="en-US" altLang="ja-JP" sz="1400" dirty="0" smtClean="0">
                        <a:solidFill>
                          <a:schemeClr val="tx1"/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sym typeface="+mn-ea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ja-JP" altLang="en-US" sz="1400" dirty="0" smtClean="0">
                          <a:solidFill>
                            <a:schemeClr val="tx1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sym typeface="+mn-ea"/>
                        </a:rPr>
                        <a:t>○ 進捗会参加</a:t>
                      </a:r>
                      <a:endParaRPr lang="en-US" altLang="ja-JP" sz="1400" dirty="0" smtClean="0">
                        <a:solidFill>
                          <a:schemeClr val="tx1"/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sym typeface="+mn-ea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ja-JP" altLang="en-US" sz="1400" dirty="0" smtClean="0">
                          <a:solidFill>
                            <a:schemeClr val="tx1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sym typeface="+mn-ea"/>
                        </a:rPr>
                        <a:t>○ 詳細設計レビュー</a:t>
                      </a:r>
                      <a:endParaRPr lang="en-US" altLang="ja-JP" sz="1400" dirty="0" smtClean="0">
                        <a:solidFill>
                          <a:schemeClr val="tx1"/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  <a:sym typeface="+mn-ea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ja-JP" altLang="en-US" sz="1400" dirty="0" smtClean="0">
                          <a:solidFill>
                            <a:schemeClr val="tx1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sym typeface="+mn-ea"/>
                        </a:rPr>
                        <a:t>○ 単体テスト仕様書レビュー</a:t>
                      </a:r>
                      <a:endParaRPr kumimoji="1" lang="en-US" altLang="ja-JP" sz="1400" baseline="0" dirty="0" smtClean="0">
                        <a:solidFill>
                          <a:schemeClr val="tx1"/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72569">
                <a:tc>
                  <a:txBody>
                    <a:bodyPr/>
                    <a:lstStyle/>
                    <a:p>
                      <a:r>
                        <a:rPr kumimoji="1" lang="ja-JP" altLang="en-US" sz="1400" dirty="0" smtClean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開発メンバー</a:t>
                      </a:r>
                      <a:endParaRPr kumimoji="1" lang="en-US" altLang="ja-JP" sz="14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ja-JP" altLang="en-US" sz="1400" dirty="0" smtClean="0">
                          <a:solidFill>
                            <a:schemeClr val="tx1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○</a:t>
                      </a:r>
                      <a:r>
                        <a:rPr kumimoji="1" lang="ja-JP" altLang="en-US" sz="1400" baseline="0" dirty="0" smtClean="0">
                          <a:solidFill>
                            <a:schemeClr val="tx1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 詳細設計書作成</a:t>
                      </a:r>
                      <a:endParaRPr kumimoji="1" lang="en-US" altLang="ja-JP" sz="1400" baseline="0" dirty="0" smtClean="0">
                        <a:solidFill>
                          <a:schemeClr val="tx1"/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ja-JP" altLang="en-US" sz="1400" dirty="0" smtClean="0">
                          <a:solidFill>
                            <a:schemeClr val="tx1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○</a:t>
                      </a:r>
                      <a:r>
                        <a:rPr kumimoji="1" lang="ja-JP" altLang="en-US" sz="1400" baseline="0" dirty="0" smtClean="0">
                          <a:solidFill>
                            <a:schemeClr val="tx1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 実装</a:t>
                      </a:r>
                      <a:endParaRPr kumimoji="1" lang="en-US" altLang="ja-JP" sz="1400" baseline="0" dirty="0" smtClean="0">
                        <a:solidFill>
                          <a:schemeClr val="tx1"/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ja-JP" altLang="en-US" sz="1400" dirty="0" smtClean="0">
                          <a:solidFill>
                            <a:schemeClr val="tx1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sym typeface="+mn-ea"/>
                        </a:rPr>
                        <a:t>○ </a:t>
                      </a:r>
                      <a:r>
                        <a:rPr lang="en-US" altLang="ja-JP" sz="1400" dirty="0" smtClean="0">
                          <a:solidFill>
                            <a:schemeClr val="tx1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sym typeface="+mn-ea"/>
                        </a:rPr>
                        <a:t>Junit</a:t>
                      </a:r>
                      <a:r>
                        <a:rPr lang="ja-JP" altLang="en-US" sz="1400" dirty="0" smtClean="0">
                          <a:solidFill>
                            <a:schemeClr val="tx1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sym typeface="+mn-ea"/>
                        </a:rPr>
                        <a:t>テスト実施</a:t>
                      </a:r>
                      <a:endParaRPr kumimoji="1" lang="en-US" altLang="ja-JP" sz="1400" baseline="0" dirty="0" smtClean="0">
                        <a:solidFill>
                          <a:schemeClr val="tx1"/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ja-JP" altLang="en-US" sz="1400" dirty="0" smtClean="0">
                          <a:solidFill>
                            <a:schemeClr val="tx1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○ クロスレビュー</a:t>
                      </a:r>
                      <a:endParaRPr kumimoji="1" lang="en-US" altLang="ja-JP" sz="1400" baseline="0" dirty="0" smtClean="0">
                        <a:solidFill>
                          <a:schemeClr val="tx1"/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ja-JP" altLang="en-US" sz="1400" dirty="0" smtClean="0">
                          <a:solidFill>
                            <a:schemeClr val="tx1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○ </a:t>
                      </a:r>
                      <a:r>
                        <a:rPr kumimoji="1" lang="ja-JP" altLang="en-US" sz="1400" baseline="0" dirty="0" smtClean="0">
                          <a:solidFill>
                            <a:schemeClr val="tx1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単体テスト仕様書作成</a:t>
                      </a:r>
                      <a:endParaRPr kumimoji="1" lang="en-US" altLang="ja-JP" sz="1400" baseline="0" dirty="0" smtClean="0">
                        <a:solidFill>
                          <a:schemeClr val="tx1"/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ja-JP" altLang="en-US" sz="1400" dirty="0" smtClean="0">
                          <a:solidFill>
                            <a:schemeClr val="tx1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○ </a:t>
                      </a:r>
                      <a:r>
                        <a:rPr kumimoji="1" lang="ja-JP" altLang="en-US" sz="1400" baseline="0" dirty="0" smtClean="0">
                          <a:solidFill>
                            <a:schemeClr val="tx1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単体テスト実施</a:t>
                      </a:r>
                      <a:endParaRPr kumimoji="1" lang="en-US" altLang="ja-JP" sz="1400" baseline="0" dirty="0" smtClean="0">
                        <a:solidFill>
                          <a:schemeClr val="tx1"/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ja-JP" altLang="en-US" sz="1400" dirty="0" smtClean="0">
                          <a:solidFill>
                            <a:schemeClr val="tx1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○ </a:t>
                      </a:r>
                      <a:r>
                        <a:rPr kumimoji="1" lang="ja-JP" altLang="en-US" sz="1400" baseline="0" dirty="0" smtClean="0">
                          <a:solidFill>
                            <a:schemeClr val="tx1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バグ修正</a:t>
                      </a:r>
                      <a:endParaRPr kumimoji="1" lang="en-US" altLang="ja-JP" sz="1400" baseline="0" dirty="0" smtClean="0">
                        <a:solidFill>
                          <a:schemeClr val="tx1"/>
                        </a:solidFill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F15E4-2CDD-6047-9F8A-F392A4BC9A1F}" type="slidenum">
              <a:rPr kumimoji="1" lang="ja-JP" altLang="en-US" smtClean="0">
                <a:latin typeface="Meiryo UI" panose="020B0604030504040204" pitchFamily="50" charset="-128"/>
                <a:ea typeface="Meiryo UI" panose="020B0604030504040204" pitchFamily="50" charset="-128"/>
              </a:rPr>
              <a:t>6</a:t>
            </a:fld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正方形/長方形 5"/>
          <p:cNvSpPr/>
          <p:nvPr/>
        </p:nvSpPr>
        <p:spPr>
          <a:xfrm>
            <a:off x="254000" y="275936"/>
            <a:ext cx="11938000" cy="601640"/>
          </a:xfrm>
          <a:prstGeom prst="rect">
            <a:avLst/>
          </a:prstGeom>
          <a:gradFill flip="none" rotWithShape="1">
            <a:gsLst>
              <a:gs pos="22000">
                <a:srgbClr val="82C651"/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l"/>
            <a:endParaRPr lang="ja-JP" altLang="en-US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タイトル 3"/>
          <p:cNvSpPr>
            <a:spLocks noGrp="1"/>
          </p:cNvSpPr>
          <p:nvPr>
            <p:ph type="title"/>
          </p:nvPr>
        </p:nvSpPr>
        <p:spPr>
          <a:xfrm>
            <a:off x="254001" y="276225"/>
            <a:ext cx="11128702" cy="609600"/>
          </a:xfrm>
        </p:spPr>
        <p:txBody>
          <a:bodyPr vert="horz" lIns="91440" tIns="180000" rIns="91440" bIns="45720" rtlCol="0" anchor="ctr">
            <a:noAutofit/>
          </a:bodyPr>
          <a:lstStyle/>
          <a:p>
            <a:r>
              <a:rPr lang="ja-JP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rPr>
              <a:t>機</a:t>
            </a:r>
            <a:r>
              <a:rPr lang="ja-JP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rPr>
              <a:t>能</a:t>
            </a:r>
            <a:r>
              <a:rPr lang="ja-JP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rPr>
              <a:t>分析</a:t>
            </a:r>
            <a:endParaRPr lang="en-US" altLang="ja-JP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eiryo UI" panose="020B0604030504040204" pitchFamily="50" charset="-128"/>
              <a:ea typeface="Meiryo UI" panose="020B0604030504040204" pitchFamily="50" charset="-128"/>
              <a:cs typeface="メイリオ" panose="020B0604030504040204" pitchFamily="50" charset="-128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54001" y="1195916"/>
          <a:ext cx="8128000" cy="1854200"/>
        </p:xfrm>
        <a:graphic>
          <a:graphicData uri="http://schemas.openxmlformats.org/drawingml/2006/table">
            <a:tbl>
              <a:tblPr firstRow="1" lastRow="1" bandRow="1">
                <a:tableStyleId>{F5AB1C69-6EDB-4FF4-983F-18BD219EF322}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ja-JP" altLang="en-US" dirty="0" smtClean="0"/>
                        <a:t>機能種</a:t>
                      </a:r>
                      <a:endParaRPr lang="en-US" dirty="0"/>
                    </a:p>
                  </a:txBody>
                  <a:tcPr>
                    <a:gradFill>
                      <a:gsLst>
                        <a:gs pos="22000">
                          <a:srgbClr val="82C651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dirty="0" smtClean="0"/>
                        <a:t>数量</a:t>
                      </a:r>
                      <a:endParaRPr lang="en-US" dirty="0"/>
                    </a:p>
                  </a:txBody>
                  <a:tcPr>
                    <a:gradFill>
                      <a:gsLst>
                        <a:gs pos="22000">
                          <a:srgbClr val="82C651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ja-JP" dirty="0" smtClean="0">
                          <a:latin typeface="Arial (Body)"/>
                        </a:rPr>
                        <a:t>PC</a:t>
                      </a:r>
                      <a:r>
                        <a:rPr lang="zh-CN" altLang="en-US" dirty="0" smtClean="0">
                          <a:latin typeface="Arial (Body)"/>
                        </a:rPr>
                        <a:t>機</a:t>
                      </a:r>
                      <a:r>
                        <a:rPr lang="zh-CN" altLang="en-US" dirty="0">
                          <a:latin typeface="Arial (Body)"/>
                        </a:rPr>
                        <a:t>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ja-JP" dirty="0" smtClean="0"/>
                        <a:t>HHT</a:t>
                      </a:r>
                      <a:r>
                        <a:rPr lang="ja-JP" altLang="en-US" dirty="0" smtClean="0"/>
                        <a:t>機能</a:t>
                      </a:r>
                      <a:endParaRPr lang="en-US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/>
                        <a:t>印</a:t>
                      </a:r>
                      <a:r>
                        <a:rPr lang="zh-CN" altLang="en-US" dirty="0" smtClean="0"/>
                        <a:t>刷</a:t>
                      </a:r>
                      <a:r>
                        <a:rPr lang="ja-JP" altLang="en-US" dirty="0" smtClean="0"/>
                        <a:t>ツール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ja-JP" altLang="en-US" dirty="0" smtClean="0"/>
                        <a:t>合計</a:t>
                      </a:r>
                      <a:r>
                        <a:rPr lang="en-US" baseline="0" dirty="0" smtClean="0"/>
                        <a:t>:</a:t>
                      </a:r>
                      <a:endParaRPr lang="en-US" dirty="0"/>
                    </a:p>
                  </a:txBody>
                  <a:tcPr>
                    <a:gradFill>
                      <a:gsLst>
                        <a:gs pos="22000">
                          <a:srgbClr val="82C651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</a:t>
                      </a:r>
                    </a:p>
                  </a:txBody>
                  <a:tcPr>
                    <a:gradFill>
                      <a:gsLst>
                        <a:gs pos="22000">
                          <a:srgbClr val="82C651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9" name="Chart 18"/>
          <p:cNvGraphicFramePr/>
          <p:nvPr/>
        </p:nvGraphicFramePr>
        <p:xfrm>
          <a:off x="914400" y="3791796"/>
          <a:ext cx="6807200" cy="26998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F15E4-2CDD-6047-9F8A-F392A4BC9A1F}" type="slidenum">
              <a:rPr kumimoji="1" lang="ja-JP" altLang="en-US" smtClean="0">
                <a:latin typeface="Meiryo UI" panose="020B0604030504040204" pitchFamily="50" charset="-128"/>
                <a:ea typeface="Meiryo UI" panose="020B0604030504040204" pitchFamily="50" charset="-128"/>
              </a:rPr>
              <a:t>7</a:t>
            </a:fld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正方形/長方形 5"/>
          <p:cNvSpPr/>
          <p:nvPr/>
        </p:nvSpPr>
        <p:spPr>
          <a:xfrm>
            <a:off x="254000" y="275936"/>
            <a:ext cx="11938000" cy="601640"/>
          </a:xfrm>
          <a:prstGeom prst="rect">
            <a:avLst/>
          </a:prstGeom>
          <a:gradFill flip="none" rotWithShape="1">
            <a:gsLst>
              <a:gs pos="22000">
                <a:srgbClr val="82C651"/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l"/>
            <a:endParaRPr lang="ja-JP" altLang="en-US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タイトル 3"/>
          <p:cNvSpPr>
            <a:spLocks noGrp="1"/>
          </p:cNvSpPr>
          <p:nvPr>
            <p:ph type="title"/>
          </p:nvPr>
        </p:nvSpPr>
        <p:spPr>
          <a:xfrm>
            <a:off x="254001" y="276225"/>
            <a:ext cx="11128702" cy="609600"/>
          </a:xfrm>
        </p:spPr>
        <p:txBody>
          <a:bodyPr vert="horz" lIns="91440" tIns="180000" rIns="91440" bIns="45720" rtlCol="0" anchor="ctr">
            <a:noAutofit/>
          </a:bodyPr>
          <a:lstStyle/>
          <a:p>
            <a:r>
              <a:rPr lang="ja-JP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rPr>
              <a:t>詳細設計書作成工数分析</a:t>
            </a:r>
            <a:endParaRPr lang="en-US" altLang="ja-JP" dirty="0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eiryo UI" panose="020B0604030504040204" pitchFamily="50" charset="-128"/>
              <a:ea typeface="Meiryo UI" panose="020B0604030504040204" pitchFamily="50" charset="-128"/>
              <a:cs typeface="メイリオ" panose="020B0604030504040204" pitchFamily="50" charset="-128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960" y="955675"/>
            <a:ext cx="10365740" cy="52400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960" y="955675"/>
            <a:ext cx="10365740" cy="5240020"/>
          </a:xfrm>
          <a:prstGeom prst="rect">
            <a:avLst/>
          </a:prstGeom>
        </p:spPr>
      </p:pic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F15E4-2CDD-6047-9F8A-F392A4BC9A1F}" type="slidenum">
              <a:rPr kumimoji="1" lang="ja-JP" altLang="en-US" smtClean="0">
                <a:latin typeface="Meiryo UI" panose="020B0604030504040204" pitchFamily="50" charset="-128"/>
                <a:ea typeface="Meiryo UI" panose="020B0604030504040204" pitchFamily="50" charset="-128"/>
              </a:rPr>
              <a:t>8</a:t>
            </a:fld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正方形/長方形 5"/>
          <p:cNvSpPr/>
          <p:nvPr/>
        </p:nvSpPr>
        <p:spPr>
          <a:xfrm>
            <a:off x="254000" y="275936"/>
            <a:ext cx="11938000" cy="601640"/>
          </a:xfrm>
          <a:prstGeom prst="rect">
            <a:avLst/>
          </a:prstGeom>
          <a:gradFill flip="none" rotWithShape="1">
            <a:gsLst>
              <a:gs pos="22000">
                <a:srgbClr val="82C651"/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l"/>
            <a:endParaRPr lang="ja-JP" altLang="en-US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タイトル 3"/>
          <p:cNvSpPr>
            <a:spLocks noGrp="1"/>
          </p:cNvSpPr>
          <p:nvPr>
            <p:ph type="title"/>
          </p:nvPr>
        </p:nvSpPr>
        <p:spPr>
          <a:xfrm>
            <a:off x="254001" y="276225"/>
            <a:ext cx="11128702" cy="609600"/>
          </a:xfrm>
        </p:spPr>
        <p:txBody>
          <a:bodyPr vert="horz" lIns="91440" tIns="180000" rIns="91440" bIns="45720" rtlCol="0" anchor="ctr">
            <a:noAutofit/>
          </a:bodyPr>
          <a:lstStyle/>
          <a:p>
            <a:r>
              <a:rPr lang="ja-JP" altLang="en-US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rPr>
              <a:t>詳細設計書作成工数分析</a:t>
            </a:r>
            <a:endParaRPr lang="en-US" altLang="ja-JP" dirty="0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eiryo UI" panose="020B0604030504040204" pitchFamily="50" charset="-128"/>
              <a:ea typeface="Meiryo UI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8" name="吹き出し: 線 4"/>
          <p:cNvSpPr/>
          <p:nvPr/>
        </p:nvSpPr>
        <p:spPr>
          <a:xfrm>
            <a:off x="4947920" y="1927860"/>
            <a:ext cx="4916170" cy="1208405"/>
          </a:xfrm>
          <a:prstGeom prst="borderCallout1">
            <a:avLst>
              <a:gd name="adj1" fmla="val 50656"/>
              <a:gd name="adj2" fmla="val 361"/>
              <a:gd name="adj3" fmla="val 66526"/>
              <a:gd name="adj4" fmla="val -9971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1600" dirty="0" smtClean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子画面の業務が少ないため、子画面の詳細設計書作成工数が低いです。</a:t>
            </a:r>
            <a:endParaRPr lang="en-US" sz="1600" dirty="0" smtClean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865245" y="1927860"/>
            <a:ext cx="593090" cy="172466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960" y="955675"/>
            <a:ext cx="10365740" cy="5240020"/>
          </a:xfrm>
          <a:prstGeom prst="rect">
            <a:avLst/>
          </a:prstGeom>
        </p:spPr>
      </p:pic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F15E4-2CDD-6047-9F8A-F392A4BC9A1F}" type="slidenum">
              <a:rPr kumimoji="1" lang="ja-JP" altLang="en-US" smtClean="0">
                <a:latin typeface="Meiryo UI" panose="020B0604030504040204" pitchFamily="50" charset="-128"/>
                <a:ea typeface="Meiryo UI" panose="020B0604030504040204" pitchFamily="50" charset="-128"/>
              </a:rPr>
              <a:t>9</a:t>
            </a:fld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正方形/長方形 5"/>
          <p:cNvSpPr/>
          <p:nvPr/>
        </p:nvSpPr>
        <p:spPr>
          <a:xfrm>
            <a:off x="254000" y="275936"/>
            <a:ext cx="11938000" cy="601640"/>
          </a:xfrm>
          <a:prstGeom prst="rect">
            <a:avLst/>
          </a:prstGeom>
          <a:gradFill flip="none" rotWithShape="1">
            <a:gsLst>
              <a:gs pos="22000">
                <a:srgbClr val="82C651"/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l"/>
            <a:endParaRPr lang="ja-JP" altLang="en-US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タイトル 3"/>
          <p:cNvSpPr>
            <a:spLocks noGrp="1"/>
          </p:cNvSpPr>
          <p:nvPr>
            <p:ph type="title"/>
          </p:nvPr>
        </p:nvSpPr>
        <p:spPr>
          <a:xfrm>
            <a:off x="254001" y="276225"/>
            <a:ext cx="11128702" cy="609600"/>
          </a:xfrm>
        </p:spPr>
        <p:txBody>
          <a:bodyPr vert="horz" lIns="91440" tIns="180000" rIns="91440" bIns="45720" rtlCol="0" anchor="ctr">
            <a:noAutofit/>
          </a:bodyPr>
          <a:lstStyle/>
          <a:p>
            <a:r>
              <a:rPr lang="ja-JP" altLang="en-US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rPr>
              <a:t>詳細設計書作成工数分析</a:t>
            </a:r>
            <a:endParaRPr lang="en-US" altLang="ja-JP" dirty="0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eiryo UI" panose="020B0604030504040204" pitchFamily="50" charset="-128"/>
              <a:ea typeface="Meiryo UI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8" name="吹き出し: 線 4"/>
          <p:cNvSpPr/>
          <p:nvPr/>
        </p:nvSpPr>
        <p:spPr>
          <a:xfrm>
            <a:off x="4425950" y="1259573"/>
            <a:ext cx="4916170" cy="2233930"/>
          </a:xfrm>
          <a:prstGeom prst="borderCallout1">
            <a:avLst>
              <a:gd name="adj1" fmla="val 50656"/>
              <a:gd name="adj2" fmla="val 361"/>
              <a:gd name="adj3" fmla="val 103212"/>
              <a:gd name="adj4" fmla="val -2479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1600" dirty="0" smtClean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子画面と逆に、親画面の方が業務調査と理解時間がかなりかかります。</a:t>
            </a:r>
            <a:endParaRPr lang="en-US" sz="1600" dirty="0" smtClean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1600" dirty="0" smtClean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ほかに</a:t>
            </a:r>
            <a:r>
              <a:rPr lang="ja-JP" altLang="en-US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は、詳細設計にかかる時間の増加に加え、基</a:t>
            </a:r>
            <a:r>
              <a:rPr lang="ja-JP" altLang="en-US" sz="1600" dirty="0" smtClean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本</a:t>
            </a:r>
            <a:r>
              <a:rPr lang="ja-JP" altLang="en-US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設計の大幅な変更によ</a:t>
            </a:r>
            <a:r>
              <a:rPr lang="ja-JP" altLang="en-US" sz="1600" dirty="0" smtClean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り、翻訳時間も多く発生しました。また、</a:t>
            </a:r>
            <a:r>
              <a:rPr lang="en-US" altLang="ja-JP" sz="1600" dirty="0" smtClean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JP</a:t>
            </a:r>
            <a:r>
              <a:rPr lang="ja-JP" altLang="en-US" sz="1600" dirty="0" smtClean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側と認識合わせるように打合せ時間も結構増えました。</a:t>
            </a:r>
            <a:endParaRPr lang="en-US" sz="1600" dirty="0" smtClean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865245" y="3652520"/>
            <a:ext cx="1082675" cy="257238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en-US"/>
          </a:p>
        </p:txBody>
      </p:sp>
      <p:sp>
        <p:nvSpPr>
          <p:cNvPr id="3" name="Rectangle 2"/>
          <p:cNvSpPr/>
          <p:nvPr/>
        </p:nvSpPr>
        <p:spPr>
          <a:xfrm>
            <a:off x="6380480" y="3652520"/>
            <a:ext cx="503555" cy="257238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en-US"/>
          </a:p>
        </p:txBody>
      </p:sp>
      <p:sp>
        <p:nvSpPr>
          <p:cNvPr id="5" name="吹き出し: 線 4"/>
          <p:cNvSpPr/>
          <p:nvPr/>
        </p:nvSpPr>
        <p:spPr>
          <a:xfrm>
            <a:off x="7011035" y="3750945"/>
            <a:ext cx="4916170" cy="1356995"/>
          </a:xfrm>
          <a:prstGeom prst="borderCallout1">
            <a:avLst>
              <a:gd name="adj1" fmla="val 50656"/>
              <a:gd name="adj2" fmla="val 361"/>
              <a:gd name="adj3" fmla="val 103212"/>
              <a:gd name="adj4" fmla="val -2479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1600" dirty="0" smtClean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なお、詳細設計書を作成中、設計不備と設計誤り点が検知出来て、</a:t>
            </a:r>
            <a:r>
              <a:rPr lang="en-US" altLang="ja-JP" sz="1600" dirty="0" smtClean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JP</a:t>
            </a:r>
            <a:r>
              <a:rPr lang="ja-JP" altLang="en-US" sz="1600" dirty="0" smtClean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側に修正を提案しました。</a:t>
            </a:r>
            <a:endParaRPr lang="en-US" sz="1600" dirty="0" smtClean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960" y="955675"/>
            <a:ext cx="10365740" cy="5240020"/>
          </a:xfrm>
          <a:prstGeom prst="rect">
            <a:avLst/>
          </a:prstGeom>
        </p:spPr>
      </p:pic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F15E4-2CDD-6047-9F8A-F392A4BC9A1F}" type="slidenum">
              <a:rPr kumimoji="1" lang="ja-JP" altLang="en-US" smtClean="0">
                <a:latin typeface="Meiryo UI" panose="020B0604030504040204" pitchFamily="50" charset="-128"/>
                <a:ea typeface="Meiryo UI" panose="020B0604030504040204" pitchFamily="50" charset="-128"/>
              </a:rPr>
              <a:t>10</a:t>
            </a:fld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正方形/長方形 5"/>
          <p:cNvSpPr/>
          <p:nvPr/>
        </p:nvSpPr>
        <p:spPr>
          <a:xfrm>
            <a:off x="254000" y="275936"/>
            <a:ext cx="11938000" cy="601640"/>
          </a:xfrm>
          <a:prstGeom prst="rect">
            <a:avLst/>
          </a:prstGeom>
          <a:gradFill flip="none" rotWithShape="1">
            <a:gsLst>
              <a:gs pos="22000">
                <a:srgbClr val="82C651"/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l"/>
            <a:endParaRPr lang="ja-JP" altLang="en-US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タイトル 3"/>
          <p:cNvSpPr>
            <a:spLocks noGrp="1"/>
          </p:cNvSpPr>
          <p:nvPr>
            <p:ph type="title"/>
          </p:nvPr>
        </p:nvSpPr>
        <p:spPr>
          <a:xfrm>
            <a:off x="254001" y="276225"/>
            <a:ext cx="11128702" cy="609600"/>
          </a:xfrm>
        </p:spPr>
        <p:txBody>
          <a:bodyPr vert="horz" lIns="91440" tIns="180000" rIns="91440" bIns="45720" rtlCol="0" anchor="ctr">
            <a:noAutofit/>
          </a:bodyPr>
          <a:lstStyle/>
          <a:p>
            <a:r>
              <a:rPr lang="ja-JP" altLang="en-US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rPr>
              <a:t>詳細設計書作成工数分析</a:t>
            </a:r>
            <a:endParaRPr lang="en-US" altLang="ja-JP" dirty="0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eiryo UI" panose="020B0604030504040204" pitchFamily="50" charset="-128"/>
              <a:ea typeface="Meiryo UI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8" name="吹き出し: 線 4"/>
          <p:cNvSpPr/>
          <p:nvPr/>
        </p:nvSpPr>
        <p:spPr>
          <a:xfrm>
            <a:off x="4629150" y="2458720"/>
            <a:ext cx="4916170" cy="2233930"/>
          </a:xfrm>
          <a:prstGeom prst="borderCallout1">
            <a:avLst>
              <a:gd name="adj1" fmla="val 50656"/>
              <a:gd name="adj2" fmla="val 361"/>
              <a:gd name="adj3" fmla="val 103212"/>
              <a:gd name="adj4" fmla="val -2479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1600" dirty="0" smtClean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メリット</a:t>
            </a:r>
            <a:r>
              <a:rPr lang="en-US" sz="1600" dirty="0" smtClean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: </a:t>
            </a:r>
            <a:r>
              <a:rPr lang="ja-JP" altLang="en-US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多く</a:t>
            </a:r>
            <a:r>
              <a:rPr lang="ja-JP" altLang="en-US" sz="1600" dirty="0" smtClean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の課題を</a:t>
            </a:r>
            <a:r>
              <a:rPr lang="ja-JP" altLang="en-US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発見し、すぐ</a:t>
            </a:r>
            <a:r>
              <a:rPr lang="ja-JP" altLang="en-US" sz="1600" dirty="0" smtClean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に日</a:t>
            </a:r>
            <a:r>
              <a:rPr lang="ja-JP" altLang="en-US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本側</a:t>
            </a:r>
            <a:r>
              <a:rPr lang="ja-JP" altLang="en-US" sz="1600" dirty="0" smtClean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に連携して、修</a:t>
            </a:r>
            <a:r>
              <a:rPr lang="ja-JP" altLang="en-US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正を提案しました</a:t>
            </a:r>
            <a:r>
              <a:rPr lang="ja-JP" altLang="en-US" sz="1600" dirty="0" smtClean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。</a:t>
            </a:r>
            <a:endParaRPr lang="en-US" altLang="ja-JP" sz="1600" dirty="0" smtClean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1600" dirty="0" smtClean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デメリット</a:t>
            </a:r>
            <a:r>
              <a:rPr lang="en-US" sz="1600" dirty="0" smtClean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: </a:t>
            </a:r>
            <a:r>
              <a:rPr lang="ja-JP" altLang="en-US" sz="1600" dirty="0" smtClean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予定工数に対して、実績工数が多く発生しました。</a:t>
            </a:r>
            <a:endParaRPr lang="en-US" sz="1600" dirty="0" smtClean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F15E4-2CDD-6047-9F8A-F392A4BC9A1F}" type="slidenum">
              <a:rPr kumimoji="1" lang="ja-JP" altLang="en-US" smtClean="0">
                <a:latin typeface="Meiryo UI" panose="020B0604030504040204" pitchFamily="50" charset="-128"/>
                <a:ea typeface="Meiryo UI" panose="020B0604030504040204" pitchFamily="50" charset="-128"/>
              </a:rPr>
              <a:t>11</a:t>
            </a:fld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正方形/長方形 5"/>
          <p:cNvSpPr/>
          <p:nvPr/>
        </p:nvSpPr>
        <p:spPr>
          <a:xfrm>
            <a:off x="254000" y="275936"/>
            <a:ext cx="11938000" cy="601640"/>
          </a:xfrm>
          <a:prstGeom prst="rect">
            <a:avLst/>
          </a:prstGeom>
          <a:gradFill flip="none" rotWithShape="1">
            <a:gsLst>
              <a:gs pos="22000">
                <a:srgbClr val="82C651"/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l"/>
            <a:endParaRPr lang="ja-JP" altLang="en-US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タイトル 3"/>
          <p:cNvSpPr>
            <a:spLocks noGrp="1"/>
          </p:cNvSpPr>
          <p:nvPr>
            <p:ph type="title"/>
          </p:nvPr>
        </p:nvSpPr>
        <p:spPr>
          <a:xfrm>
            <a:off x="254001" y="276225"/>
            <a:ext cx="11128702" cy="609600"/>
          </a:xfrm>
        </p:spPr>
        <p:txBody>
          <a:bodyPr vert="horz" lIns="91440" tIns="180000" rIns="91440" bIns="45720" rtlCol="0" anchor="ctr">
            <a:noAutofit/>
          </a:bodyPr>
          <a:lstStyle/>
          <a:p>
            <a:r>
              <a:rPr lang="ja-JP" altLang="en-US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rPr>
              <a:t>詳細設計書作成工数分析</a:t>
            </a:r>
            <a:endParaRPr lang="en-US" altLang="ja-JP" dirty="0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eiryo UI" panose="020B0604030504040204" pitchFamily="50" charset="-128"/>
              <a:ea typeface="Meiryo UI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8" name="吹き出し: 線 4"/>
          <p:cNvSpPr/>
          <p:nvPr/>
        </p:nvSpPr>
        <p:spPr>
          <a:xfrm>
            <a:off x="4629150" y="2458720"/>
            <a:ext cx="4916170" cy="2233930"/>
          </a:xfrm>
          <a:prstGeom prst="borderCallout1">
            <a:avLst>
              <a:gd name="adj1" fmla="val 50656"/>
              <a:gd name="adj2" fmla="val 361"/>
              <a:gd name="adj3" fmla="val 103212"/>
              <a:gd name="adj4" fmla="val -2479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1600" dirty="0" smtClean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メリット</a:t>
            </a:r>
            <a:r>
              <a:rPr lang="en-US" sz="1600" dirty="0" smtClean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: </a:t>
            </a:r>
            <a:r>
              <a:rPr lang="ja-JP" altLang="en-US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多く</a:t>
            </a:r>
            <a:r>
              <a:rPr lang="ja-JP" altLang="en-US" sz="1600" dirty="0" smtClean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の課題を</a:t>
            </a:r>
            <a:r>
              <a:rPr lang="ja-JP" altLang="en-US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発見し、すぐ</a:t>
            </a:r>
            <a:r>
              <a:rPr lang="ja-JP" altLang="en-US" sz="1600" dirty="0" smtClean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に日</a:t>
            </a:r>
            <a:r>
              <a:rPr lang="ja-JP" altLang="en-US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本側</a:t>
            </a:r>
            <a:r>
              <a:rPr lang="ja-JP" altLang="en-US" sz="1600" dirty="0" smtClean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に連携して、修</a:t>
            </a:r>
            <a:r>
              <a:rPr lang="ja-JP" altLang="en-US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正を提案しました</a:t>
            </a:r>
            <a:r>
              <a:rPr lang="ja-JP" altLang="en-US" sz="1600" dirty="0" smtClean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。</a:t>
            </a:r>
            <a:endParaRPr lang="en-US" altLang="ja-JP" sz="1600" dirty="0" smtClean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1600" dirty="0" smtClean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デメリット</a:t>
            </a:r>
            <a:r>
              <a:rPr lang="en-US" sz="1600" dirty="0" smtClean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: </a:t>
            </a:r>
            <a:r>
              <a:rPr lang="ja-JP" altLang="en-US" sz="1600" dirty="0" smtClean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予定工数に対して、実績工数が多く発生しました。</a:t>
            </a:r>
            <a:endParaRPr lang="en-US" sz="1600" dirty="0" smtClean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275" y="960120"/>
            <a:ext cx="9267825" cy="5350510"/>
          </a:xfrm>
          <a:prstGeom prst="rect">
            <a:avLst/>
          </a:prstGeom>
        </p:spPr>
      </p:pic>
      <p:sp>
        <p:nvSpPr>
          <p:cNvPr id="5" name="吹き出し: 線 4"/>
          <p:cNvSpPr/>
          <p:nvPr/>
        </p:nvSpPr>
        <p:spPr>
          <a:xfrm>
            <a:off x="5241290" y="2821305"/>
            <a:ext cx="4916170" cy="1356995"/>
          </a:xfrm>
          <a:prstGeom prst="borderCallout1">
            <a:avLst>
              <a:gd name="adj1" fmla="val 50656"/>
              <a:gd name="adj2" fmla="val 361"/>
              <a:gd name="adj3" fmla="val 103212"/>
              <a:gd name="adj4" fmla="val -2479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 smtClean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実際</a:t>
            </a:r>
            <a:r>
              <a:rPr lang="ja-JP" altLang="en-US" sz="1600" dirty="0" smtClean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の</a:t>
            </a:r>
            <a:r>
              <a:rPr lang="zh-CN" altLang="en-US" sz="1600" dirty="0" smtClean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工数</a:t>
            </a:r>
            <a:r>
              <a:rPr lang="ja-JP" altLang="en-US" sz="1600" dirty="0" smtClean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は</a:t>
            </a:r>
            <a:r>
              <a:rPr lang="zh-CN" altLang="en-US" sz="1600" dirty="0" smtClean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当初</a:t>
            </a:r>
            <a:r>
              <a:rPr lang="ja-JP" altLang="en-US" sz="1600" dirty="0" smtClean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の</a:t>
            </a:r>
            <a:r>
              <a:rPr lang="zh-CN" altLang="en-US" sz="1600" dirty="0" smtClean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見積</a:t>
            </a:r>
            <a:r>
              <a:rPr lang="ja-JP" altLang="en-US" sz="1600" dirty="0" smtClean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もりより</a:t>
            </a:r>
            <a:r>
              <a:rPr lang="zh-CN" altLang="en-US" sz="1600" dirty="0" smtClean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大幅</a:t>
            </a:r>
            <a:r>
              <a:rPr lang="ja-JP" altLang="en-US" sz="1600" dirty="0" smtClean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に</a:t>
            </a:r>
            <a:r>
              <a:rPr lang="zh-CN" altLang="en-US" sz="1600" dirty="0" smtClean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増加</a:t>
            </a:r>
            <a:r>
              <a:rPr lang="ja-JP" altLang="en-US" sz="1600" dirty="0" smtClean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しています</a:t>
            </a:r>
            <a:r>
              <a:rPr lang="zh-CN" altLang="en-US" sz="1600" dirty="0" smtClean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F15E4-2CDD-6047-9F8A-F392A4BC9A1F}" type="slidenum">
              <a:rPr kumimoji="1" lang="ja-JP" altLang="en-US" smtClean="0">
                <a:latin typeface="Meiryo UI" panose="020B0604030504040204" pitchFamily="50" charset="-128"/>
                <a:ea typeface="Meiryo UI" panose="020B0604030504040204" pitchFamily="50" charset="-128"/>
              </a:rPr>
              <a:t>12</a:t>
            </a:fld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正方形/長方形 5"/>
          <p:cNvSpPr/>
          <p:nvPr/>
        </p:nvSpPr>
        <p:spPr>
          <a:xfrm>
            <a:off x="254000" y="275936"/>
            <a:ext cx="11938000" cy="601640"/>
          </a:xfrm>
          <a:prstGeom prst="rect">
            <a:avLst/>
          </a:prstGeom>
          <a:gradFill flip="none" rotWithShape="1">
            <a:gsLst>
              <a:gs pos="22000">
                <a:srgbClr val="82C651"/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l"/>
            <a:endParaRPr lang="ja-JP" altLang="en-US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タイトル 3"/>
          <p:cNvSpPr>
            <a:spLocks noGrp="1"/>
          </p:cNvSpPr>
          <p:nvPr>
            <p:ph type="title"/>
          </p:nvPr>
        </p:nvSpPr>
        <p:spPr>
          <a:xfrm>
            <a:off x="254001" y="276225"/>
            <a:ext cx="11128702" cy="609600"/>
          </a:xfrm>
        </p:spPr>
        <p:txBody>
          <a:bodyPr vert="horz" lIns="91440" tIns="180000" rIns="91440" bIns="45720" rtlCol="0" anchor="ctr">
            <a:noAutofit/>
          </a:bodyPr>
          <a:lstStyle/>
          <a:p>
            <a:r>
              <a:rPr lang="ja-JP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rPr>
              <a:t>実装工数分析</a:t>
            </a:r>
            <a:endParaRPr lang="en-US" altLang="ja-JP" dirty="0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eiryo UI" panose="020B0604030504040204" pitchFamily="50" charset="-128"/>
              <a:ea typeface="Meiryo UI" panose="020B0604030504040204" pitchFamily="50" charset="-128"/>
              <a:cs typeface="メイリオ" panose="020B0604030504040204" pitchFamily="50" charset="-128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00" y="1069340"/>
            <a:ext cx="11690985" cy="47186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F15E4-2CDD-6047-9F8A-F392A4BC9A1F}" type="slidenum">
              <a:rPr kumimoji="1" lang="ja-JP" altLang="en-US" smtClean="0">
                <a:latin typeface="Meiryo UI" panose="020B0604030504040204" pitchFamily="50" charset="-128"/>
                <a:ea typeface="Meiryo UI" panose="020B0604030504040204" pitchFamily="50" charset="-128"/>
              </a:rPr>
              <a:t>13</a:t>
            </a:fld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正方形/長方形 5"/>
          <p:cNvSpPr/>
          <p:nvPr/>
        </p:nvSpPr>
        <p:spPr>
          <a:xfrm>
            <a:off x="254000" y="275936"/>
            <a:ext cx="11938000" cy="601640"/>
          </a:xfrm>
          <a:prstGeom prst="rect">
            <a:avLst/>
          </a:prstGeom>
          <a:gradFill flip="none" rotWithShape="1">
            <a:gsLst>
              <a:gs pos="22000">
                <a:srgbClr val="82C651"/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l"/>
            <a:endParaRPr lang="ja-JP" altLang="en-US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タイトル 3"/>
          <p:cNvSpPr>
            <a:spLocks noGrp="1"/>
          </p:cNvSpPr>
          <p:nvPr>
            <p:ph type="title"/>
          </p:nvPr>
        </p:nvSpPr>
        <p:spPr>
          <a:xfrm>
            <a:off x="254001" y="276225"/>
            <a:ext cx="11128702" cy="609600"/>
          </a:xfrm>
        </p:spPr>
        <p:txBody>
          <a:bodyPr vert="horz" lIns="91440" tIns="180000" rIns="91440" bIns="45720" rtlCol="0" anchor="ctr">
            <a:noAutofit/>
          </a:bodyPr>
          <a:lstStyle/>
          <a:p>
            <a:r>
              <a:rPr lang="ja-JP" altLang="en-US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rPr>
              <a:t>実装工数分析</a:t>
            </a:r>
            <a:endParaRPr lang="en-US" altLang="ja-JP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eiryo UI" panose="020B0604030504040204" pitchFamily="50" charset="-128"/>
              <a:ea typeface="Meiryo UI" panose="020B0604030504040204" pitchFamily="50" charset="-128"/>
              <a:cs typeface="メイリオ" panose="020B0604030504040204" pitchFamily="50" charset="-128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00" y="1069340"/>
            <a:ext cx="11690985" cy="4718685"/>
          </a:xfrm>
          <a:prstGeom prst="rect">
            <a:avLst/>
          </a:prstGeom>
        </p:spPr>
      </p:pic>
      <p:sp>
        <p:nvSpPr>
          <p:cNvPr id="8" name="吹き出し: 線 4"/>
          <p:cNvSpPr/>
          <p:nvPr/>
        </p:nvSpPr>
        <p:spPr>
          <a:xfrm>
            <a:off x="5114925" y="2522855"/>
            <a:ext cx="4814570" cy="2073910"/>
          </a:xfrm>
          <a:prstGeom prst="borderCallout1">
            <a:avLst>
              <a:gd name="adj1" fmla="val 51943"/>
              <a:gd name="adj2" fmla="val -593"/>
              <a:gd name="adj3" fmla="val 89211"/>
              <a:gd name="adj4" fmla="val -17027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JP" sz="1600" dirty="0" smtClean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1</a:t>
            </a:r>
            <a:r>
              <a:rPr kumimoji="1" lang="ja-JP" altLang="en-US" sz="1600" dirty="0" smtClean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機能の平均工数に対して、</a:t>
            </a:r>
            <a:r>
              <a:rPr kumimoji="1" lang="en-US" altLang="ja-JP" sz="1600" dirty="0" smtClean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PSY</a:t>
            </a:r>
            <a:r>
              <a:rPr kumimoji="1" lang="ja-JP" altLang="en-US" sz="1600" dirty="0" smtClean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の実装工数（機能単位）がかなり多いです。</a:t>
            </a:r>
            <a:endParaRPr kumimoji="1" lang="en-US" altLang="ja-JP" sz="16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sz="1600" dirty="0" smtClean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原因</a:t>
            </a:r>
            <a:r>
              <a:rPr kumimoji="1" lang="en-US" altLang="ja-JP" sz="1600" dirty="0" smtClean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:</a:t>
            </a:r>
            <a:endParaRPr kumimoji="1" lang="en-US" altLang="ja-JP" sz="16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kumimoji="1" lang="en-US" altLang="ja-JP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  - </a:t>
            </a:r>
            <a:r>
              <a:rPr kumimoji="1" lang="ja-JP" altLang="en-US" sz="1600" dirty="0" smtClean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設計課題のため、設計修正発生</a:t>
            </a:r>
            <a:endParaRPr kumimoji="1" lang="en-US" altLang="ja-JP" sz="1600" dirty="0" smtClean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ja-JP" altLang="en-US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lang="ja-JP" altLang="en-US" sz="1600" dirty="0" smtClean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lang="en-US" altLang="ja-JP" sz="1600" dirty="0" smtClean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-</a:t>
            </a:r>
            <a:r>
              <a:rPr lang="en-US" altLang="ja-JP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1</a:t>
            </a:r>
            <a:r>
              <a:rPr lang="ja-JP" altLang="en-US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機</a:t>
            </a:r>
            <a:r>
              <a:rPr lang="ja-JP" altLang="en-US" sz="1600" dirty="0" smtClean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能で業務が多く</a:t>
            </a:r>
            <a:endParaRPr lang="en-US" altLang="ja-JP" sz="16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kumimoji="1" lang="en-US" altLang="ja-JP" sz="1600" dirty="0" smtClean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  </a:t>
            </a:r>
            <a:r>
              <a:rPr kumimoji="1" lang="en-US" altLang="ja-JP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- </a:t>
            </a:r>
            <a:r>
              <a:rPr kumimoji="1" lang="ja-JP" altLang="en-US" sz="1600" dirty="0" smtClean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仕様変更</a:t>
            </a:r>
            <a:endParaRPr kumimoji="1" lang="en-US" altLang="ja-JP" sz="16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indent="0">
              <a:buFont typeface="Arial" panose="020B0604020202020204" pitchFamily="34" charset="0"/>
              <a:buNone/>
            </a:pPr>
            <a:endParaRPr kumimoji="1" lang="en-US" altLang="ja-JP" sz="16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239135" y="3514725"/>
            <a:ext cx="1082675" cy="91630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en-US"/>
          </a:p>
        </p:txBody>
      </p:sp>
      <p:sp>
        <p:nvSpPr>
          <p:cNvPr id="5" name="Rectangle 4"/>
          <p:cNvSpPr/>
          <p:nvPr/>
        </p:nvSpPr>
        <p:spPr>
          <a:xfrm>
            <a:off x="3239135" y="4558030"/>
            <a:ext cx="1082675" cy="109093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F15E4-2CDD-6047-9F8A-F392A4BC9A1F}" type="slidenum">
              <a:rPr kumimoji="1" lang="ja-JP" altLang="en-US" smtClean="0">
                <a:latin typeface="Meiryo UI" panose="020B0604030504040204" pitchFamily="50" charset="-128"/>
                <a:ea typeface="Meiryo UI" panose="020B0604030504040204" pitchFamily="50" charset="-128"/>
              </a:rPr>
              <a:t>14</a:t>
            </a:fld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正方形/長方形 5"/>
          <p:cNvSpPr/>
          <p:nvPr/>
        </p:nvSpPr>
        <p:spPr>
          <a:xfrm>
            <a:off x="254000" y="275936"/>
            <a:ext cx="11938000" cy="601640"/>
          </a:xfrm>
          <a:prstGeom prst="rect">
            <a:avLst/>
          </a:prstGeom>
          <a:gradFill flip="none" rotWithShape="1">
            <a:gsLst>
              <a:gs pos="22000">
                <a:srgbClr val="82C651"/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l"/>
            <a:endParaRPr lang="ja-JP" altLang="en-US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タイトル 3"/>
          <p:cNvSpPr>
            <a:spLocks noGrp="1"/>
          </p:cNvSpPr>
          <p:nvPr>
            <p:ph type="title"/>
          </p:nvPr>
        </p:nvSpPr>
        <p:spPr>
          <a:xfrm>
            <a:off x="254001" y="276225"/>
            <a:ext cx="11128702" cy="609600"/>
          </a:xfrm>
        </p:spPr>
        <p:txBody>
          <a:bodyPr vert="horz" lIns="91440" tIns="180000" rIns="91440" bIns="45720" rtlCol="0" anchor="ctr">
            <a:noAutofit/>
          </a:bodyPr>
          <a:lstStyle/>
          <a:p>
            <a:r>
              <a:rPr lang="ja-JP" altLang="en-US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rPr>
              <a:t>実装工数分析</a:t>
            </a:r>
            <a:endParaRPr lang="en-US" altLang="ja-JP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eiryo UI" panose="020B0604030504040204" pitchFamily="50" charset="-128"/>
              <a:ea typeface="Meiryo UI" panose="020B0604030504040204" pitchFamily="50" charset="-128"/>
              <a:cs typeface="メイリオ" panose="020B0604030504040204" pitchFamily="50" charset="-128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00" y="1069340"/>
            <a:ext cx="11690985" cy="4718685"/>
          </a:xfrm>
          <a:prstGeom prst="rect">
            <a:avLst/>
          </a:prstGeom>
        </p:spPr>
      </p:pic>
      <p:sp>
        <p:nvSpPr>
          <p:cNvPr id="8" name="吹き出し: 線 4"/>
          <p:cNvSpPr/>
          <p:nvPr/>
        </p:nvSpPr>
        <p:spPr>
          <a:xfrm>
            <a:off x="6385560" y="2484120"/>
            <a:ext cx="4814570" cy="2073910"/>
          </a:xfrm>
          <a:prstGeom prst="borderCallout1">
            <a:avLst>
              <a:gd name="adj1" fmla="val 51943"/>
              <a:gd name="adj2" fmla="val -593"/>
              <a:gd name="adj3" fmla="val 89211"/>
              <a:gd name="adj4" fmla="val -17027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sz="1600" dirty="0" smtClean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基本的に実装の安易度が高くないですが、設計変更でやり直し工数とレビュー工数が発生しています。</a:t>
            </a:r>
            <a:endParaRPr kumimoji="1" lang="en-US" altLang="ja-JP" sz="16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239135" y="3514725"/>
            <a:ext cx="1082675" cy="91630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en-US"/>
          </a:p>
        </p:txBody>
      </p:sp>
      <p:sp>
        <p:nvSpPr>
          <p:cNvPr id="5" name="Rectangle 4"/>
          <p:cNvSpPr/>
          <p:nvPr/>
        </p:nvSpPr>
        <p:spPr>
          <a:xfrm>
            <a:off x="3239135" y="4558030"/>
            <a:ext cx="1082675" cy="109093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7720" y="930910"/>
            <a:ext cx="7481570" cy="5346700"/>
          </a:xfrm>
          <a:prstGeom prst="rect">
            <a:avLst/>
          </a:prstGeom>
        </p:spPr>
      </p:pic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F15E4-2CDD-6047-9F8A-F392A4BC9A1F}" type="slidenum">
              <a:rPr kumimoji="1" lang="ja-JP" altLang="en-US" smtClean="0">
                <a:latin typeface="Meiryo UI" panose="020B0604030504040204" pitchFamily="50" charset="-128"/>
                <a:ea typeface="Meiryo UI" panose="020B0604030504040204" pitchFamily="50" charset="-128"/>
              </a:rPr>
              <a:t>15</a:t>
            </a:fld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正方形/長方形 5"/>
          <p:cNvSpPr/>
          <p:nvPr/>
        </p:nvSpPr>
        <p:spPr>
          <a:xfrm>
            <a:off x="254000" y="275936"/>
            <a:ext cx="11938000" cy="601640"/>
          </a:xfrm>
          <a:prstGeom prst="rect">
            <a:avLst/>
          </a:prstGeom>
          <a:gradFill flip="none" rotWithShape="1">
            <a:gsLst>
              <a:gs pos="22000">
                <a:srgbClr val="82C651"/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l"/>
            <a:endParaRPr lang="ja-JP" altLang="en-US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タイトル 3"/>
          <p:cNvSpPr>
            <a:spLocks noGrp="1"/>
          </p:cNvSpPr>
          <p:nvPr>
            <p:ph type="title"/>
          </p:nvPr>
        </p:nvSpPr>
        <p:spPr>
          <a:xfrm>
            <a:off x="254001" y="276225"/>
            <a:ext cx="11128702" cy="609600"/>
          </a:xfrm>
        </p:spPr>
        <p:txBody>
          <a:bodyPr vert="horz" lIns="91440" tIns="180000" rIns="91440" bIns="45720" rtlCol="0" anchor="ctr">
            <a:noAutofit/>
          </a:bodyPr>
          <a:lstStyle/>
          <a:p>
            <a:r>
              <a:rPr lang="ja-JP" altLang="en-US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rPr>
              <a:t>実装工数分析</a:t>
            </a:r>
            <a:endParaRPr lang="en-US" altLang="ja-JP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eiryo UI" panose="020B0604030504040204" pitchFamily="50" charset="-128"/>
              <a:ea typeface="Meiryo UI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8" name="吹き出し: 線 4"/>
          <p:cNvSpPr/>
          <p:nvPr/>
        </p:nvSpPr>
        <p:spPr>
          <a:xfrm>
            <a:off x="4553585" y="2750820"/>
            <a:ext cx="4814570" cy="2073910"/>
          </a:xfrm>
          <a:prstGeom prst="borderCallout1">
            <a:avLst>
              <a:gd name="adj1" fmla="val 51943"/>
              <a:gd name="adj2" fmla="val -593"/>
              <a:gd name="adj3" fmla="val 89211"/>
              <a:gd name="adj4" fmla="val -17027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設計変更</a:t>
            </a:r>
            <a:r>
              <a:rPr kumimoji="1" lang="ja-JP" altLang="en-US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の</a:t>
            </a:r>
            <a:r>
              <a:rPr kumimoji="1" lang="zh-CN" altLang="en-US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影響</a:t>
            </a:r>
            <a:r>
              <a:rPr kumimoji="1" lang="ja-JP" altLang="en-US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により</a:t>
            </a:r>
            <a:r>
              <a:rPr kumimoji="1" lang="zh-CN" altLang="en-US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、実際</a:t>
            </a:r>
            <a:r>
              <a:rPr kumimoji="1" lang="ja-JP" altLang="en-US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の</a:t>
            </a:r>
            <a:r>
              <a:rPr kumimoji="1" lang="zh-CN" altLang="en-US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工数</a:t>
            </a:r>
            <a:r>
              <a:rPr kumimoji="1" lang="ja-JP" altLang="en-US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が</a:t>
            </a:r>
            <a:r>
              <a:rPr kumimoji="1" lang="zh-CN" altLang="en-US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大幅</a:t>
            </a:r>
            <a:r>
              <a:rPr kumimoji="1" lang="ja-JP" altLang="en-US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に</a:t>
            </a:r>
            <a:r>
              <a:rPr kumimoji="1" lang="zh-CN" altLang="en-US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増加</a:t>
            </a:r>
            <a:r>
              <a:rPr kumimoji="1" lang="ja-JP" altLang="en-US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しています</a:t>
            </a:r>
            <a:r>
              <a:rPr kumimoji="1" lang="zh-CN" altLang="en-US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00" y="1000760"/>
            <a:ext cx="11146790" cy="5241925"/>
          </a:xfrm>
          <a:prstGeom prst="rect">
            <a:avLst/>
          </a:prstGeom>
        </p:spPr>
      </p:pic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F15E4-2CDD-6047-9F8A-F392A4BC9A1F}" type="slidenum">
              <a:rPr kumimoji="1" lang="ja-JP" altLang="en-US" smtClean="0">
                <a:latin typeface="Meiryo UI" panose="020B0604030504040204" pitchFamily="50" charset="-128"/>
                <a:ea typeface="Meiryo UI" panose="020B0604030504040204" pitchFamily="50" charset="-128"/>
              </a:rPr>
              <a:t>16</a:t>
            </a:fld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正方形/長方形 5"/>
          <p:cNvSpPr/>
          <p:nvPr/>
        </p:nvSpPr>
        <p:spPr>
          <a:xfrm>
            <a:off x="254000" y="275936"/>
            <a:ext cx="11938000" cy="601640"/>
          </a:xfrm>
          <a:prstGeom prst="rect">
            <a:avLst/>
          </a:prstGeom>
          <a:gradFill flip="none" rotWithShape="1">
            <a:gsLst>
              <a:gs pos="22000">
                <a:srgbClr val="82C651"/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l"/>
            <a:endParaRPr lang="ja-JP" altLang="en-US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タイトル 3"/>
          <p:cNvSpPr>
            <a:spLocks noGrp="1"/>
          </p:cNvSpPr>
          <p:nvPr>
            <p:ph type="title"/>
          </p:nvPr>
        </p:nvSpPr>
        <p:spPr>
          <a:xfrm>
            <a:off x="254001" y="276225"/>
            <a:ext cx="11128702" cy="609600"/>
          </a:xfrm>
        </p:spPr>
        <p:txBody>
          <a:bodyPr vert="horz" lIns="91440" tIns="180000" rIns="91440" bIns="45720" rtlCol="0" anchor="ctr">
            <a:noAutofit/>
          </a:bodyPr>
          <a:lstStyle/>
          <a:p>
            <a:r>
              <a:rPr lang="ja-JP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rPr>
              <a:t>単体テスト仕様書作成工数分式</a:t>
            </a:r>
            <a:endParaRPr lang="en-US" altLang="ja-JP" dirty="0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eiryo UI" panose="020B0604030504040204" pitchFamily="50" charset="-128"/>
              <a:ea typeface="Meiryo UI" panose="020B0604030504040204" pitchFamily="50" charset="-128"/>
              <a:cs typeface="メイリオ" panose="020B0604030504040204" pitchFamily="50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00" y="1000760"/>
            <a:ext cx="11146790" cy="5241925"/>
          </a:xfrm>
          <a:prstGeom prst="rect">
            <a:avLst/>
          </a:prstGeom>
        </p:spPr>
      </p:pic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F15E4-2CDD-6047-9F8A-F392A4BC9A1F}" type="slidenum">
              <a:rPr kumimoji="1" lang="ja-JP" altLang="en-US" smtClean="0">
                <a:latin typeface="Meiryo UI" panose="020B0604030504040204" pitchFamily="50" charset="-128"/>
                <a:ea typeface="Meiryo UI" panose="020B0604030504040204" pitchFamily="50" charset="-128"/>
              </a:rPr>
              <a:t>17</a:t>
            </a:fld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正方形/長方形 5"/>
          <p:cNvSpPr/>
          <p:nvPr/>
        </p:nvSpPr>
        <p:spPr>
          <a:xfrm>
            <a:off x="254000" y="275936"/>
            <a:ext cx="11938000" cy="601640"/>
          </a:xfrm>
          <a:prstGeom prst="rect">
            <a:avLst/>
          </a:prstGeom>
          <a:gradFill flip="none" rotWithShape="1">
            <a:gsLst>
              <a:gs pos="22000">
                <a:srgbClr val="82C651"/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l"/>
            <a:endParaRPr lang="ja-JP" altLang="en-US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タイトル 3"/>
          <p:cNvSpPr>
            <a:spLocks noGrp="1"/>
          </p:cNvSpPr>
          <p:nvPr>
            <p:ph type="title"/>
          </p:nvPr>
        </p:nvSpPr>
        <p:spPr>
          <a:xfrm>
            <a:off x="254001" y="276225"/>
            <a:ext cx="11128702" cy="609600"/>
          </a:xfrm>
        </p:spPr>
        <p:txBody>
          <a:bodyPr vert="horz" lIns="91440" tIns="180000" rIns="91440" bIns="45720" rtlCol="0" anchor="ctr">
            <a:noAutofit/>
          </a:bodyPr>
          <a:lstStyle/>
          <a:p>
            <a:r>
              <a:rPr lang="ja-JP" altLang="en-US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rPr>
              <a:t>単体テスト仕様書作成工数分式</a:t>
            </a:r>
            <a:endParaRPr lang="en-US" altLang="ja-JP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eiryo UI" panose="020B0604030504040204" pitchFamily="50" charset="-128"/>
              <a:ea typeface="Meiryo UI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8" name="吹き出し: 線 4"/>
          <p:cNvSpPr/>
          <p:nvPr/>
        </p:nvSpPr>
        <p:spPr>
          <a:xfrm>
            <a:off x="5783580" y="3142615"/>
            <a:ext cx="5275580" cy="1141095"/>
          </a:xfrm>
          <a:prstGeom prst="borderCallout1">
            <a:avLst>
              <a:gd name="adj1" fmla="val 48803"/>
              <a:gd name="adj2" fmla="val -204"/>
              <a:gd name="adj3" fmla="val 99165"/>
              <a:gd name="adj4" fmla="val -29959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1600" dirty="0" smtClean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単体テスト仕様書作成工数について、設計変更の機能がより多く発生しました。</a:t>
            </a:r>
            <a:endParaRPr lang="en-US" sz="1600" dirty="0" smtClean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552190" y="2032635"/>
            <a:ext cx="650240" cy="423164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00" y="1000760"/>
            <a:ext cx="11146790" cy="5241925"/>
          </a:xfrm>
          <a:prstGeom prst="rect">
            <a:avLst/>
          </a:prstGeom>
        </p:spPr>
      </p:pic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F15E4-2CDD-6047-9F8A-F392A4BC9A1F}" type="slidenum">
              <a:rPr kumimoji="1" lang="ja-JP" altLang="en-US" smtClean="0">
                <a:latin typeface="Meiryo UI" panose="020B0604030504040204" pitchFamily="50" charset="-128"/>
                <a:ea typeface="Meiryo UI" panose="020B0604030504040204" pitchFamily="50" charset="-128"/>
              </a:rPr>
              <a:t>18</a:t>
            </a:fld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正方形/長方形 5"/>
          <p:cNvSpPr/>
          <p:nvPr/>
        </p:nvSpPr>
        <p:spPr>
          <a:xfrm>
            <a:off x="254000" y="275936"/>
            <a:ext cx="11938000" cy="601640"/>
          </a:xfrm>
          <a:prstGeom prst="rect">
            <a:avLst/>
          </a:prstGeom>
          <a:gradFill flip="none" rotWithShape="1">
            <a:gsLst>
              <a:gs pos="22000">
                <a:srgbClr val="82C651"/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l"/>
            <a:endParaRPr lang="ja-JP" altLang="en-US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タイトル 3"/>
          <p:cNvSpPr>
            <a:spLocks noGrp="1"/>
          </p:cNvSpPr>
          <p:nvPr>
            <p:ph type="title"/>
          </p:nvPr>
        </p:nvSpPr>
        <p:spPr>
          <a:xfrm>
            <a:off x="254001" y="276225"/>
            <a:ext cx="11128702" cy="609600"/>
          </a:xfrm>
        </p:spPr>
        <p:txBody>
          <a:bodyPr vert="horz" lIns="91440" tIns="180000" rIns="91440" bIns="45720" rtlCol="0" anchor="ctr">
            <a:noAutofit/>
          </a:bodyPr>
          <a:lstStyle/>
          <a:p>
            <a:r>
              <a:rPr lang="ja-JP" altLang="en-US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rPr>
              <a:t>単体テスト仕様書作成工数分式</a:t>
            </a:r>
            <a:endParaRPr lang="en-US" altLang="ja-JP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eiryo UI" panose="020B0604030504040204" pitchFamily="50" charset="-128"/>
              <a:ea typeface="Meiryo UI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8" name="吹き出し: 線 4"/>
          <p:cNvSpPr/>
          <p:nvPr/>
        </p:nvSpPr>
        <p:spPr>
          <a:xfrm>
            <a:off x="6445885" y="3098800"/>
            <a:ext cx="5275580" cy="1141095"/>
          </a:xfrm>
          <a:prstGeom prst="borderCallout1">
            <a:avLst>
              <a:gd name="adj1" fmla="val 49638"/>
              <a:gd name="adj2" fmla="val -36"/>
              <a:gd name="adj3" fmla="val 95158"/>
              <a:gd name="adj4" fmla="val -2912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ja-JP" altLang="en-US" sz="1600" dirty="0" smtClean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単体項目作成は　</a:t>
            </a:r>
            <a:r>
              <a:rPr kumimoji="0" lang="en-US" altLang="en-US" sz="1600" b="1" dirty="0" err="1" smtClean="0">
                <a:solidFill>
                  <a:schemeClr val="tx1"/>
                </a:solidFill>
                <a:latin typeface="Arial" panose="020B0604020202020204" pitchFamily="34" charset="0"/>
              </a:rPr>
              <a:t>設計書で要求されている</a:t>
            </a:r>
            <a:r>
              <a:rPr kumimoji="0" lang="en-US" altLang="en-US" sz="1600" b="1" dirty="0" err="1">
                <a:solidFill>
                  <a:schemeClr val="tx1"/>
                </a:solidFill>
                <a:latin typeface="Arial" panose="020B0604020202020204" pitchFamily="34" charset="0"/>
              </a:rPr>
              <a:t>UIおよび業務仕様を基に作成する方針です</a:t>
            </a:r>
            <a:r>
              <a:rPr kumimoji="0" lang="en-US" altLang="en-US" sz="1600" b="1" dirty="0">
                <a:solidFill>
                  <a:schemeClr val="tx1"/>
                </a:solidFill>
                <a:latin typeface="Arial" panose="020B0604020202020204" pitchFamily="34" charset="0"/>
              </a:rPr>
              <a:t>。</a:t>
            </a:r>
            <a:endParaRPr kumimoji="0" lang="en-US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ja-JP" altLang="en-US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単体項目作成</a:t>
            </a:r>
            <a:r>
              <a:rPr lang="ja-JP" altLang="en-US" sz="1600" dirty="0" smtClean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は　</a:t>
            </a:r>
            <a:r>
              <a:rPr kumimoji="0" lang="en-US" altLang="en-US" sz="1600" b="1" dirty="0" err="1" smtClean="0">
                <a:solidFill>
                  <a:schemeClr val="tx1"/>
                </a:solidFill>
                <a:latin typeface="Arial" panose="020B0604020202020204" pitchFamily="34" charset="0"/>
              </a:rPr>
              <a:t>Dataflow</a:t>
            </a:r>
            <a:r>
              <a:rPr kumimoji="0" lang="en-US" altLang="en-US" sz="1600" b="1" dirty="0" err="1">
                <a:solidFill>
                  <a:schemeClr val="tx1"/>
                </a:solidFill>
                <a:latin typeface="Arial" panose="020B0604020202020204" pitchFamily="34" charset="0"/>
              </a:rPr>
              <a:t>ファイルを基に作成する方針です</a:t>
            </a:r>
            <a:endParaRPr lang="en-US" sz="1600" dirty="0" smtClean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979035" y="2032635"/>
            <a:ext cx="1322070" cy="423164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en-US"/>
          </a:p>
        </p:txBody>
      </p:sp>
      <p:sp>
        <p:nvSpPr>
          <p:cNvPr id="12" name="Rectangle 5"/>
          <p:cNvSpPr>
            <a:spLocks noChangeArrowheads="1"/>
          </p:cNvSpPr>
          <p:nvPr/>
        </p:nvSpPr>
        <p:spPr bwMode="auto">
          <a:xfrm>
            <a:off x="0" y="-184666"/>
            <a:ext cx="49725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。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295" y="969010"/>
            <a:ext cx="8234045" cy="5261610"/>
          </a:xfrm>
          <a:prstGeom prst="rect">
            <a:avLst/>
          </a:prstGeom>
        </p:spPr>
      </p:pic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F15E4-2CDD-6047-9F8A-F392A4BC9A1F}" type="slidenum">
              <a:rPr kumimoji="1" lang="ja-JP" altLang="en-US" smtClean="0">
                <a:latin typeface="Meiryo UI" panose="020B0604030504040204" pitchFamily="50" charset="-128"/>
                <a:ea typeface="Meiryo UI" panose="020B0604030504040204" pitchFamily="50" charset="-128"/>
              </a:rPr>
              <a:t>19</a:t>
            </a:fld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正方形/長方形 5"/>
          <p:cNvSpPr/>
          <p:nvPr/>
        </p:nvSpPr>
        <p:spPr>
          <a:xfrm>
            <a:off x="254000" y="275936"/>
            <a:ext cx="11938000" cy="601640"/>
          </a:xfrm>
          <a:prstGeom prst="rect">
            <a:avLst/>
          </a:prstGeom>
          <a:gradFill flip="none" rotWithShape="1">
            <a:gsLst>
              <a:gs pos="22000">
                <a:srgbClr val="82C651"/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l"/>
            <a:endParaRPr lang="ja-JP" altLang="en-US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タイトル 3"/>
          <p:cNvSpPr>
            <a:spLocks noGrp="1"/>
          </p:cNvSpPr>
          <p:nvPr>
            <p:ph type="title"/>
          </p:nvPr>
        </p:nvSpPr>
        <p:spPr>
          <a:xfrm>
            <a:off x="254001" y="276225"/>
            <a:ext cx="11128702" cy="609600"/>
          </a:xfrm>
        </p:spPr>
        <p:txBody>
          <a:bodyPr vert="horz" lIns="91440" tIns="180000" rIns="91440" bIns="45720" rtlCol="0" anchor="ctr">
            <a:noAutofit/>
          </a:bodyPr>
          <a:lstStyle/>
          <a:p>
            <a:r>
              <a:rPr lang="ja-JP" altLang="en-US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rPr>
              <a:t>単体テスト仕様書作成工数分式</a:t>
            </a:r>
            <a:endParaRPr lang="en-US" altLang="ja-JP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eiryo UI" panose="020B0604030504040204" pitchFamily="50" charset="-128"/>
              <a:ea typeface="Meiryo UI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8" name="吹き出し: 線 4"/>
          <p:cNvSpPr/>
          <p:nvPr/>
        </p:nvSpPr>
        <p:spPr>
          <a:xfrm>
            <a:off x="4798695" y="2969895"/>
            <a:ext cx="5275580" cy="1141095"/>
          </a:xfrm>
          <a:prstGeom prst="borderCallout1">
            <a:avLst>
              <a:gd name="adj1" fmla="val 49638"/>
              <a:gd name="adj2" fmla="val -36"/>
              <a:gd name="adj3" fmla="val 95158"/>
              <a:gd name="adj4" fmla="val -2912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1600" dirty="0" smtClean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+mn-ea"/>
              </a:rPr>
              <a:t>単体テスト仕様書作成工数について、設計変更の機能がより多く発生しました。</a:t>
            </a:r>
            <a:endParaRPr lang="en-US" sz="1600" dirty="0" smtClean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2" name="Rectangle 5"/>
          <p:cNvSpPr>
            <a:spLocks noChangeArrowheads="1"/>
          </p:cNvSpPr>
          <p:nvPr/>
        </p:nvSpPr>
        <p:spPr bwMode="auto">
          <a:xfrm>
            <a:off x="0" y="-184666"/>
            <a:ext cx="49725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。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F15E4-2CDD-6047-9F8A-F392A4BC9A1F}" type="slidenum">
              <a:rPr kumimoji="1" lang="ja-JP" altLang="en-US" smtClean="0">
                <a:latin typeface="Meiryo UI" panose="020B0604030504040204" pitchFamily="50" charset="-128"/>
                <a:ea typeface="Meiryo UI" panose="020B0604030504040204" pitchFamily="50" charset="-128"/>
              </a:rPr>
              <a:t>20</a:t>
            </a:fld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正方形/長方形 5"/>
          <p:cNvSpPr/>
          <p:nvPr/>
        </p:nvSpPr>
        <p:spPr>
          <a:xfrm>
            <a:off x="254000" y="275936"/>
            <a:ext cx="11938000" cy="601640"/>
          </a:xfrm>
          <a:prstGeom prst="rect">
            <a:avLst/>
          </a:prstGeom>
          <a:gradFill flip="none" rotWithShape="1">
            <a:gsLst>
              <a:gs pos="22000">
                <a:srgbClr val="82C651"/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l"/>
            <a:endParaRPr lang="ja-JP" altLang="en-US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タイトル 3"/>
          <p:cNvSpPr>
            <a:spLocks noGrp="1"/>
          </p:cNvSpPr>
          <p:nvPr>
            <p:ph type="title"/>
          </p:nvPr>
        </p:nvSpPr>
        <p:spPr>
          <a:xfrm>
            <a:off x="254001" y="276225"/>
            <a:ext cx="11128702" cy="609600"/>
          </a:xfrm>
        </p:spPr>
        <p:txBody>
          <a:bodyPr vert="horz" lIns="91440" tIns="180000" rIns="91440" bIns="45720" rtlCol="0" anchor="ctr">
            <a:noAutofit/>
          </a:bodyPr>
          <a:lstStyle/>
          <a:p>
            <a:r>
              <a:rPr lang="ja-JP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rPr>
              <a:t>単体テスト実施工数分析</a:t>
            </a:r>
            <a:endParaRPr lang="en-US" altLang="ja-JP" dirty="0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eiryo UI" panose="020B0604030504040204" pitchFamily="50" charset="-128"/>
              <a:ea typeface="Meiryo UI" panose="020B0604030504040204" pitchFamily="50" charset="-128"/>
              <a:cs typeface="メイリオ" panose="020B0604030504040204" pitchFamily="50" charset="-128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035" y="1033145"/>
            <a:ext cx="10060940" cy="5110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F15E4-2CDD-6047-9F8A-F392A4BC9A1F}" type="slidenum">
              <a:rPr kumimoji="1" lang="ja-JP" altLang="en-US" smtClean="0">
                <a:latin typeface="Meiryo UI" panose="020B0604030504040204" pitchFamily="50" charset="-128"/>
                <a:ea typeface="Meiryo UI" panose="020B0604030504040204" pitchFamily="50" charset="-128"/>
              </a:rPr>
              <a:t>21</a:t>
            </a:fld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正方形/長方形 5"/>
          <p:cNvSpPr/>
          <p:nvPr/>
        </p:nvSpPr>
        <p:spPr>
          <a:xfrm>
            <a:off x="254000" y="275936"/>
            <a:ext cx="11938000" cy="601640"/>
          </a:xfrm>
          <a:prstGeom prst="rect">
            <a:avLst/>
          </a:prstGeom>
          <a:gradFill flip="none" rotWithShape="1">
            <a:gsLst>
              <a:gs pos="22000">
                <a:srgbClr val="82C651"/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l"/>
            <a:endParaRPr lang="ja-JP" altLang="en-US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タイトル 3"/>
          <p:cNvSpPr>
            <a:spLocks noGrp="1"/>
          </p:cNvSpPr>
          <p:nvPr>
            <p:ph type="title"/>
          </p:nvPr>
        </p:nvSpPr>
        <p:spPr>
          <a:xfrm>
            <a:off x="254001" y="276225"/>
            <a:ext cx="11128702" cy="609600"/>
          </a:xfrm>
        </p:spPr>
        <p:txBody>
          <a:bodyPr vert="horz" lIns="91440" tIns="180000" rIns="91440" bIns="45720" rtlCol="0" anchor="ctr">
            <a:noAutofit/>
          </a:bodyPr>
          <a:lstStyle/>
          <a:p>
            <a:r>
              <a:rPr lang="ja-JP" altLang="en-US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rPr>
              <a:t>単体テスト実施工数分析</a:t>
            </a:r>
            <a:endParaRPr lang="en-US" altLang="ja-JP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eiryo UI" panose="020B0604030504040204" pitchFamily="50" charset="-128"/>
              <a:ea typeface="Meiryo UI" panose="020B0604030504040204" pitchFamily="50" charset="-128"/>
              <a:cs typeface="メイリオ" panose="020B0604030504040204" pitchFamily="50" charset="-128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035" y="1033145"/>
            <a:ext cx="10060940" cy="5110480"/>
          </a:xfrm>
          <a:prstGeom prst="rect">
            <a:avLst/>
          </a:prstGeom>
        </p:spPr>
      </p:pic>
      <p:sp>
        <p:nvSpPr>
          <p:cNvPr id="8" name="吹き出し: 線 4"/>
          <p:cNvSpPr/>
          <p:nvPr/>
        </p:nvSpPr>
        <p:spPr>
          <a:xfrm>
            <a:off x="5577205" y="1928495"/>
            <a:ext cx="5091430" cy="1177290"/>
          </a:xfrm>
          <a:prstGeom prst="borderCallout1">
            <a:avLst>
              <a:gd name="adj1" fmla="val 50593"/>
              <a:gd name="adj2" fmla="val 162"/>
              <a:gd name="adj3" fmla="val 142988"/>
              <a:gd name="adj4" fmla="val -4851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1600" dirty="0" smtClean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単体テスト実施工数は平均工数になります。</a:t>
            </a:r>
            <a:endParaRPr lang="en-US" altLang="ja-JP" sz="16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803775" y="3615690"/>
            <a:ext cx="549910" cy="99123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en-US"/>
          </a:p>
        </p:txBody>
      </p:sp>
      <p:sp>
        <p:nvSpPr>
          <p:cNvPr id="5" name="Rectangle 4"/>
          <p:cNvSpPr/>
          <p:nvPr/>
        </p:nvSpPr>
        <p:spPr>
          <a:xfrm>
            <a:off x="4803775" y="4783455"/>
            <a:ext cx="549910" cy="36512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en-US"/>
          </a:p>
        </p:txBody>
      </p:sp>
      <p:sp>
        <p:nvSpPr>
          <p:cNvPr id="9" name="吹き出し: 線 4"/>
          <p:cNvSpPr/>
          <p:nvPr/>
        </p:nvSpPr>
        <p:spPr>
          <a:xfrm>
            <a:off x="7100570" y="3429635"/>
            <a:ext cx="4307840" cy="2188845"/>
          </a:xfrm>
          <a:prstGeom prst="borderCallout1">
            <a:avLst>
              <a:gd name="adj1" fmla="val 50593"/>
              <a:gd name="adj2" fmla="val 162"/>
              <a:gd name="adj3" fmla="val 51510"/>
              <a:gd name="adj4" fmla="val 748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1600" dirty="0" smtClean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単体テスト実施段階で、クロスチェックも実施下に加え</a:t>
            </a:r>
            <a:r>
              <a:rPr lang="ja-JP" altLang="en-US" sz="1600" b="1" dirty="0" smtClean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テスト項目以外のバグも検知出来ました。</a:t>
            </a:r>
            <a:endParaRPr lang="en-US" altLang="ja-JP" sz="1600" b="1" dirty="0" smtClean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1600" dirty="0" smtClean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ANAC</a:t>
            </a:r>
            <a:r>
              <a:rPr lang="ja-JP" altLang="en-US" sz="1600" dirty="0" smtClean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様の回答待ちと設計変更の過程で、実装のタイミングから何回もチェック繰り返のため、単体テストバグ発生が</a:t>
            </a:r>
            <a:r>
              <a:rPr lang="ja-JP" altLang="en-US" sz="1600" dirty="0" smtClean="0"/>
              <a:t>大</a:t>
            </a:r>
            <a:r>
              <a:rPr lang="ja-JP" altLang="en-US" sz="1600" dirty="0"/>
              <a:t>幅に抑制されています。</a:t>
            </a:r>
            <a:endParaRPr lang="en-US" altLang="en-US" sz="16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F15E4-2CDD-6047-9F8A-F392A4BC9A1F}" type="slidenum">
              <a:rPr kumimoji="1" lang="ja-JP" altLang="en-US" smtClean="0">
                <a:latin typeface="Meiryo UI" panose="020B0604030504040204" pitchFamily="50" charset="-128"/>
                <a:ea typeface="Meiryo UI" panose="020B0604030504040204" pitchFamily="50" charset="-128"/>
              </a:rPr>
              <a:t>22</a:t>
            </a:fld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正方形/長方形 5"/>
          <p:cNvSpPr/>
          <p:nvPr/>
        </p:nvSpPr>
        <p:spPr>
          <a:xfrm>
            <a:off x="254000" y="275936"/>
            <a:ext cx="11938000" cy="601640"/>
          </a:xfrm>
          <a:prstGeom prst="rect">
            <a:avLst/>
          </a:prstGeom>
          <a:gradFill flip="none" rotWithShape="1">
            <a:gsLst>
              <a:gs pos="22000">
                <a:srgbClr val="82C651"/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l"/>
            <a:endParaRPr lang="ja-JP" altLang="en-US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タイトル 3"/>
          <p:cNvSpPr>
            <a:spLocks noGrp="1"/>
          </p:cNvSpPr>
          <p:nvPr>
            <p:ph type="title"/>
          </p:nvPr>
        </p:nvSpPr>
        <p:spPr>
          <a:xfrm>
            <a:off x="254001" y="276225"/>
            <a:ext cx="11128702" cy="609600"/>
          </a:xfrm>
        </p:spPr>
        <p:txBody>
          <a:bodyPr vert="horz" lIns="91440" tIns="180000" rIns="91440" bIns="45720" rtlCol="0" anchor="ctr">
            <a:noAutofit/>
          </a:bodyPr>
          <a:lstStyle/>
          <a:p>
            <a:r>
              <a:rPr lang="ja-JP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rPr>
              <a:t>単体テスト実施工数分析</a:t>
            </a:r>
            <a:endParaRPr lang="en-US" altLang="ja-JP" dirty="0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eiryo UI" panose="020B0604030504040204" pitchFamily="50" charset="-128"/>
              <a:ea typeface="Meiryo UI" panose="020B0604030504040204" pitchFamily="50" charset="-128"/>
              <a:cs typeface="メイリオ" panose="020B0604030504040204" pitchFamily="50" charset="-128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3265" y="943610"/>
            <a:ext cx="7650480" cy="540321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896860" y="4296410"/>
            <a:ext cx="1746885" cy="49466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en-US"/>
          </a:p>
        </p:txBody>
      </p:sp>
      <p:sp>
        <p:nvSpPr>
          <p:cNvPr id="8" name="吹き出し: 線 4"/>
          <p:cNvSpPr/>
          <p:nvPr/>
        </p:nvSpPr>
        <p:spPr>
          <a:xfrm>
            <a:off x="5503545" y="2517775"/>
            <a:ext cx="5091430" cy="1177290"/>
          </a:xfrm>
          <a:prstGeom prst="borderCallout1">
            <a:avLst>
              <a:gd name="adj1" fmla="val 100647"/>
              <a:gd name="adj2" fmla="val 49887"/>
              <a:gd name="adj3" fmla="val 150809"/>
              <a:gd name="adj4" fmla="val 61149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一部</a:t>
            </a:r>
            <a:r>
              <a:rPr lang="ja-JP" altLang="en-US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の</a:t>
            </a:r>
            <a:r>
              <a:rPr lang="zh-CN" altLang="en-US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機能</a:t>
            </a:r>
            <a:r>
              <a:rPr lang="ja-JP" altLang="en-US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については</a:t>
            </a:r>
            <a:r>
              <a:rPr lang="zh-CN" altLang="en-US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、単体</a:t>
            </a:r>
            <a:r>
              <a:rPr lang="ja-JP" altLang="en-US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テストを</a:t>
            </a:r>
            <a:r>
              <a:rPr lang="zh-CN" altLang="en-US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完了</a:t>
            </a:r>
            <a:r>
              <a:rPr lang="ja-JP" altLang="en-US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した</a:t>
            </a:r>
            <a:r>
              <a:rPr lang="zh-CN" altLang="en-US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後</a:t>
            </a:r>
            <a:r>
              <a:rPr lang="ja-JP" altLang="en-US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に</a:t>
            </a:r>
            <a:r>
              <a:rPr lang="zh-CN" altLang="en-US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設計変更</a:t>
            </a:r>
            <a:r>
              <a:rPr lang="ja-JP" altLang="en-US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が</a:t>
            </a:r>
            <a:r>
              <a:rPr lang="zh-CN" altLang="en-US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発生</a:t>
            </a:r>
            <a:r>
              <a:rPr lang="ja-JP" altLang="en-US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したため</a:t>
            </a:r>
            <a:r>
              <a:rPr lang="zh-CN" altLang="en-US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、</a:t>
            </a:r>
            <a:r>
              <a:rPr lang="ja-JP" altLang="en-US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エビデンスの</a:t>
            </a:r>
            <a:r>
              <a:rPr lang="zh-CN" altLang="en-US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更新</a:t>
            </a:r>
            <a:r>
              <a:rPr lang="ja-JP" altLang="en-US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が</a:t>
            </a:r>
            <a:r>
              <a:rPr lang="zh-CN" altLang="en-US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必要</a:t>
            </a:r>
            <a:r>
              <a:rPr lang="ja-JP" altLang="en-US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となり</a:t>
            </a:r>
            <a:r>
              <a:rPr lang="zh-CN" altLang="en-US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、追加</a:t>
            </a:r>
            <a:r>
              <a:rPr lang="ja-JP" altLang="en-US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の</a:t>
            </a:r>
            <a:r>
              <a:rPr lang="zh-CN" altLang="en-US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工数</a:t>
            </a:r>
            <a:r>
              <a:rPr lang="ja-JP" altLang="en-US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が</a:t>
            </a:r>
            <a:r>
              <a:rPr lang="zh-CN" altLang="en-US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発生</a:t>
            </a:r>
            <a:r>
              <a:rPr lang="ja-JP" altLang="en-US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しました</a:t>
            </a:r>
            <a:r>
              <a:rPr lang="zh-CN" altLang="en-US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F15E4-2CDD-6047-9F8A-F392A4BC9A1F}" type="slidenum">
              <a:rPr kumimoji="1" lang="ja-JP" altLang="en-US" smtClean="0">
                <a:latin typeface="Meiryo UI" panose="020B0604030504040204" pitchFamily="50" charset="-128"/>
                <a:ea typeface="Meiryo UI" panose="020B0604030504040204" pitchFamily="50" charset="-128"/>
              </a:rPr>
              <a:t>23</a:t>
            </a:fld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正方形/長方形 5"/>
          <p:cNvSpPr/>
          <p:nvPr/>
        </p:nvSpPr>
        <p:spPr>
          <a:xfrm>
            <a:off x="254000" y="275936"/>
            <a:ext cx="11938000" cy="601640"/>
          </a:xfrm>
          <a:prstGeom prst="rect">
            <a:avLst/>
          </a:prstGeom>
          <a:gradFill flip="none" rotWithShape="1">
            <a:gsLst>
              <a:gs pos="22000">
                <a:srgbClr val="82C651"/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l"/>
            <a:endParaRPr lang="ja-JP" altLang="en-US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タイトル 3"/>
          <p:cNvSpPr>
            <a:spLocks noGrp="1"/>
          </p:cNvSpPr>
          <p:nvPr>
            <p:ph type="title"/>
          </p:nvPr>
        </p:nvSpPr>
        <p:spPr>
          <a:xfrm>
            <a:off x="254001" y="276225"/>
            <a:ext cx="11128702" cy="609600"/>
          </a:xfrm>
        </p:spPr>
        <p:txBody>
          <a:bodyPr vert="horz" lIns="91440" tIns="180000" rIns="91440" bIns="45720" rtlCol="0" anchor="ctr">
            <a:noAutofit/>
          </a:bodyPr>
          <a:lstStyle/>
          <a:p>
            <a:r>
              <a:rPr lang="ja-JP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rPr>
              <a:t>サマリ</a:t>
            </a:r>
            <a:endParaRPr lang="en-US" altLang="ja-JP" dirty="0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eiryo UI" panose="020B0604030504040204" pitchFamily="50" charset="-128"/>
              <a:ea typeface="Meiryo UI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54001" y="990600"/>
            <a:ext cx="11673086" cy="4876800"/>
          </a:xfrm>
          <a:prstGeom prst="rect">
            <a:avLst/>
          </a:prstGeom>
          <a:noFill/>
          <a:ln>
            <a:noFill/>
          </a:ln>
          <a:effectLst>
            <a:outerShdw blurRad="50800" dist="50800" dir="5400000" algn="ctr" rotWithShape="0">
              <a:schemeClr val="bg1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ja-JP"/>
            </a:defPPr>
            <a:lvl1pPr marL="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1" indent="-457200">
              <a:lnSpc>
                <a:spcPct val="150000"/>
              </a:lnSpc>
              <a:buAutoNum type="arabicPeriod"/>
            </a:pPr>
            <a:r>
              <a:rPr lang="ja-JP" altLang="en-US" sz="2000" b="1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プ</a:t>
            </a:r>
            <a:r>
              <a:rPr lang="ja-JP" altLang="en-US" sz="20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ロジェクト総</a:t>
            </a:r>
            <a:r>
              <a:rPr lang="ja-JP" altLang="en-US" sz="2000" b="1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評</a:t>
            </a:r>
            <a:endParaRPr lang="ja-JP" altLang="en-US" sz="20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sym typeface="+mn-ea"/>
            </a:endParaRPr>
          </a:p>
          <a:p>
            <a:pPr lvl="1">
              <a:lnSpc>
                <a:spcPct val="150000"/>
              </a:lnSpc>
            </a:pPr>
            <a:r>
              <a:rPr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・ 本</a:t>
            </a:r>
            <a:r>
              <a:rPr lang="ja-JP" altLang="en-US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プロジェクトは難易度が比較的高く、当</a:t>
            </a:r>
            <a:r>
              <a:rPr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初</a:t>
            </a:r>
            <a:r>
              <a:rPr lang="en-US" altLang="ja-JP" sz="1400" dirty="0" err="1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COOOLa</a:t>
            </a:r>
            <a:r>
              <a:rPr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標準と</a:t>
            </a:r>
            <a:r>
              <a:rPr lang="ja-JP" altLang="en-US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は大きく異なる点が多くありました</a:t>
            </a:r>
            <a:r>
              <a:rPr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。</a:t>
            </a:r>
          </a:p>
          <a:p>
            <a:pPr lvl="1">
              <a:lnSpc>
                <a:spcPct val="150000"/>
              </a:lnSpc>
            </a:pPr>
            <a:r>
              <a:rPr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そのため、設計や業務理解の面で多くの調整が必要となりましたが、プロジェクトメンバー全員が責任感を持って対応し、最後まで業務を遂行しました。</a:t>
            </a:r>
          </a:p>
          <a:p>
            <a:pPr lvl="1">
              <a:lnSpc>
                <a:spcPct val="150000"/>
              </a:lnSpc>
            </a:pPr>
            <a:r>
              <a:rPr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ま</a:t>
            </a:r>
            <a:r>
              <a:rPr lang="ja-JP" altLang="en-US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た、日本側と密に連携しながら業務仕様に関する課題を整理し、解決に向けた対応を行うことで、プロジェクトの推進に貢献することができました</a:t>
            </a:r>
            <a:r>
              <a:rPr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。</a:t>
            </a:r>
            <a:endParaRPr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sym typeface="+mn-ea"/>
            </a:endParaRPr>
          </a:p>
          <a:p>
            <a:pPr lvl="1">
              <a:lnSpc>
                <a:spcPct val="150000"/>
              </a:lnSpc>
            </a:pPr>
            <a:endParaRPr lang="en-US" altLang="ja-JP" sz="2000" b="1" dirty="0" smtClean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sym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ja-JP" sz="2000" b="1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2</a:t>
            </a:r>
            <a:r>
              <a:rPr lang="en-US" altLang="ja-JP" sz="20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. </a:t>
            </a:r>
            <a:r>
              <a:rPr lang="ja-JP" altLang="en-US" sz="20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良かった</a:t>
            </a:r>
            <a:r>
              <a:rPr lang="ja-JP" altLang="en-US" sz="2000" b="1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点</a:t>
            </a:r>
            <a:endParaRPr lang="ja-JP" altLang="en-US" sz="20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sym typeface="+mn-ea"/>
            </a:endParaRPr>
          </a:p>
          <a:p>
            <a:pPr lvl="1">
              <a:lnSpc>
                <a:spcPct val="150000"/>
              </a:lnSpc>
            </a:pPr>
            <a:r>
              <a:rPr lang="ja-JP" altLang="en-US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・</a:t>
            </a:r>
            <a:r>
              <a:rPr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メ</a:t>
            </a:r>
            <a:r>
              <a:rPr lang="ja-JP" altLang="en-US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ンバー全員が積極的に業務へ取り組み、プロジェクト完遂に向けて努力した</a:t>
            </a:r>
            <a:r>
              <a:rPr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。</a:t>
            </a:r>
            <a:endParaRPr lang="en-US" altLang="ja-JP" sz="1400" dirty="0" smtClean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sym typeface="+mn-ea"/>
            </a:endParaRPr>
          </a:p>
          <a:p>
            <a:pPr lvl="1">
              <a:lnSpc>
                <a:spcPct val="150000"/>
              </a:lnSpc>
            </a:pPr>
            <a:r>
              <a:rPr lang="ja-JP" altLang="en-US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・</a:t>
            </a:r>
            <a:r>
              <a:rPr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日</a:t>
            </a:r>
            <a:r>
              <a:rPr lang="ja-JP" altLang="en-US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本側とのコミュニケーションを通じて、業務理解を深めながら問題解決に貢献できた</a:t>
            </a:r>
            <a:r>
              <a:rPr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。</a:t>
            </a:r>
            <a:endParaRPr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sym typeface="+mn-ea"/>
            </a:endParaRPr>
          </a:p>
          <a:p>
            <a:pPr lvl="1">
              <a:lnSpc>
                <a:spcPct val="150000"/>
              </a:lnSpc>
            </a:pPr>
            <a:r>
              <a:rPr lang="ja-JP" altLang="en-US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・</a:t>
            </a:r>
            <a:r>
              <a:rPr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メ</a:t>
            </a:r>
            <a:r>
              <a:rPr lang="ja-JP" altLang="en-US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ンバー同士が積極的にサポートし合い、知識や経験を共有することでチームワークを発揮できた</a:t>
            </a:r>
            <a:r>
              <a:rPr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。</a:t>
            </a:r>
            <a:endParaRPr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sym typeface="+mn-ea"/>
            </a:endParaRPr>
          </a:p>
          <a:p>
            <a:pPr lvl="1">
              <a:lnSpc>
                <a:spcPct val="150000"/>
              </a:lnSpc>
            </a:pPr>
            <a:r>
              <a:rPr lang="ja-JP" altLang="en-US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・</a:t>
            </a:r>
            <a:r>
              <a:rPr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難</a:t>
            </a:r>
            <a:r>
              <a:rPr lang="ja-JP" altLang="en-US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易度の高い課題に対しても、チーム全体で協力して解決する姿勢が見られた</a:t>
            </a:r>
            <a:r>
              <a:rPr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。</a:t>
            </a:r>
            <a:endParaRPr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sym typeface="+mn-ea"/>
            </a:endParaRPr>
          </a:p>
          <a:p>
            <a:pPr lvl="1">
              <a:lnSpc>
                <a:spcPct val="150000"/>
              </a:lnSpc>
            </a:pPr>
            <a:r>
              <a:rPr lang="ja-JP" altLang="en-US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・</a:t>
            </a:r>
            <a:r>
              <a:rPr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プ</a:t>
            </a:r>
            <a:r>
              <a:rPr lang="ja-JP" altLang="en-US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ロジェクトを通じて、業務理解・技術力・問題解決力の向上につながった</a:t>
            </a:r>
            <a:r>
              <a:rPr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。</a:t>
            </a:r>
            <a:endParaRPr lang="en-US" altLang="ja-JP" sz="1400" dirty="0" smtClean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sym typeface="+mn-ea"/>
            </a:endParaRPr>
          </a:p>
          <a:p>
            <a:pPr lvl="1">
              <a:lnSpc>
                <a:spcPct val="150000"/>
              </a:lnSpc>
            </a:pPr>
            <a:r>
              <a:rPr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・</a:t>
            </a:r>
            <a:r>
              <a:rPr lang="en-US" altLang="ja-JP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JUNIT</a:t>
            </a:r>
            <a:r>
              <a:rPr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テスト導入出来ました。</a:t>
            </a:r>
            <a:endParaRPr lang="en-US" altLang="ja-JP" sz="1400" dirty="0" smtClean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sym typeface="+mn-ea"/>
            </a:endParaRPr>
          </a:p>
          <a:p>
            <a:pPr lvl="1">
              <a:lnSpc>
                <a:spcPct val="150000"/>
              </a:lnSpc>
            </a:pPr>
            <a:r>
              <a:rPr lang="ja-JP" altLang="en-US" sz="1400" dirty="0" smtClean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・設計待ち・</a:t>
            </a:r>
            <a:r>
              <a:rPr lang="en-US" altLang="ja-JP" sz="1400" dirty="0" smtClean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ANAC</a:t>
            </a:r>
            <a:r>
              <a:rPr lang="ja-JP" altLang="en-US" sz="1400" dirty="0" smtClean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様の回答待ちの期間でやれる作業が先に進めていただきました。</a:t>
            </a:r>
            <a:endParaRPr lang="ja-JP" altLang="en-US" sz="1400" dirty="0">
              <a:solidFill>
                <a:schemeClr val="accent6">
                  <a:lumMod val="7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sym typeface="+mn-ea"/>
            </a:endParaRPr>
          </a:p>
          <a:p>
            <a:pPr lvl="1">
              <a:lnSpc>
                <a:spcPct val="150000"/>
              </a:lnSpc>
            </a:pPr>
            <a:endParaRPr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F15E4-2CDD-6047-9F8A-F392A4BC9A1F}" type="slidenum">
              <a:rPr kumimoji="1" lang="ja-JP" altLang="en-US" smtClean="0">
                <a:latin typeface="Meiryo UI" panose="020B0604030504040204" pitchFamily="50" charset="-128"/>
                <a:ea typeface="Meiryo UI" panose="020B0604030504040204" pitchFamily="50" charset="-128"/>
              </a:rPr>
              <a:t>24</a:t>
            </a:fld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正方形/長方形 5"/>
          <p:cNvSpPr/>
          <p:nvPr/>
        </p:nvSpPr>
        <p:spPr>
          <a:xfrm>
            <a:off x="254000" y="275936"/>
            <a:ext cx="11938000" cy="601640"/>
          </a:xfrm>
          <a:prstGeom prst="rect">
            <a:avLst/>
          </a:prstGeom>
          <a:gradFill flip="none" rotWithShape="1">
            <a:gsLst>
              <a:gs pos="22000">
                <a:srgbClr val="82C651"/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l"/>
            <a:endParaRPr lang="ja-JP" altLang="en-US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タイトル 3"/>
          <p:cNvSpPr>
            <a:spLocks noGrp="1"/>
          </p:cNvSpPr>
          <p:nvPr>
            <p:ph type="title"/>
          </p:nvPr>
        </p:nvSpPr>
        <p:spPr>
          <a:xfrm>
            <a:off x="254001" y="276225"/>
            <a:ext cx="11128702" cy="609600"/>
          </a:xfrm>
        </p:spPr>
        <p:txBody>
          <a:bodyPr vert="horz" lIns="91440" tIns="180000" rIns="91440" bIns="45720" rtlCol="0" anchor="ctr">
            <a:noAutofit/>
          </a:bodyPr>
          <a:lstStyle/>
          <a:p>
            <a:r>
              <a:rPr lang="ja-JP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  <a:cs typeface="メイリオ" panose="020B0604030504040204" pitchFamily="50" charset="-128"/>
              </a:rPr>
              <a:t>サマリ</a:t>
            </a:r>
            <a:endParaRPr lang="en-US" altLang="ja-JP" dirty="0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eiryo UI" panose="020B0604030504040204" pitchFamily="50" charset="-128"/>
              <a:ea typeface="Meiryo UI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54001" y="990600"/>
            <a:ext cx="11673086" cy="4876800"/>
          </a:xfrm>
          <a:prstGeom prst="rect">
            <a:avLst/>
          </a:prstGeom>
          <a:noFill/>
          <a:ln>
            <a:noFill/>
          </a:ln>
          <a:effectLst>
            <a:outerShdw blurRad="50800" dist="50800" dir="5400000" algn="ctr" rotWithShape="0">
              <a:schemeClr val="bg1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ja-JP"/>
            </a:defPPr>
            <a:lvl1pPr marL="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50000"/>
              </a:lnSpc>
            </a:pPr>
            <a:r>
              <a:rPr lang="en-US" altLang="ja-JP" sz="20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3. </a:t>
            </a:r>
            <a:r>
              <a:rPr lang="ja-JP" altLang="en-US" sz="20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課</a:t>
            </a:r>
            <a:r>
              <a:rPr lang="ja-JP" altLang="en-US" sz="2000" b="1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題</a:t>
            </a:r>
            <a:endParaRPr lang="ja-JP" altLang="en-US" sz="20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sym typeface="+mn-ea"/>
            </a:endParaRPr>
          </a:p>
          <a:p>
            <a:pPr lvl="1">
              <a:lnSpc>
                <a:spcPct val="150000"/>
              </a:lnSpc>
            </a:pPr>
            <a:r>
              <a:rPr lang="ja-JP" altLang="en-US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・</a:t>
            </a:r>
            <a:r>
              <a:rPr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設</a:t>
            </a:r>
            <a:r>
              <a:rPr lang="ja-JP" altLang="en-US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計段階で不明点や変更が多く発生し、作業の手戻りが増</a:t>
            </a:r>
            <a:r>
              <a:rPr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え</a:t>
            </a:r>
            <a:r>
              <a:rPr lang="ja-JP" altLang="en-US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まし</a:t>
            </a:r>
            <a:r>
              <a:rPr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た。</a:t>
            </a:r>
            <a:endParaRPr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sym typeface="+mn-ea"/>
            </a:endParaRPr>
          </a:p>
          <a:p>
            <a:pPr lvl="1">
              <a:lnSpc>
                <a:spcPct val="150000"/>
              </a:lnSpc>
            </a:pPr>
            <a:r>
              <a:rPr lang="ja-JP" altLang="en-US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・</a:t>
            </a:r>
            <a:r>
              <a:rPr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設</a:t>
            </a:r>
            <a:r>
              <a:rPr lang="ja-JP" altLang="en-US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計調整に時間がかかったことで、開発およびレビューの工数が増加した</a:t>
            </a:r>
            <a:r>
              <a:rPr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。</a:t>
            </a:r>
            <a:endParaRPr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sym typeface="+mn-ea"/>
            </a:endParaRPr>
          </a:p>
          <a:p>
            <a:pPr lvl="1">
              <a:lnSpc>
                <a:spcPct val="150000"/>
              </a:lnSpc>
            </a:pPr>
            <a:r>
              <a:rPr lang="ja-JP" altLang="en-US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・</a:t>
            </a:r>
            <a:r>
              <a:rPr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設</a:t>
            </a:r>
            <a:r>
              <a:rPr lang="ja-JP" altLang="en-US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計変更が頻発した時期には、メンバーのモチベーションが一時的に低下する場面もあった</a:t>
            </a:r>
            <a:r>
              <a:rPr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。</a:t>
            </a:r>
            <a:endParaRPr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sym typeface="+mn-ea"/>
            </a:endParaRPr>
          </a:p>
          <a:p>
            <a:pPr lvl="1">
              <a:lnSpc>
                <a:spcPct val="150000"/>
              </a:lnSpc>
            </a:pPr>
            <a:r>
              <a:rPr lang="ja-JP" altLang="en-US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・</a:t>
            </a:r>
            <a:r>
              <a:rPr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業</a:t>
            </a:r>
            <a:r>
              <a:rPr lang="ja-JP" altLang="en-US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務仕様の理解に時間を要する部分があり、開発効率に影響が出た</a:t>
            </a:r>
            <a:r>
              <a:rPr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。</a:t>
            </a:r>
            <a:endParaRPr lang="en-US" altLang="ja-JP" sz="1400" dirty="0" smtClean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sym typeface="+mn-ea"/>
            </a:endParaRPr>
          </a:p>
          <a:p>
            <a:pPr lvl="1">
              <a:lnSpc>
                <a:spcPct val="150000"/>
              </a:lnSpc>
            </a:pPr>
            <a:endParaRPr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sym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ja-JP" sz="20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4. </a:t>
            </a:r>
            <a:r>
              <a:rPr lang="ja-JP" altLang="en-US" sz="20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今後の改</a:t>
            </a:r>
            <a:r>
              <a:rPr lang="ja-JP" altLang="en-US" sz="2000" b="1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善</a:t>
            </a:r>
            <a:endParaRPr lang="ja-JP" altLang="en-US" sz="2000" b="1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sym typeface="+mn-ea"/>
            </a:endParaRPr>
          </a:p>
          <a:p>
            <a:pPr lvl="1">
              <a:lnSpc>
                <a:spcPct val="150000"/>
              </a:lnSpc>
            </a:pPr>
            <a:r>
              <a:rPr lang="ja-JP" altLang="en-US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・</a:t>
            </a:r>
            <a:r>
              <a:rPr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今</a:t>
            </a:r>
            <a:r>
              <a:rPr lang="ja-JP" altLang="en-US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後のプロジェクトでは、以下の点を改善していく必要があります</a:t>
            </a:r>
            <a:r>
              <a:rPr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。</a:t>
            </a:r>
            <a:endParaRPr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sym typeface="+mn-ea"/>
            </a:endParaRPr>
          </a:p>
          <a:p>
            <a:pPr lvl="1">
              <a:lnSpc>
                <a:spcPct val="150000"/>
              </a:lnSpc>
            </a:pPr>
            <a:r>
              <a:rPr lang="ja-JP" altLang="en-US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・</a:t>
            </a:r>
            <a:r>
              <a:rPr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設</a:t>
            </a:r>
            <a:r>
              <a:rPr lang="ja-JP" altLang="en-US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計段階で仕様をより明確にし、不明点を早期に解消する</a:t>
            </a:r>
            <a:r>
              <a:rPr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。</a:t>
            </a:r>
            <a:endParaRPr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sym typeface="+mn-ea"/>
            </a:endParaRPr>
          </a:p>
          <a:p>
            <a:pPr lvl="1">
              <a:lnSpc>
                <a:spcPct val="150000"/>
              </a:lnSpc>
            </a:pPr>
            <a:r>
              <a:rPr lang="ja-JP" altLang="en-US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・</a:t>
            </a:r>
            <a:r>
              <a:rPr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業</a:t>
            </a:r>
            <a:r>
              <a:rPr lang="ja-JP" altLang="en-US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務理解を深めたうえで設計・開発を進める体制を強化する</a:t>
            </a:r>
            <a:r>
              <a:rPr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。</a:t>
            </a:r>
            <a:endParaRPr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sym typeface="+mn-ea"/>
            </a:endParaRPr>
          </a:p>
          <a:p>
            <a:pPr lvl="1">
              <a:lnSpc>
                <a:spcPct val="150000"/>
              </a:lnSpc>
            </a:pPr>
            <a:r>
              <a:rPr lang="ja-JP" altLang="en-US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・</a:t>
            </a:r>
            <a:r>
              <a:rPr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チ</a:t>
            </a:r>
            <a:r>
              <a:rPr lang="ja-JP" altLang="en-US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ーム内での情報共有をさらに強化し、問題の早期発見と対応を行う</a:t>
            </a:r>
            <a:r>
              <a:rPr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。</a:t>
            </a:r>
            <a:endParaRPr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sym typeface="+mn-ea"/>
            </a:endParaRPr>
          </a:p>
          <a:p>
            <a:pPr lvl="1">
              <a:lnSpc>
                <a:spcPct val="150000"/>
              </a:lnSpc>
            </a:pPr>
            <a:r>
              <a:rPr lang="ja-JP" altLang="en-US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・</a:t>
            </a:r>
            <a:r>
              <a:rPr lang="ja-JP" altLang="en-US" sz="14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メ</a:t>
            </a:r>
            <a:r>
              <a:rPr lang="ja-JP" altLang="en-US" sz="14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ンバーのモチベーション維持のため、作業状況や課題をチーム内で適切に共有する。</a:t>
            </a:r>
          </a:p>
          <a:p>
            <a:pPr lvl="1">
              <a:lnSpc>
                <a:spcPct val="150000"/>
              </a:lnSpc>
            </a:pPr>
            <a:r>
              <a:rPr lang="ja-JP" altLang="en-US" sz="14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・レビューで</a:t>
            </a:r>
            <a:r>
              <a:rPr lang="zh-CN" altLang="en-US" sz="14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問題</a:t>
            </a:r>
            <a:r>
              <a:rPr lang="ja-JP" altLang="en-US" sz="14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が</a:t>
            </a:r>
            <a:r>
              <a:rPr lang="zh-CN" altLang="en-US" sz="14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多</a:t>
            </a:r>
            <a:r>
              <a:rPr lang="ja-JP" altLang="en-US" sz="14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く</a:t>
            </a:r>
            <a:r>
              <a:rPr lang="zh-CN" altLang="en-US" sz="14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見</a:t>
            </a:r>
            <a:r>
              <a:rPr lang="ja-JP" altLang="en-US" sz="14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つかった</a:t>
            </a:r>
            <a:r>
              <a:rPr lang="zh-CN" altLang="en-US" sz="14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機能</a:t>
            </a:r>
            <a:r>
              <a:rPr lang="ja-JP" altLang="en-US" sz="14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については</a:t>
            </a:r>
            <a:r>
              <a:rPr lang="zh-CN" altLang="en-US" sz="14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、社内分析</a:t>
            </a:r>
            <a:r>
              <a:rPr lang="ja-JP" altLang="en-US" sz="14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を</a:t>
            </a:r>
            <a:r>
              <a:rPr lang="zh-CN" altLang="en-US" sz="14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行</a:t>
            </a:r>
            <a:r>
              <a:rPr lang="ja-JP" altLang="en-US" sz="14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い</a:t>
            </a:r>
            <a:r>
              <a:rPr lang="zh-CN" altLang="en-US" sz="14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、原因</a:t>
            </a:r>
            <a:r>
              <a:rPr lang="ja-JP" altLang="en-US" sz="14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を</a:t>
            </a:r>
            <a:r>
              <a:rPr lang="zh-CN" altLang="en-US" sz="14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特定</a:t>
            </a:r>
            <a:r>
              <a:rPr lang="ja-JP" altLang="en-US" sz="14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し</a:t>
            </a:r>
            <a:r>
              <a:rPr lang="zh-CN" altLang="en-US" sz="14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、各問題</a:t>
            </a:r>
            <a:r>
              <a:rPr lang="ja-JP" altLang="en-US" sz="14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ごとに</a:t>
            </a:r>
            <a:r>
              <a:rPr lang="zh-CN" altLang="en-US" sz="14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解決策</a:t>
            </a:r>
            <a:r>
              <a:rPr lang="ja-JP" altLang="en-US" sz="14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を</a:t>
            </a:r>
            <a:r>
              <a:rPr lang="zh-CN" altLang="en-US" sz="14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検討</a:t>
            </a:r>
            <a:r>
              <a:rPr lang="ja-JP" altLang="en-US" sz="14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します</a:t>
            </a:r>
            <a:r>
              <a:rPr lang="zh-CN" altLang="en-US" sz="14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。</a:t>
            </a:r>
          </a:p>
          <a:p>
            <a:pPr lvl="1">
              <a:lnSpc>
                <a:spcPct val="150000"/>
              </a:lnSpc>
            </a:pPr>
            <a:r>
              <a:rPr lang="ja-JP" altLang="en-US" sz="14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・プロジェクトでは</a:t>
            </a:r>
            <a:r>
              <a:rPr lang="zh-CN" altLang="en-US" sz="14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、全</a:t>
            </a:r>
            <a:r>
              <a:rPr lang="ja-JP" altLang="en-US" sz="14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てのフェーズに</a:t>
            </a:r>
            <a:r>
              <a:rPr lang="en-US" altLang="en-US" sz="14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AI</a:t>
            </a:r>
            <a:r>
              <a:rPr lang="zh-CN" altLang="en-US" sz="14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（人工知能）</a:t>
            </a:r>
            <a:r>
              <a:rPr lang="ja-JP" altLang="en-US" sz="14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を</a:t>
            </a:r>
            <a:r>
              <a:rPr lang="zh-CN" altLang="en-US" sz="14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導入</a:t>
            </a:r>
            <a:r>
              <a:rPr lang="ja-JP" altLang="en-US" sz="14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し</a:t>
            </a:r>
            <a:r>
              <a:rPr lang="zh-CN" altLang="en-US" sz="14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、品質向上</a:t>
            </a:r>
            <a:r>
              <a:rPr lang="ja-JP" altLang="en-US" sz="14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を</a:t>
            </a:r>
            <a:r>
              <a:rPr lang="zh-CN" altLang="en-US" sz="14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図</a:t>
            </a:r>
            <a:r>
              <a:rPr lang="ja-JP" altLang="en-US" sz="14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ります</a:t>
            </a:r>
            <a:r>
              <a:rPr lang="zh-CN" altLang="en-US" sz="1400" dirty="0">
                <a:solidFill>
                  <a:schemeClr val="accent6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+mn-ea"/>
              </a:rPr>
              <a:t>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F15E4-2CDD-6047-9F8A-F392A4BC9A1F}" type="slidenum">
              <a:rPr kumimoji="1" lang="ja-JP" altLang="en-US" smtClean="0"/>
              <a:t>25</a:t>
            </a:fld>
            <a:endParaRPr kumimoji="1" lang="ja-JP" altLang="en-US" dirty="0"/>
          </a:p>
        </p:txBody>
      </p:sp>
      <p:pic>
        <p:nvPicPr>
          <p:cNvPr id="7" name="図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4821" y="5074740"/>
            <a:ext cx="2705100" cy="105727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53" t="31569" r="5029" b="28870"/>
          <a:stretch>
            <a:fillRect/>
          </a:stretch>
        </p:blipFill>
        <p:spPr>
          <a:xfrm>
            <a:off x="1294544" y="1797978"/>
            <a:ext cx="9780997" cy="2955640"/>
          </a:xfrm>
          <a:custGeom>
            <a:avLst/>
            <a:gdLst/>
            <a:ahLst/>
            <a:cxnLst/>
            <a:rect l="l" t="t" r="r" b="b"/>
            <a:pathLst>
              <a:path w="8561188" h="1663991">
                <a:moveTo>
                  <a:pt x="3595120" y="335282"/>
                </a:moveTo>
                <a:lnTo>
                  <a:pt x="3367873" y="1018263"/>
                </a:lnTo>
                <a:lnTo>
                  <a:pt x="3823608" y="1018263"/>
                </a:lnTo>
                <a:lnTo>
                  <a:pt x="3596361" y="335282"/>
                </a:lnTo>
                <a:close/>
                <a:moveTo>
                  <a:pt x="48429" y="28561"/>
                </a:moveTo>
                <a:lnTo>
                  <a:pt x="1180937" y="28561"/>
                </a:lnTo>
                <a:cubicBezTo>
                  <a:pt x="1188388" y="28561"/>
                  <a:pt x="1195217" y="30837"/>
                  <a:pt x="1201427" y="35391"/>
                </a:cubicBezTo>
                <a:cubicBezTo>
                  <a:pt x="1207635" y="39944"/>
                  <a:pt x="1212810" y="47395"/>
                  <a:pt x="1216949" y="57743"/>
                </a:cubicBezTo>
                <a:cubicBezTo>
                  <a:pt x="1221088" y="68091"/>
                  <a:pt x="1224192" y="81958"/>
                  <a:pt x="1226262" y="99342"/>
                </a:cubicBezTo>
                <a:cubicBezTo>
                  <a:pt x="1228332" y="116727"/>
                  <a:pt x="1229367" y="137838"/>
                  <a:pt x="1229367" y="162674"/>
                </a:cubicBezTo>
                <a:cubicBezTo>
                  <a:pt x="1229367" y="186681"/>
                  <a:pt x="1228332" y="207171"/>
                  <a:pt x="1226262" y="224142"/>
                </a:cubicBezTo>
                <a:cubicBezTo>
                  <a:pt x="1224192" y="241113"/>
                  <a:pt x="1221088" y="254773"/>
                  <a:pt x="1216949" y="265121"/>
                </a:cubicBezTo>
                <a:cubicBezTo>
                  <a:pt x="1212810" y="275469"/>
                  <a:pt x="1207635" y="283127"/>
                  <a:pt x="1201427" y="288094"/>
                </a:cubicBezTo>
                <a:cubicBezTo>
                  <a:pt x="1195217" y="293061"/>
                  <a:pt x="1188388" y="295544"/>
                  <a:pt x="1180937" y="295544"/>
                </a:cubicBezTo>
                <a:lnTo>
                  <a:pt x="778599" y="295544"/>
                </a:lnTo>
                <a:lnTo>
                  <a:pt x="778599" y="1590726"/>
                </a:lnTo>
                <a:cubicBezTo>
                  <a:pt x="778599" y="1599004"/>
                  <a:pt x="775908" y="1606455"/>
                  <a:pt x="770527" y="1613078"/>
                </a:cubicBezTo>
                <a:cubicBezTo>
                  <a:pt x="765146" y="1619701"/>
                  <a:pt x="756247" y="1625082"/>
                  <a:pt x="743829" y="1629221"/>
                </a:cubicBezTo>
                <a:cubicBezTo>
                  <a:pt x="731411" y="1633360"/>
                  <a:pt x="714647" y="1636672"/>
                  <a:pt x="693536" y="1639155"/>
                </a:cubicBezTo>
                <a:cubicBezTo>
                  <a:pt x="672426" y="1641639"/>
                  <a:pt x="646142" y="1642881"/>
                  <a:pt x="614683" y="1642881"/>
                </a:cubicBezTo>
                <a:cubicBezTo>
                  <a:pt x="583224" y="1642881"/>
                  <a:pt x="556940" y="1641639"/>
                  <a:pt x="535830" y="1639155"/>
                </a:cubicBezTo>
                <a:cubicBezTo>
                  <a:pt x="514720" y="1636672"/>
                  <a:pt x="497956" y="1633360"/>
                  <a:pt x="485538" y="1629221"/>
                </a:cubicBezTo>
                <a:cubicBezTo>
                  <a:pt x="473120" y="1625082"/>
                  <a:pt x="464220" y="1619701"/>
                  <a:pt x="458839" y="1613078"/>
                </a:cubicBezTo>
                <a:cubicBezTo>
                  <a:pt x="453458" y="1606455"/>
                  <a:pt x="450768" y="1599004"/>
                  <a:pt x="450768" y="1590726"/>
                </a:cubicBezTo>
                <a:lnTo>
                  <a:pt x="450768" y="295544"/>
                </a:lnTo>
                <a:lnTo>
                  <a:pt x="48429" y="295544"/>
                </a:lnTo>
                <a:cubicBezTo>
                  <a:pt x="40151" y="295544"/>
                  <a:pt x="33114" y="293061"/>
                  <a:pt x="27319" y="288094"/>
                </a:cubicBezTo>
                <a:cubicBezTo>
                  <a:pt x="21524" y="283127"/>
                  <a:pt x="16557" y="275469"/>
                  <a:pt x="12418" y="265121"/>
                </a:cubicBezTo>
                <a:cubicBezTo>
                  <a:pt x="8278" y="254773"/>
                  <a:pt x="5174" y="241113"/>
                  <a:pt x="3104" y="224142"/>
                </a:cubicBezTo>
                <a:cubicBezTo>
                  <a:pt x="1035" y="207171"/>
                  <a:pt x="0" y="186681"/>
                  <a:pt x="0" y="162674"/>
                </a:cubicBezTo>
                <a:cubicBezTo>
                  <a:pt x="0" y="137838"/>
                  <a:pt x="1035" y="116727"/>
                  <a:pt x="3104" y="99342"/>
                </a:cubicBezTo>
                <a:cubicBezTo>
                  <a:pt x="5174" y="81958"/>
                  <a:pt x="8278" y="68091"/>
                  <a:pt x="12418" y="57743"/>
                </a:cubicBezTo>
                <a:cubicBezTo>
                  <a:pt x="16557" y="47395"/>
                  <a:pt x="21524" y="39944"/>
                  <a:pt x="27319" y="35391"/>
                </a:cubicBezTo>
                <a:cubicBezTo>
                  <a:pt x="33114" y="30837"/>
                  <a:pt x="40151" y="28561"/>
                  <a:pt x="48429" y="28561"/>
                </a:cubicBezTo>
                <a:close/>
                <a:moveTo>
                  <a:pt x="5742919" y="23594"/>
                </a:moveTo>
                <a:cubicBezTo>
                  <a:pt x="5771066" y="23594"/>
                  <a:pt x="5794660" y="24628"/>
                  <a:pt x="5813701" y="26698"/>
                </a:cubicBezTo>
                <a:cubicBezTo>
                  <a:pt x="5832741" y="28768"/>
                  <a:pt x="5847436" y="32286"/>
                  <a:pt x="5857784" y="37253"/>
                </a:cubicBezTo>
                <a:cubicBezTo>
                  <a:pt x="5868132" y="42220"/>
                  <a:pt x="5875376" y="48015"/>
                  <a:pt x="5879515" y="54638"/>
                </a:cubicBezTo>
                <a:cubicBezTo>
                  <a:pt x="5883654" y="61261"/>
                  <a:pt x="5885724" y="68712"/>
                  <a:pt x="5885724" y="76990"/>
                </a:cubicBezTo>
                <a:lnTo>
                  <a:pt x="5885724" y="1521186"/>
                </a:lnTo>
                <a:cubicBezTo>
                  <a:pt x="5885724" y="1540227"/>
                  <a:pt x="5882413" y="1557198"/>
                  <a:pt x="5875790" y="1572099"/>
                </a:cubicBezTo>
                <a:cubicBezTo>
                  <a:pt x="5869167" y="1587000"/>
                  <a:pt x="5860268" y="1599418"/>
                  <a:pt x="5849091" y="1609353"/>
                </a:cubicBezTo>
                <a:cubicBezTo>
                  <a:pt x="5837915" y="1619287"/>
                  <a:pt x="5824670" y="1626531"/>
                  <a:pt x="5809354" y="1631084"/>
                </a:cubicBezTo>
                <a:cubicBezTo>
                  <a:pt x="5794039" y="1635637"/>
                  <a:pt x="5778517" y="1637914"/>
                  <a:pt x="5762787" y="1637914"/>
                </a:cubicBezTo>
                <a:lnTo>
                  <a:pt x="5623708" y="1637914"/>
                </a:lnTo>
                <a:cubicBezTo>
                  <a:pt x="5594733" y="1637914"/>
                  <a:pt x="5569690" y="1635016"/>
                  <a:pt x="5548580" y="1629221"/>
                </a:cubicBezTo>
                <a:cubicBezTo>
                  <a:pt x="5527469" y="1623426"/>
                  <a:pt x="5508015" y="1612871"/>
                  <a:pt x="5490216" y="1597556"/>
                </a:cubicBezTo>
                <a:cubicBezTo>
                  <a:pt x="5472417" y="1582240"/>
                  <a:pt x="5455239" y="1561544"/>
                  <a:pt x="5438682" y="1535466"/>
                </a:cubicBezTo>
                <a:cubicBezTo>
                  <a:pt x="5422124" y="1509389"/>
                  <a:pt x="5403498" y="1475654"/>
                  <a:pt x="5382801" y="1434261"/>
                </a:cubicBezTo>
                <a:lnTo>
                  <a:pt x="4982947" y="682981"/>
                </a:lnTo>
                <a:cubicBezTo>
                  <a:pt x="4959767" y="638277"/>
                  <a:pt x="4936173" y="590054"/>
                  <a:pt x="4912165" y="538313"/>
                </a:cubicBezTo>
                <a:cubicBezTo>
                  <a:pt x="4888157" y="486572"/>
                  <a:pt x="4866633" y="436280"/>
                  <a:pt x="4847592" y="387437"/>
                </a:cubicBezTo>
                <a:lnTo>
                  <a:pt x="4845109" y="387437"/>
                </a:lnTo>
                <a:cubicBezTo>
                  <a:pt x="4848420" y="447042"/>
                  <a:pt x="4850904" y="506441"/>
                  <a:pt x="4852559" y="565633"/>
                </a:cubicBezTo>
                <a:cubicBezTo>
                  <a:pt x="4854215" y="624824"/>
                  <a:pt x="4855043" y="685879"/>
                  <a:pt x="4855043" y="748796"/>
                </a:cubicBezTo>
                <a:lnTo>
                  <a:pt x="4855043" y="1589484"/>
                </a:lnTo>
                <a:cubicBezTo>
                  <a:pt x="4855043" y="1597763"/>
                  <a:pt x="4852766" y="1605213"/>
                  <a:pt x="4848213" y="1611836"/>
                </a:cubicBezTo>
                <a:cubicBezTo>
                  <a:pt x="4843660" y="1618459"/>
                  <a:pt x="4835795" y="1624047"/>
                  <a:pt x="4824619" y="1628600"/>
                </a:cubicBezTo>
                <a:cubicBezTo>
                  <a:pt x="4813443" y="1633153"/>
                  <a:pt x="4798335" y="1636672"/>
                  <a:pt x="4779294" y="1639155"/>
                </a:cubicBezTo>
                <a:cubicBezTo>
                  <a:pt x="4760253" y="1641639"/>
                  <a:pt x="4735831" y="1642881"/>
                  <a:pt x="4706029" y="1642881"/>
                </a:cubicBezTo>
                <a:cubicBezTo>
                  <a:pt x="4677054" y="1642881"/>
                  <a:pt x="4653046" y="1641639"/>
                  <a:pt x="4634005" y="1639155"/>
                </a:cubicBezTo>
                <a:cubicBezTo>
                  <a:pt x="4614964" y="1636672"/>
                  <a:pt x="4600063" y="1633153"/>
                  <a:pt x="4589301" y="1628600"/>
                </a:cubicBezTo>
                <a:cubicBezTo>
                  <a:pt x="4578539" y="1624047"/>
                  <a:pt x="4571088" y="1618459"/>
                  <a:pt x="4566949" y="1611836"/>
                </a:cubicBezTo>
                <a:cubicBezTo>
                  <a:pt x="4562809" y="1605213"/>
                  <a:pt x="4560740" y="1597763"/>
                  <a:pt x="4560740" y="1589484"/>
                </a:cubicBezTo>
                <a:lnTo>
                  <a:pt x="4560740" y="145289"/>
                </a:lnTo>
                <a:cubicBezTo>
                  <a:pt x="4560740" y="106379"/>
                  <a:pt x="4572123" y="77197"/>
                  <a:pt x="4594889" y="57743"/>
                </a:cubicBezTo>
                <a:cubicBezTo>
                  <a:pt x="4617655" y="38288"/>
                  <a:pt x="4645595" y="28561"/>
                  <a:pt x="4678709" y="28561"/>
                </a:cubicBezTo>
                <a:lnTo>
                  <a:pt x="4853801" y="28561"/>
                </a:lnTo>
                <a:cubicBezTo>
                  <a:pt x="4885260" y="28561"/>
                  <a:pt x="4911751" y="31251"/>
                  <a:pt x="4933275" y="36632"/>
                </a:cubicBezTo>
                <a:cubicBezTo>
                  <a:pt x="4954800" y="42013"/>
                  <a:pt x="4974047" y="50913"/>
                  <a:pt x="4991018" y="63331"/>
                </a:cubicBezTo>
                <a:cubicBezTo>
                  <a:pt x="5007989" y="75749"/>
                  <a:pt x="5023926" y="92927"/>
                  <a:pt x="5038827" y="114865"/>
                </a:cubicBezTo>
                <a:cubicBezTo>
                  <a:pt x="5053728" y="136803"/>
                  <a:pt x="5069044" y="163915"/>
                  <a:pt x="5084773" y="196202"/>
                </a:cubicBezTo>
                <a:lnTo>
                  <a:pt x="5397703" y="783566"/>
                </a:lnTo>
                <a:cubicBezTo>
                  <a:pt x="5415916" y="819164"/>
                  <a:pt x="5433921" y="854141"/>
                  <a:pt x="5451720" y="888497"/>
                </a:cubicBezTo>
                <a:cubicBezTo>
                  <a:pt x="5469519" y="922853"/>
                  <a:pt x="5486697" y="957209"/>
                  <a:pt x="5503254" y="991565"/>
                </a:cubicBezTo>
                <a:cubicBezTo>
                  <a:pt x="5519812" y="1025921"/>
                  <a:pt x="5535955" y="1059656"/>
                  <a:pt x="5551684" y="1092770"/>
                </a:cubicBezTo>
                <a:cubicBezTo>
                  <a:pt x="5567413" y="1125884"/>
                  <a:pt x="5582729" y="1158999"/>
                  <a:pt x="5597630" y="1192113"/>
                </a:cubicBezTo>
                <a:lnTo>
                  <a:pt x="5598872" y="1192113"/>
                </a:lnTo>
                <a:cubicBezTo>
                  <a:pt x="5596388" y="1134163"/>
                  <a:pt x="5594526" y="1073729"/>
                  <a:pt x="5593284" y="1010812"/>
                </a:cubicBezTo>
                <a:cubicBezTo>
                  <a:pt x="5592042" y="947895"/>
                  <a:pt x="5591421" y="887876"/>
                  <a:pt x="5591421" y="830754"/>
                </a:cubicBezTo>
                <a:lnTo>
                  <a:pt x="5591421" y="76990"/>
                </a:lnTo>
                <a:cubicBezTo>
                  <a:pt x="5591421" y="68712"/>
                  <a:pt x="5593905" y="61261"/>
                  <a:pt x="5598872" y="54638"/>
                </a:cubicBezTo>
                <a:cubicBezTo>
                  <a:pt x="5603839" y="48015"/>
                  <a:pt x="5612118" y="42220"/>
                  <a:pt x="5623708" y="37253"/>
                </a:cubicBezTo>
                <a:cubicBezTo>
                  <a:pt x="5635298" y="32286"/>
                  <a:pt x="5650613" y="28768"/>
                  <a:pt x="5669654" y="26698"/>
                </a:cubicBezTo>
                <a:cubicBezTo>
                  <a:pt x="5688694" y="24628"/>
                  <a:pt x="5713116" y="23594"/>
                  <a:pt x="5742919" y="23594"/>
                </a:cubicBezTo>
                <a:close/>
                <a:moveTo>
                  <a:pt x="6401055" y="21110"/>
                </a:moveTo>
                <a:cubicBezTo>
                  <a:pt x="6433341" y="21110"/>
                  <a:pt x="6459833" y="22352"/>
                  <a:pt x="6480529" y="24835"/>
                </a:cubicBezTo>
                <a:cubicBezTo>
                  <a:pt x="6501226" y="27319"/>
                  <a:pt x="6517783" y="30630"/>
                  <a:pt x="6530201" y="34770"/>
                </a:cubicBezTo>
                <a:cubicBezTo>
                  <a:pt x="6542619" y="38909"/>
                  <a:pt x="6551311" y="44290"/>
                  <a:pt x="6556279" y="50913"/>
                </a:cubicBezTo>
                <a:cubicBezTo>
                  <a:pt x="6561245" y="57536"/>
                  <a:pt x="6563729" y="65400"/>
                  <a:pt x="6563729" y="74507"/>
                </a:cubicBezTo>
                <a:lnTo>
                  <a:pt x="6563729" y="758730"/>
                </a:lnTo>
                <a:lnTo>
                  <a:pt x="7034365" y="75749"/>
                </a:lnTo>
                <a:cubicBezTo>
                  <a:pt x="7040161" y="64986"/>
                  <a:pt x="7047197" y="56087"/>
                  <a:pt x="7055475" y="49050"/>
                </a:cubicBezTo>
                <a:cubicBezTo>
                  <a:pt x="7063755" y="42013"/>
                  <a:pt x="7074517" y="36425"/>
                  <a:pt x="7087762" y="32286"/>
                </a:cubicBezTo>
                <a:cubicBezTo>
                  <a:pt x="7101008" y="28147"/>
                  <a:pt x="7117979" y="25249"/>
                  <a:pt x="7138675" y="23594"/>
                </a:cubicBezTo>
                <a:cubicBezTo>
                  <a:pt x="7159371" y="21938"/>
                  <a:pt x="7185863" y="21110"/>
                  <a:pt x="7218149" y="21110"/>
                </a:cubicBezTo>
                <a:cubicBezTo>
                  <a:pt x="7251264" y="21110"/>
                  <a:pt x="7278583" y="22352"/>
                  <a:pt x="7300107" y="24835"/>
                </a:cubicBezTo>
                <a:cubicBezTo>
                  <a:pt x="7321631" y="27319"/>
                  <a:pt x="7338809" y="30837"/>
                  <a:pt x="7351641" y="35391"/>
                </a:cubicBezTo>
                <a:cubicBezTo>
                  <a:pt x="7364473" y="39944"/>
                  <a:pt x="7373373" y="45532"/>
                  <a:pt x="7378339" y="52155"/>
                </a:cubicBezTo>
                <a:cubicBezTo>
                  <a:pt x="7383307" y="58778"/>
                  <a:pt x="7385791" y="66228"/>
                  <a:pt x="7385791" y="74507"/>
                </a:cubicBezTo>
                <a:cubicBezTo>
                  <a:pt x="7385791" y="88580"/>
                  <a:pt x="7382065" y="103068"/>
                  <a:pt x="7374615" y="117969"/>
                </a:cubicBezTo>
                <a:cubicBezTo>
                  <a:pt x="7367163" y="132871"/>
                  <a:pt x="7353090" y="156465"/>
                  <a:pt x="7332393" y="188751"/>
                </a:cubicBezTo>
                <a:lnTo>
                  <a:pt x="6891560" y="766181"/>
                </a:lnTo>
                <a:lnTo>
                  <a:pt x="7372131" y="1492625"/>
                </a:lnTo>
                <a:cubicBezTo>
                  <a:pt x="7390343" y="1526567"/>
                  <a:pt x="7401313" y="1549126"/>
                  <a:pt x="7405038" y="1560302"/>
                </a:cubicBezTo>
                <a:cubicBezTo>
                  <a:pt x="7408763" y="1571478"/>
                  <a:pt x="7410626" y="1580378"/>
                  <a:pt x="7410626" y="1587000"/>
                </a:cubicBezTo>
                <a:cubicBezTo>
                  <a:pt x="7410626" y="1596107"/>
                  <a:pt x="7408349" y="1604178"/>
                  <a:pt x="7403797" y="1611215"/>
                </a:cubicBezTo>
                <a:cubicBezTo>
                  <a:pt x="7399243" y="1618252"/>
                  <a:pt x="7390551" y="1624047"/>
                  <a:pt x="7377719" y="1628600"/>
                </a:cubicBezTo>
                <a:cubicBezTo>
                  <a:pt x="7364887" y="1633153"/>
                  <a:pt x="7347295" y="1636672"/>
                  <a:pt x="7324943" y="1639155"/>
                </a:cubicBezTo>
                <a:cubicBezTo>
                  <a:pt x="7302591" y="1641639"/>
                  <a:pt x="7274443" y="1642881"/>
                  <a:pt x="7240501" y="1642881"/>
                </a:cubicBezTo>
                <a:cubicBezTo>
                  <a:pt x="7186691" y="1642881"/>
                  <a:pt x="7147989" y="1640811"/>
                  <a:pt x="7124395" y="1636672"/>
                </a:cubicBezTo>
                <a:cubicBezTo>
                  <a:pt x="7100801" y="1632533"/>
                  <a:pt x="7083830" y="1626324"/>
                  <a:pt x="7073481" y="1618045"/>
                </a:cubicBezTo>
                <a:cubicBezTo>
                  <a:pt x="7063133" y="1609767"/>
                  <a:pt x="7055062" y="1599832"/>
                  <a:pt x="7049267" y="1588242"/>
                </a:cubicBezTo>
                <a:lnTo>
                  <a:pt x="6563729" y="825786"/>
                </a:lnTo>
                <a:lnTo>
                  <a:pt x="6563729" y="1588242"/>
                </a:lnTo>
                <a:cubicBezTo>
                  <a:pt x="6563729" y="1597349"/>
                  <a:pt x="6561245" y="1605213"/>
                  <a:pt x="6556279" y="1611836"/>
                </a:cubicBezTo>
                <a:cubicBezTo>
                  <a:pt x="6551311" y="1618459"/>
                  <a:pt x="6542619" y="1624047"/>
                  <a:pt x="6530201" y="1628600"/>
                </a:cubicBezTo>
                <a:cubicBezTo>
                  <a:pt x="6517783" y="1633153"/>
                  <a:pt x="6501226" y="1636672"/>
                  <a:pt x="6480529" y="1639155"/>
                </a:cubicBezTo>
                <a:cubicBezTo>
                  <a:pt x="6459833" y="1641639"/>
                  <a:pt x="6433341" y="1642881"/>
                  <a:pt x="6401055" y="1642881"/>
                </a:cubicBezTo>
                <a:cubicBezTo>
                  <a:pt x="6369597" y="1642881"/>
                  <a:pt x="6343312" y="1641639"/>
                  <a:pt x="6322202" y="1639155"/>
                </a:cubicBezTo>
                <a:cubicBezTo>
                  <a:pt x="6301092" y="1636672"/>
                  <a:pt x="6284328" y="1633153"/>
                  <a:pt x="6271910" y="1628600"/>
                </a:cubicBezTo>
                <a:cubicBezTo>
                  <a:pt x="6259492" y="1624047"/>
                  <a:pt x="6250593" y="1618459"/>
                  <a:pt x="6245211" y="1611836"/>
                </a:cubicBezTo>
                <a:cubicBezTo>
                  <a:pt x="6239830" y="1605213"/>
                  <a:pt x="6237140" y="1597349"/>
                  <a:pt x="6237140" y="1588242"/>
                </a:cubicBezTo>
                <a:lnTo>
                  <a:pt x="6237140" y="74507"/>
                </a:lnTo>
                <a:cubicBezTo>
                  <a:pt x="6237140" y="65400"/>
                  <a:pt x="6239830" y="57536"/>
                  <a:pt x="6245211" y="50913"/>
                </a:cubicBezTo>
                <a:cubicBezTo>
                  <a:pt x="6250593" y="44290"/>
                  <a:pt x="6259492" y="38909"/>
                  <a:pt x="6271910" y="34770"/>
                </a:cubicBezTo>
                <a:cubicBezTo>
                  <a:pt x="6284328" y="30630"/>
                  <a:pt x="6301092" y="27319"/>
                  <a:pt x="6322202" y="24835"/>
                </a:cubicBezTo>
                <a:cubicBezTo>
                  <a:pt x="6343312" y="22352"/>
                  <a:pt x="6369597" y="21110"/>
                  <a:pt x="6401055" y="21110"/>
                </a:cubicBezTo>
                <a:close/>
                <a:moveTo>
                  <a:pt x="3600087" y="21110"/>
                </a:moveTo>
                <a:cubicBezTo>
                  <a:pt x="3648930" y="21110"/>
                  <a:pt x="3687840" y="21731"/>
                  <a:pt x="3716815" y="22973"/>
                </a:cubicBezTo>
                <a:cubicBezTo>
                  <a:pt x="3745789" y="24215"/>
                  <a:pt x="3768349" y="27112"/>
                  <a:pt x="3784492" y="31665"/>
                </a:cubicBezTo>
                <a:cubicBezTo>
                  <a:pt x="3800635" y="36218"/>
                  <a:pt x="3812225" y="43048"/>
                  <a:pt x="3819262" y="52155"/>
                </a:cubicBezTo>
                <a:cubicBezTo>
                  <a:pt x="3826299" y="61261"/>
                  <a:pt x="3832301" y="73679"/>
                  <a:pt x="3837268" y="89408"/>
                </a:cubicBezTo>
                <a:lnTo>
                  <a:pt x="4333982" y="1513735"/>
                </a:lnTo>
                <a:cubicBezTo>
                  <a:pt x="4343916" y="1543538"/>
                  <a:pt x="4350125" y="1567132"/>
                  <a:pt x="4352608" y="1584517"/>
                </a:cubicBezTo>
                <a:cubicBezTo>
                  <a:pt x="4355092" y="1601902"/>
                  <a:pt x="4351781" y="1614941"/>
                  <a:pt x="4342674" y="1623633"/>
                </a:cubicBezTo>
                <a:cubicBezTo>
                  <a:pt x="4333568" y="1632326"/>
                  <a:pt x="4317424" y="1637707"/>
                  <a:pt x="4294244" y="1639776"/>
                </a:cubicBezTo>
                <a:cubicBezTo>
                  <a:pt x="4271065" y="1641846"/>
                  <a:pt x="4239192" y="1642881"/>
                  <a:pt x="4198627" y="1642881"/>
                </a:cubicBezTo>
                <a:cubicBezTo>
                  <a:pt x="4156407" y="1642881"/>
                  <a:pt x="4123499" y="1642260"/>
                  <a:pt x="4099905" y="1641018"/>
                </a:cubicBezTo>
                <a:cubicBezTo>
                  <a:pt x="4076312" y="1639776"/>
                  <a:pt x="4058305" y="1637293"/>
                  <a:pt x="4045888" y="1633567"/>
                </a:cubicBezTo>
                <a:cubicBezTo>
                  <a:pt x="4033470" y="1629842"/>
                  <a:pt x="4024778" y="1624668"/>
                  <a:pt x="4019810" y="1618045"/>
                </a:cubicBezTo>
                <a:cubicBezTo>
                  <a:pt x="4014843" y="1611422"/>
                  <a:pt x="4010704" y="1602730"/>
                  <a:pt x="4007393" y="1591968"/>
                </a:cubicBezTo>
                <a:lnTo>
                  <a:pt x="3899357" y="1269104"/>
                </a:lnTo>
                <a:lnTo>
                  <a:pt x="3295849" y="1269104"/>
                </a:lnTo>
                <a:lnTo>
                  <a:pt x="3194023" y="1583275"/>
                </a:lnTo>
                <a:cubicBezTo>
                  <a:pt x="3190712" y="1594865"/>
                  <a:pt x="3186365" y="1604592"/>
                  <a:pt x="3180984" y="1612457"/>
                </a:cubicBezTo>
                <a:cubicBezTo>
                  <a:pt x="3175604" y="1620322"/>
                  <a:pt x="3166911" y="1626531"/>
                  <a:pt x="3154907" y="1631084"/>
                </a:cubicBezTo>
                <a:cubicBezTo>
                  <a:pt x="3142903" y="1635637"/>
                  <a:pt x="3125932" y="1638741"/>
                  <a:pt x="3103994" y="1640397"/>
                </a:cubicBezTo>
                <a:cubicBezTo>
                  <a:pt x="3082056" y="1642053"/>
                  <a:pt x="3053288" y="1642881"/>
                  <a:pt x="3017690" y="1642881"/>
                </a:cubicBezTo>
                <a:cubicBezTo>
                  <a:pt x="2979608" y="1642881"/>
                  <a:pt x="2949806" y="1641639"/>
                  <a:pt x="2928281" y="1639155"/>
                </a:cubicBezTo>
                <a:cubicBezTo>
                  <a:pt x="2906757" y="1636672"/>
                  <a:pt x="2891856" y="1630670"/>
                  <a:pt x="2883577" y="1621150"/>
                </a:cubicBezTo>
                <a:cubicBezTo>
                  <a:pt x="2875298" y="1611629"/>
                  <a:pt x="2872401" y="1598177"/>
                  <a:pt x="2874884" y="1580792"/>
                </a:cubicBezTo>
                <a:cubicBezTo>
                  <a:pt x="2877368" y="1563407"/>
                  <a:pt x="2883577" y="1540227"/>
                  <a:pt x="2893511" y="1511252"/>
                </a:cubicBezTo>
                <a:lnTo>
                  <a:pt x="3388983" y="85683"/>
                </a:lnTo>
                <a:cubicBezTo>
                  <a:pt x="3393950" y="71609"/>
                  <a:pt x="3399746" y="60226"/>
                  <a:pt x="3406368" y="51534"/>
                </a:cubicBezTo>
                <a:cubicBezTo>
                  <a:pt x="3412991" y="42841"/>
                  <a:pt x="3423546" y="36218"/>
                  <a:pt x="3438034" y="31665"/>
                </a:cubicBezTo>
                <a:cubicBezTo>
                  <a:pt x="3452521" y="27112"/>
                  <a:pt x="3472597" y="24215"/>
                  <a:pt x="3498261" y="22973"/>
                </a:cubicBezTo>
                <a:cubicBezTo>
                  <a:pt x="3523924" y="21731"/>
                  <a:pt x="3557866" y="21110"/>
                  <a:pt x="3600087" y="21110"/>
                </a:cubicBezTo>
                <a:close/>
                <a:moveTo>
                  <a:pt x="1581406" y="21110"/>
                </a:moveTo>
                <a:cubicBezTo>
                  <a:pt x="1613692" y="21110"/>
                  <a:pt x="1640183" y="22352"/>
                  <a:pt x="1660880" y="24835"/>
                </a:cubicBezTo>
                <a:cubicBezTo>
                  <a:pt x="1681576" y="27319"/>
                  <a:pt x="1698133" y="30630"/>
                  <a:pt x="1710551" y="34770"/>
                </a:cubicBezTo>
                <a:cubicBezTo>
                  <a:pt x="1722969" y="38909"/>
                  <a:pt x="1731662" y="44290"/>
                  <a:pt x="1736629" y="50913"/>
                </a:cubicBezTo>
                <a:cubicBezTo>
                  <a:pt x="1741596" y="57536"/>
                  <a:pt x="1744079" y="64986"/>
                  <a:pt x="1744079" y="73265"/>
                </a:cubicBezTo>
                <a:lnTo>
                  <a:pt x="1744079" y="663113"/>
                </a:lnTo>
                <a:lnTo>
                  <a:pt x="2345103" y="663113"/>
                </a:lnTo>
                <a:lnTo>
                  <a:pt x="2345103" y="73265"/>
                </a:lnTo>
                <a:cubicBezTo>
                  <a:pt x="2345103" y="64986"/>
                  <a:pt x="2347794" y="57536"/>
                  <a:pt x="2353175" y="50913"/>
                </a:cubicBezTo>
                <a:cubicBezTo>
                  <a:pt x="2358556" y="44290"/>
                  <a:pt x="2367248" y="38909"/>
                  <a:pt x="2379252" y="34770"/>
                </a:cubicBezTo>
                <a:cubicBezTo>
                  <a:pt x="2391256" y="30630"/>
                  <a:pt x="2407813" y="27319"/>
                  <a:pt x="2428923" y="24835"/>
                </a:cubicBezTo>
                <a:cubicBezTo>
                  <a:pt x="2450034" y="22352"/>
                  <a:pt x="2476732" y="21110"/>
                  <a:pt x="2509019" y="21110"/>
                </a:cubicBezTo>
                <a:cubicBezTo>
                  <a:pt x="2540477" y="21110"/>
                  <a:pt x="2566554" y="22352"/>
                  <a:pt x="2587251" y="24835"/>
                </a:cubicBezTo>
                <a:cubicBezTo>
                  <a:pt x="2607947" y="27319"/>
                  <a:pt x="2624504" y="30630"/>
                  <a:pt x="2636922" y="34770"/>
                </a:cubicBezTo>
                <a:cubicBezTo>
                  <a:pt x="2649340" y="38909"/>
                  <a:pt x="2658240" y="44290"/>
                  <a:pt x="2663621" y="50913"/>
                </a:cubicBezTo>
                <a:cubicBezTo>
                  <a:pt x="2669002" y="57536"/>
                  <a:pt x="2671693" y="64986"/>
                  <a:pt x="2671693" y="73265"/>
                </a:cubicBezTo>
                <a:lnTo>
                  <a:pt x="2671693" y="1590726"/>
                </a:lnTo>
                <a:cubicBezTo>
                  <a:pt x="2671693" y="1599004"/>
                  <a:pt x="2669002" y="1606455"/>
                  <a:pt x="2663621" y="1613078"/>
                </a:cubicBezTo>
                <a:cubicBezTo>
                  <a:pt x="2658240" y="1619701"/>
                  <a:pt x="2649340" y="1625082"/>
                  <a:pt x="2636922" y="1629221"/>
                </a:cubicBezTo>
                <a:cubicBezTo>
                  <a:pt x="2624504" y="1633360"/>
                  <a:pt x="2607947" y="1636672"/>
                  <a:pt x="2587251" y="1639155"/>
                </a:cubicBezTo>
                <a:cubicBezTo>
                  <a:pt x="2566554" y="1641639"/>
                  <a:pt x="2540477" y="1642881"/>
                  <a:pt x="2509019" y="1642881"/>
                </a:cubicBezTo>
                <a:cubicBezTo>
                  <a:pt x="2476732" y="1642881"/>
                  <a:pt x="2450034" y="1641639"/>
                  <a:pt x="2428923" y="1639155"/>
                </a:cubicBezTo>
                <a:cubicBezTo>
                  <a:pt x="2407813" y="1636672"/>
                  <a:pt x="2391256" y="1633360"/>
                  <a:pt x="2379252" y="1629221"/>
                </a:cubicBezTo>
                <a:cubicBezTo>
                  <a:pt x="2367248" y="1625082"/>
                  <a:pt x="2358556" y="1619701"/>
                  <a:pt x="2353175" y="1613078"/>
                </a:cubicBezTo>
                <a:cubicBezTo>
                  <a:pt x="2347794" y="1606455"/>
                  <a:pt x="2345103" y="1599004"/>
                  <a:pt x="2345103" y="1590726"/>
                </a:cubicBezTo>
                <a:lnTo>
                  <a:pt x="2345103" y="941272"/>
                </a:lnTo>
                <a:lnTo>
                  <a:pt x="1744079" y="941272"/>
                </a:lnTo>
                <a:lnTo>
                  <a:pt x="1744079" y="1590726"/>
                </a:lnTo>
                <a:cubicBezTo>
                  <a:pt x="1744079" y="1599004"/>
                  <a:pt x="1741596" y="1606455"/>
                  <a:pt x="1736629" y="1613078"/>
                </a:cubicBezTo>
                <a:cubicBezTo>
                  <a:pt x="1731662" y="1619701"/>
                  <a:pt x="1722969" y="1625082"/>
                  <a:pt x="1710551" y="1629221"/>
                </a:cubicBezTo>
                <a:cubicBezTo>
                  <a:pt x="1698133" y="1633360"/>
                  <a:pt x="1681576" y="1636672"/>
                  <a:pt x="1660880" y="1639155"/>
                </a:cubicBezTo>
                <a:cubicBezTo>
                  <a:pt x="1640183" y="1641639"/>
                  <a:pt x="1613692" y="1642881"/>
                  <a:pt x="1581406" y="1642881"/>
                </a:cubicBezTo>
                <a:cubicBezTo>
                  <a:pt x="1549947" y="1642881"/>
                  <a:pt x="1523663" y="1641639"/>
                  <a:pt x="1502552" y="1639155"/>
                </a:cubicBezTo>
                <a:cubicBezTo>
                  <a:pt x="1481442" y="1636672"/>
                  <a:pt x="1464678" y="1633360"/>
                  <a:pt x="1452260" y="1629221"/>
                </a:cubicBezTo>
                <a:cubicBezTo>
                  <a:pt x="1439842" y="1625082"/>
                  <a:pt x="1430943" y="1619701"/>
                  <a:pt x="1425562" y="1613078"/>
                </a:cubicBezTo>
                <a:cubicBezTo>
                  <a:pt x="1420181" y="1606455"/>
                  <a:pt x="1417490" y="1599004"/>
                  <a:pt x="1417490" y="1590726"/>
                </a:cubicBezTo>
                <a:lnTo>
                  <a:pt x="1417490" y="73265"/>
                </a:lnTo>
                <a:cubicBezTo>
                  <a:pt x="1417490" y="64986"/>
                  <a:pt x="1420181" y="57536"/>
                  <a:pt x="1425562" y="50913"/>
                </a:cubicBezTo>
                <a:cubicBezTo>
                  <a:pt x="1430943" y="44290"/>
                  <a:pt x="1439842" y="38909"/>
                  <a:pt x="1452260" y="34770"/>
                </a:cubicBezTo>
                <a:cubicBezTo>
                  <a:pt x="1464678" y="30630"/>
                  <a:pt x="1481442" y="27319"/>
                  <a:pt x="1502552" y="24835"/>
                </a:cubicBezTo>
                <a:cubicBezTo>
                  <a:pt x="1523663" y="22352"/>
                  <a:pt x="1549947" y="21110"/>
                  <a:pt x="1581406" y="21110"/>
                </a:cubicBezTo>
                <a:close/>
                <a:moveTo>
                  <a:pt x="8078134" y="0"/>
                </a:moveTo>
                <a:cubicBezTo>
                  <a:pt x="8116216" y="0"/>
                  <a:pt x="8154297" y="2897"/>
                  <a:pt x="8192378" y="8692"/>
                </a:cubicBezTo>
                <a:cubicBezTo>
                  <a:pt x="8230460" y="14487"/>
                  <a:pt x="8266058" y="22352"/>
                  <a:pt x="8299172" y="32286"/>
                </a:cubicBezTo>
                <a:cubicBezTo>
                  <a:pt x="8332286" y="42220"/>
                  <a:pt x="8361675" y="53396"/>
                  <a:pt x="8387339" y="65814"/>
                </a:cubicBezTo>
                <a:cubicBezTo>
                  <a:pt x="8413002" y="78232"/>
                  <a:pt x="8429973" y="88580"/>
                  <a:pt x="8438252" y="96859"/>
                </a:cubicBezTo>
                <a:cubicBezTo>
                  <a:pt x="8446530" y="105137"/>
                  <a:pt x="8452118" y="112174"/>
                  <a:pt x="8455016" y="117969"/>
                </a:cubicBezTo>
                <a:cubicBezTo>
                  <a:pt x="8457913" y="123764"/>
                  <a:pt x="8460397" y="131422"/>
                  <a:pt x="8462467" y="140942"/>
                </a:cubicBezTo>
                <a:cubicBezTo>
                  <a:pt x="8464536" y="150463"/>
                  <a:pt x="8465985" y="162467"/>
                  <a:pt x="8466813" y="176954"/>
                </a:cubicBezTo>
                <a:cubicBezTo>
                  <a:pt x="8467641" y="191442"/>
                  <a:pt x="8468055" y="209447"/>
                  <a:pt x="8468055" y="230972"/>
                </a:cubicBezTo>
                <a:cubicBezTo>
                  <a:pt x="8468055" y="254980"/>
                  <a:pt x="8467434" y="275262"/>
                  <a:pt x="8466192" y="291819"/>
                </a:cubicBezTo>
                <a:cubicBezTo>
                  <a:pt x="8464950" y="308376"/>
                  <a:pt x="8462880" y="322036"/>
                  <a:pt x="8459983" y="332798"/>
                </a:cubicBezTo>
                <a:cubicBezTo>
                  <a:pt x="8457085" y="343560"/>
                  <a:pt x="8452946" y="351425"/>
                  <a:pt x="8447565" y="356392"/>
                </a:cubicBezTo>
                <a:cubicBezTo>
                  <a:pt x="8442184" y="361359"/>
                  <a:pt x="8434940" y="363843"/>
                  <a:pt x="8425834" y="363843"/>
                </a:cubicBezTo>
                <a:cubicBezTo>
                  <a:pt x="8416727" y="363843"/>
                  <a:pt x="8402240" y="358048"/>
                  <a:pt x="8382371" y="346458"/>
                </a:cubicBezTo>
                <a:cubicBezTo>
                  <a:pt x="8362503" y="334868"/>
                  <a:pt x="8338081" y="322243"/>
                  <a:pt x="8309106" y="308583"/>
                </a:cubicBezTo>
                <a:cubicBezTo>
                  <a:pt x="8280131" y="294924"/>
                  <a:pt x="8246603" y="282506"/>
                  <a:pt x="8208522" y="271330"/>
                </a:cubicBezTo>
                <a:cubicBezTo>
                  <a:pt x="8170440" y="260154"/>
                  <a:pt x="8128633" y="254566"/>
                  <a:pt x="8083101" y="254566"/>
                </a:cubicBezTo>
                <a:cubicBezTo>
                  <a:pt x="8047504" y="254566"/>
                  <a:pt x="8016459" y="258912"/>
                  <a:pt x="7989968" y="267604"/>
                </a:cubicBezTo>
                <a:cubicBezTo>
                  <a:pt x="7963476" y="276297"/>
                  <a:pt x="7941331" y="288301"/>
                  <a:pt x="7923532" y="303616"/>
                </a:cubicBezTo>
                <a:cubicBezTo>
                  <a:pt x="7905733" y="318931"/>
                  <a:pt x="7892487" y="337351"/>
                  <a:pt x="7883795" y="358875"/>
                </a:cubicBezTo>
                <a:cubicBezTo>
                  <a:pt x="7875103" y="380400"/>
                  <a:pt x="7870756" y="403166"/>
                  <a:pt x="7870756" y="427174"/>
                </a:cubicBezTo>
                <a:cubicBezTo>
                  <a:pt x="7870756" y="462771"/>
                  <a:pt x="7880483" y="493609"/>
                  <a:pt x="7899938" y="519687"/>
                </a:cubicBezTo>
                <a:cubicBezTo>
                  <a:pt x="7919393" y="545764"/>
                  <a:pt x="7945470" y="568944"/>
                  <a:pt x="7978171" y="589227"/>
                </a:cubicBezTo>
                <a:cubicBezTo>
                  <a:pt x="8010871" y="609509"/>
                  <a:pt x="8047917" y="628550"/>
                  <a:pt x="8089310" y="646349"/>
                </a:cubicBezTo>
                <a:cubicBezTo>
                  <a:pt x="8130703" y="664148"/>
                  <a:pt x="8172924" y="682981"/>
                  <a:pt x="8215972" y="702850"/>
                </a:cubicBezTo>
                <a:cubicBezTo>
                  <a:pt x="8259021" y="722718"/>
                  <a:pt x="8301242" y="745278"/>
                  <a:pt x="8342634" y="770527"/>
                </a:cubicBezTo>
                <a:cubicBezTo>
                  <a:pt x="8384027" y="795777"/>
                  <a:pt x="8420867" y="825993"/>
                  <a:pt x="8453153" y="861177"/>
                </a:cubicBezTo>
                <a:cubicBezTo>
                  <a:pt x="8485440" y="896361"/>
                  <a:pt x="8511517" y="937754"/>
                  <a:pt x="8531386" y="985356"/>
                </a:cubicBezTo>
                <a:cubicBezTo>
                  <a:pt x="8551254" y="1032958"/>
                  <a:pt x="8561188" y="1089045"/>
                  <a:pt x="8561188" y="1153618"/>
                </a:cubicBezTo>
                <a:cubicBezTo>
                  <a:pt x="8561188" y="1238059"/>
                  <a:pt x="8545459" y="1312152"/>
                  <a:pt x="8514001" y="1375897"/>
                </a:cubicBezTo>
                <a:cubicBezTo>
                  <a:pt x="8482542" y="1439642"/>
                  <a:pt x="8439907" y="1492832"/>
                  <a:pt x="8386097" y="1535466"/>
                </a:cubicBezTo>
                <a:cubicBezTo>
                  <a:pt x="8332286" y="1578101"/>
                  <a:pt x="8269369" y="1610180"/>
                  <a:pt x="8197346" y="1631705"/>
                </a:cubicBezTo>
                <a:cubicBezTo>
                  <a:pt x="8125322" y="1653229"/>
                  <a:pt x="8048331" y="1663991"/>
                  <a:pt x="7966373" y="1663991"/>
                </a:cubicBezTo>
                <a:cubicBezTo>
                  <a:pt x="7910907" y="1663991"/>
                  <a:pt x="7859373" y="1659438"/>
                  <a:pt x="7811771" y="1650331"/>
                </a:cubicBezTo>
                <a:cubicBezTo>
                  <a:pt x="7764169" y="1641225"/>
                  <a:pt x="7722156" y="1630256"/>
                  <a:pt x="7685731" y="1617424"/>
                </a:cubicBezTo>
                <a:cubicBezTo>
                  <a:pt x="7649305" y="1604592"/>
                  <a:pt x="7618881" y="1591140"/>
                  <a:pt x="7594459" y="1577066"/>
                </a:cubicBezTo>
                <a:cubicBezTo>
                  <a:pt x="7570037" y="1562993"/>
                  <a:pt x="7552445" y="1550575"/>
                  <a:pt x="7541683" y="1539813"/>
                </a:cubicBezTo>
                <a:cubicBezTo>
                  <a:pt x="7530921" y="1529051"/>
                  <a:pt x="7523263" y="1513528"/>
                  <a:pt x="7518710" y="1493246"/>
                </a:cubicBezTo>
                <a:cubicBezTo>
                  <a:pt x="7514157" y="1472963"/>
                  <a:pt x="7511881" y="1443781"/>
                  <a:pt x="7511881" y="1405700"/>
                </a:cubicBezTo>
                <a:cubicBezTo>
                  <a:pt x="7511881" y="1380036"/>
                  <a:pt x="7512709" y="1358512"/>
                  <a:pt x="7514364" y="1341127"/>
                </a:cubicBezTo>
                <a:cubicBezTo>
                  <a:pt x="7516019" y="1323742"/>
                  <a:pt x="7518710" y="1309669"/>
                  <a:pt x="7522435" y="1298906"/>
                </a:cubicBezTo>
                <a:cubicBezTo>
                  <a:pt x="7526161" y="1288144"/>
                  <a:pt x="7531128" y="1280487"/>
                  <a:pt x="7537337" y="1275933"/>
                </a:cubicBezTo>
                <a:cubicBezTo>
                  <a:pt x="7543546" y="1271380"/>
                  <a:pt x="7550789" y="1269104"/>
                  <a:pt x="7559068" y="1269104"/>
                </a:cubicBezTo>
                <a:cubicBezTo>
                  <a:pt x="7570658" y="1269104"/>
                  <a:pt x="7587009" y="1275933"/>
                  <a:pt x="7608119" y="1289593"/>
                </a:cubicBezTo>
                <a:cubicBezTo>
                  <a:pt x="7629229" y="1303253"/>
                  <a:pt x="7656341" y="1318361"/>
                  <a:pt x="7689455" y="1334918"/>
                </a:cubicBezTo>
                <a:cubicBezTo>
                  <a:pt x="7722570" y="1351475"/>
                  <a:pt x="7762100" y="1366584"/>
                  <a:pt x="7808046" y="1380243"/>
                </a:cubicBezTo>
                <a:cubicBezTo>
                  <a:pt x="7853992" y="1393903"/>
                  <a:pt x="7907182" y="1400733"/>
                  <a:pt x="7967615" y="1400733"/>
                </a:cubicBezTo>
                <a:cubicBezTo>
                  <a:pt x="8007352" y="1400733"/>
                  <a:pt x="8042950" y="1395973"/>
                  <a:pt x="8074409" y="1386452"/>
                </a:cubicBezTo>
                <a:cubicBezTo>
                  <a:pt x="8105867" y="1376932"/>
                  <a:pt x="8132566" y="1363479"/>
                  <a:pt x="8154504" y="1346094"/>
                </a:cubicBezTo>
                <a:cubicBezTo>
                  <a:pt x="8176442" y="1328709"/>
                  <a:pt x="8193206" y="1307185"/>
                  <a:pt x="8204796" y="1281521"/>
                </a:cubicBezTo>
                <a:cubicBezTo>
                  <a:pt x="8216386" y="1255858"/>
                  <a:pt x="8222181" y="1227297"/>
                  <a:pt x="8222181" y="1195838"/>
                </a:cubicBezTo>
                <a:cubicBezTo>
                  <a:pt x="8222181" y="1159413"/>
                  <a:pt x="8212247" y="1128161"/>
                  <a:pt x="8192378" y="1102084"/>
                </a:cubicBezTo>
                <a:cubicBezTo>
                  <a:pt x="8172510" y="1076006"/>
                  <a:pt x="8146639" y="1052826"/>
                  <a:pt x="8114767" y="1032544"/>
                </a:cubicBezTo>
                <a:cubicBezTo>
                  <a:pt x="8082894" y="1012261"/>
                  <a:pt x="8046676" y="993220"/>
                  <a:pt x="8006111" y="975422"/>
                </a:cubicBezTo>
                <a:cubicBezTo>
                  <a:pt x="7965545" y="957623"/>
                  <a:pt x="7923739" y="938789"/>
                  <a:pt x="7880691" y="918920"/>
                </a:cubicBezTo>
                <a:cubicBezTo>
                  <a:pt x="7837642" y="899052"/>
                  <a:pt x="7795835" y="876493"/>
                  <a:pt x="7755270" y="851243"/>
                </a:cubicBezTo>
                <a:cubicBezTo>
                  <a:pt x="7714705" y="825993"/>
                  <a:pt x="7678487" y="795777"/>
                  <a:pt x="7646614" y="760593"/>
                </a:cubicBezTo>
                <a:cubicBezTo>
                  <a:pt x="7614741" y="725409"/>
                  <a:pt x="7588871" y="683809"/>
                  <a:pt x="7569003" y="635793"/>
                </a:cubicBezTo>
                <a:cubicBezTo>
                  <a:pt x="7549134" y="587778"/>
                  <a:pt x="7539199" y="530242"/>
                  <a:pt x="7539199" y="463185"/>
                </a:cubicBezTo>
                <a:cubicBezTo>
                  <a:pt x="7539199" y="386195"/>
                  <a:pt x="7553480" y="318517"/>
                  <a:pt x="7582041" y="260154"/>
                </a:cubicBezTo>
                <a:cubicBezTo>
                  <a:pt x="7610603" y="201790"/>
                  <a:pt x="7649097" y="153360"/>
                  <a:pt x="7697527" y="114865"/>
                </a:cubicBezTo>
                <a:cubicBezTo>
                  <a:pt x="7745957" y="76369"/>
                  <a:pt x="7803079" y="47601"/>
                  <a:pt x="7868893" y="28561"/>
                </a:cubicBezTo>
                <a:cubicBezTo>
                  <a:pt x="7934708" y="9520"/>
                  <a:pt x="8004455" y="0"/>
                  <a:pt x="8078134" y="0"/>
                </a:cubicBezTo>
                <a:close/>
              </a:path>
            </a:pathLst>
          </a:cu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ホワイ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kumimoji="1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headEnd type="none" w="med" len="med"/>
          <a:tailEnd type="none" w="med" len="med"/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ホワイ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ホワイ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2466</Words>
  <Application>Microsoft Office PowerPoint</Application>
  <PresentationFormat>Widescreen</PresentationFormat>
  <Paragraphs>188</Paragraphs>
  <Slides>25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6" baseType="lpstr">
      <vt:lpstr>Arial (Body)</vt:lpstr>
      <vt:lpstr>メイリオ</vt:lpstr>
      <vt:lpstr>Meiryo UI</vt:lpstr>
      <vt:lpstr>ＭＳ Ｐゴシック</vt:lpstr>
      <vt:lpstr>游ゴシック</vt:lpstr>
      <vt:lpstr>ヒラギノ角ゴ Pro W3</vt:lpstr>
      <vt:lpstr>Arial</vt:lpstr>
      <vt:lpstr>Calibri</vt:lpstr>
      <vt:lpstr>Times New Roman</vt:lpstr>
      <vt:lpstr>Wingdings</vt:lpstr>
      <vt:lpstr>ホワイト</vt:lpstr>
      <vt:lpstr>PowerPoint Presentation</vt:lpstr>
      <vt:lpstr>システム概要</vt:lpstr>
      <vt:lpstr>プロジェクト体制／役割​</vt:lpstr>
      <vt:lpstr>プロジェクト体制／役割</vt:lpstr>
      <vt:lpstr>プロジェクト体制／役割</vt:lpstr>
      <vt:lpstr>機能分析</vt:lpstr>
      <vt:lpstr>詳細設計書作成工数分析</vt:lpstr>
      <vt:lpstr>詳細設計書作成工数分析</vt:lpstr>
      <vt:lpstr>詳細設計書作成工数分析</vt:lpstr>
      <vt:lpstr>詳細設計書作成工数分析</vt:lpstr>
      <vt:lpstr>詳細設計書作成工数分析</vt:lpstr>
      <vt:lpstr>実装工数分析</vt:lpstr>
      <vt:lpstr>実装工数分析</vt:lpstr>
      <vt:lpstr>実装工数分析</vt:lpstr>
      <vt:lpstr>実装工数分析</vt:lpstr>
      <vt:lpstr>単体テスト仕様書作成工数分式</vt:lpstr>
      <vt:lpstr>単体テスト仕様書作成工数分式</vt:lpstr>
      <vt:lpstr>単体テスト仕様書作成工数分式</vt:lpstr>
      <vt:lpstr>単体テスト仕様書作成工数分式</vt:lpstr>
      <vt:lpstr>単体テスト実施工数分析</vt:lpstr>
      <vt:lpstr>単体テスト実施工数分析</vt:lpstr>
      <vt:lpstr>単体テスト実施工数分析</vt:lpstr>
      <vt:lpstr>サマリ</vt:lpstr>
      <vt:lpstr>サマリ</vt:lpstr>
      <vt:lpstr>PowerPoint Presentation</vt:lpstr>
    </vt:vector>
  </TitlesOfParts>
  <Company>ブライセン株式会社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石井 学</dc:creator>
  <cp:lastModifiedBy>Le Thi Lam Thuy</cp:lastModifiedBy>
  <cp:revision>1470</cp:revision>
  <cp:lastPrinted>2018-01-29T01:49:00Z</cp:lastPrinted>
  <dcterms:created xsi:type="dcterms:W3CDTF">2013-02-25T06:37:00Z</dcterms:created>
  <dcterms:modified xsi:type="dcterms:W3CDTF">2026-03-11T02:04:43Z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1033-12.1.0.25242</vt:lpwstr>
  </property>
  <property fmtid="{D5CDD505-2E9C-101B-9397-08002B2CF9AE}" pid="3" name="ICV">
    <vt:lpwstr>A035087CA8774770ACEAD06C1E4F3159_13</vt:lpwstr>
  </property>
</Properties>
</file>